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6"/>
  </p:notesMasterIdLst>
  <p:sldIdLst>
    <p:sldId id="259" r:id="rId2"/>
    <p:sldId id="261" r:id="rId3"/>
    <p:sldId id="281" r:id="rId4"/>
    <p:sldId id="276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C"/>
    <a:srgbClr val="8FC2FF"/>
    <a:srgbClr val="DEEBF7"/>
    <a:srgbClr val="FFF3CC"/>
    <a:srgbClr val="E4FFFC"/>
    <a:srgbClr val="DAFFF1"/>
    <a:srgbClr val="FFE4CA"/>
    <a:srgbClr val="FFFEF8"/>
    <a:srgbClr val="FFF1FF"/>
    <a:srgbClr val="F69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1" autoAdjust="0"/>
    <p:restoredTop sz="89869"/>
  </p:normalViewPr>
  <p:slideViewPr>
    <p:cSldViewPr snapToGrid="0">
      <p:cViewPr>
        <p:scale>
          <a:sx n="71" d="100"/>
          <a:sy n="71" d="100"/>
        </p:scale>
        <p:origin x="3132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48FA6-F2FE-9E41-B742-03A9D0F9BB28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60ED4-14E4-1E45-994E-FE991B21CFB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8759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14188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1pPr>
    <a:lvl2pPr marL="257094" algn="l" defTabSz="514188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2pPr>
    <a:lvl3pPr marL="514188" algn="l" defTabSz="514188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3pPr>
    <a:lvl4pPr marL="771284" algn="l" defTabSz="514188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4pPr>
    <a:lvl5pPr marL="1028378" algn="l" defTabSz="514188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5pPr>
    <a:lvl6pPr marL="1285472" algn="l" defTabSz="514188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6pPr>
    <a:lvl7pPr marL="1542566" algn="l" defTabSz="514188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7pPr>
    <a:lvl8pPr marL="1799662" algn="l" defTabSz="514188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8pPr>
    <a:lvl9pPr marL="2056756" algn="l" defTabSz="514188" rtl="0" eaLnBrk="1" latinLnBrk="0" hangingPunct="1">
      <a:defRPr sz="6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5141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4800" b="0" i="0" dirty="0">
                <a:solidFill>
                  <a:srgbClr val="0F0F0F"/>
                </a:solidFill>
                <a:effectLst/>
                <a:latin typeface="Söhne"/>
              </a:rPr>
              <a:t>當我高中畢業後，除了課業以外，我熱衷於參與志願服務。那時，我特別頻繁地參與自閉症相關的志願活動。我參與了辦理營隊，幫助特殊需求生提升社交技巧，並在課業上給予他們輔導，幫助他們跟上進度，同時也讓家長得到些許喘息的機會。透過這些活動，我發現了自己的價值和熱情，並立志更努力地為他人服務。 在大學期間，我不僅加入手語社並擔任社長，更積極參與各項志願服務。我也選修了特殊教育相關的課程，深入了解不同身心障礙族群的需求。我也走訪了一些身心障礙協會，親自走進他們的生活，更加深了對他們需求的理解。這段時間讓我更深刻地領悟到「真正的幸福感來自於服務他人」。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60ED4-14E4-1E45-994E-FE991B21CFBF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05704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5141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dirty="0">
                <a:effectLst/>
                <a:latin typeface="Helvetica" pitchFamily="2" charset="0"/>
              </a:rPr>
              <a:t>(1)</a:t>
            </a:r>
            <a:r>
              <a:rPr lang="zh-TW" altLang="en-US" sz="1800" dirty="0">
                <a:effectLst/>
              </a:rPr>
              <a:t>成長自述、</a:t>
            </a:r>
            <a:r>
              <a:rPr lang="en-US" altLang="zh-TW" sz="1800" dirty="0">
                <a:effectLst/>
                <a:latin typeface="Helvetica" pitchFamily="2" charset="0"/>
              </a:rPr>
              <a:t>(2)</a:t>
            </a:r>
            <a:r>
              <a:rPr lang="zh-TW" altLang="en-US" sz="1800" dirty="0">
                <a:effectLst/>
              </a:rPr>
              <a:t>工作成就與創新、</a:t>
            </a:r>
            <a:r>
              <a:rPr lang="en-US" altLang="zh-TW" sz="1800" dirty="0">
                <a:effectLst/>
                <a:latin typeface="Helvetica" pitchFamily="2" charset="0"/>
              </a:rPr>
              <a:t>(3) </a:t>
            </a:r>
            <a:r>
              <a:rPr lang="zh-TW" altLang="en-US" sz="1800" dirty="0">
                <a:effectLst/>
              </a:rPr>
              <a:t>進修期待與規劃、</a:t>
            </a:r>
            <a:r>
              <a:rPr lang="en-US" altLang="zh-TW" sz="1800" dirty="0">
                <a:effectLst/>
                <a:latin typeface="Helvetica" pitchFamily="2" charset="0"/>
              </a:rPr>
              <a:t>(4)</a:t>
            </a:r>
            <a:r>
              <a:rPr lang="zh-TW" altLang="en-US" sz="1800" dirty="0">
                <a:effectLst/>
              </a:rPr>
              <a:t>未來研究具體計畫 </a:t>
            </a:r>
            <a:endParaRPr lang="zh-TW" altLang="en-US" dirty="0">
              <a:effectLst/>
            </a:endParaRP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60ED4-14E4-1E45-994E-FE991B21CFBF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64997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9D17-52B0-EE42-96B7-FEC93A08EB74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94E0-F033-4A40-919C-9222C3559EF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271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9D17-52B0-EE42-96B7-FEC93A08EB74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94E0-F033-4A40-919C-9222C3559EF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8857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9D17-52B0-EE42-96B7-FEC93A08EB74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94E0-F033-4A40-919C-9222C3559EF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9438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9D17-52B0-EE42-96B7-FEC93A08EB74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94E0-F033-4A40-919C-9222C3559EF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80871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9D17-52B0-EE42-96B7-FEC93A08EB74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94E0-F033-4A40-919C-9222C3559EF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314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9D17-52B0-EE42-96B7-FEC93A08EB74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94E0-F033-4A40-919C-9222C3559EF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08742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9D17-52B0-EE42-96B7-FEC93A08EB74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94E0-F033-4A40-919C-9222C3559EF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58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9D17-52B0-EE42-96B7-FEC93A08EB74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94E0-F033-4A40-919C-9222C3559EF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280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9D17-52B0-EE42-96B7-FEC93A08EB74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94E0-F033-4A40-919C-9222C3559EF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5379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9D17-52B0-EE42-96B7-FEC93A08EB74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94E0-F033-4A40-919C-9222C3559EF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4016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9D17-52B0-EE42-96B7-FEC93A08EB74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894E0-F033-4A40-919C-9222C3559EF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695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D9D17-52B0-EE42-96B7-FEC93A08EB74}" type="datetimeFigureOut">
              <a:rPr kumimoji="1" lang="zh-TW" altLang="en-US" smtClean="0"/>
              <a:t>2025/12/10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894E0-F033-4A40-919C-9222C3559EF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7810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圓角矩形 20">
            <a:extLst>
              <a:ext uri="{FF2B5EF4-FFF2-40B4-BE49-F238E27FC236}">
                <a16:creationId xmlns:a16="http://schemas.microsoft.com/office/drawing/2014/main" id="{78FFD5C8-13B6-9ABC-7899-CB355F8A6806}"/>
              </a:ext>
            </a:extLst>
          </p:cNvPr>
          <p:cNvSpPr/>
          <p:nvPr/>
        </p:nvSpPr>
        <p:spPr>
          <a:xfrm>
            <a:off x="776475" y="7788211"/>
            <a:ext cx="5693741" cy="1616162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39025415-CDCD-DA1B-4CF9-B5578F3ADBEE}"/>
              </a:ext>
            </a:extLst>
          </p:cNvPr>
          <p:cNvSpPr/>
          <p:nvPr/>
        </p:nvSpPr>
        <p:spPr>
          <a:xfrm>
            <a:off x="788669" y="1141678"/>
            <a:ext cx="5651567" cy="920776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EDBD0759-304D-34DB-37D7-4B639BCFDFD2}"/>
              </a:ext>
            </a:extLst>
          </p:cNvPr>
          <p:cNvSpPr/>
          <p:nvPr/>
        </p:nvSpPr>
        <p:spPr>
          <a:xfrm>
            <a:off x="776475" y="3383281"/>
            <a:ext cx="5651568" cy="1883283"/>
          </a:xfrm>
          <a:prstGeom prst="roundRect">
            <a:avLst/>
          </a:prstGeom>
          <a:solidFill>
            <a:srgbClr val="DAF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3FCCD202-2B25-D715-4E11-B430AE33F552}"/>
              </a:ext>
            </a:extLst>
          </p:cNvPr>
          <p:cNvSpPr/>
          <p:nvPr/>
        </p:nvSpPr>
        <p:spPr>
          <a:xfrm>
            <a:off x="776475" y="5279486"/>
            <a:ext cx="5663762" cy="2538299"/>
          </a:xfrm>
          <a:prstGeom prst="roundRect">
            <a:avLst/>
          </a:prstGeom>
          <a:solidFill>
            <a:srgbClr val="FF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F7B8A312-463F-E1C4-CDCA-01EA85B8533F}"/>
              </a:ext>
            </a:extLst>
          </p:cNvPr>
          <p:cNvSpPr/>
          <p:nvPr/>
        </p:nvSpPr>
        <p:spPr>
          <a:xfrm>
            <a:off x="788669" y="2062455"/>
            <a:ext cx="5639374" cy="1320825"/>
          </a:xfrm>
          <a:prstGeom prst="roundRect">
            <a:avLst/>
          </a:prstGeom>
          <a:solidFill>
            <a:srgbClr val="FFE4CA">
              <a:alpha val="3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2642E44A-6902-3417-8522-3BA8144DCBCD}"/>
              </a:ext>
            </a:extLst>
          </p:cNvPr>
          <p:cNvSpPr/>
          <p:nvPr/>
        </p:nvSpPr>
        <p:spPr>
          <a:xfrm>
            <a:off x="1498899" y="367279"/>
            <a:ext cx="1301451" cy="46180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bg1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成長自述</a:t>
            </a:r>
            <a:endParaRPr kumimoji="1" lang="zh-TW" altLang="en-US" sz="1800" b="1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CF471A5-7ACB-653D-D463-981CD1CA37F4}"/>
              </a:ext>
            </a:extLst>
          </p:cNvPr>
          <p:cNvSpPr txBox="1"/>
          <p:nvPr/>
        </p:nvSpPr>
        <p:spPr>
          <a:xfrm>
            <a:off x="3031981" y="9624885"/>
            <a:ext cx="8866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1100" dirty="0">
                <a:solidFill>
                  <a:schemeClr val="bg1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＠陳宛亭</a:t>
            </a:r>
            <a:endParaRPr lang="zh-TW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3DB994ED-A9C8-2BB2-7A6F-02A2535F319D}"/>
              </a:ext>
            </a:extLst>
          </p:cNvPr>
          <p:cNvSpPr/>
          <p:nvPr/>
        </p:nvSpPr>
        <p:spPr>
          <a:xfrm>
            <a:off x="506948" y="367279"/>
            <a:ext cx="818932" cy="461801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TW" b="1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01</a:t>
            </a:r>
            <a:endParaRPr kumimoji="1" lang="zh-TW" altLang="en-US" sz="1800" b="1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9F6BE10-7A80-97A9-50B5-808F6AB7F2C4}"/>
              </a:ext>
            </a:extLst>
          </p:cNvPr>
          <p:cNvSpPr txBox="1"/>
          <p:nvPr/>
        </p:nvSpPr>
        <p:spPr>
          <a:xfrm>
            <a:off x="242565" y="1265840"/>
            <a:ext cx="558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/>
              <a:t>自述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E84E000-D08D-75DF-12F6-94E239B44B53}"/>
              </a:ext>
            </a:extLst>
          </p:cNvPr>
          <p:cNvSpPr txBox="1"/>
          <p:nvPr/>
        </p:nvSpPr>
        <p:spPr>
          <a:xfrm>
            <a:off x="231117" y="2176089"/>
            <a:ext cx="558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/>
              <a:t>大學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23CD38C-06C0-3EC6-7116-7023749BBEB6}"/>
              </a:ext>
            </a:extLst>
          </p:cNvPr>
          <p:cNvSpPr txBox="1"/>
          <p:nvPr/>
        </p:nvSpPr>
        <p:spPr>
          <a:xfrm>
            <a:off x="218275" y="3525001"/>
            <a:ext cx="558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/>
              <a:t>職涯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32A7AED-A087-FAD7-50E1-575ED2034EAA}"/>
              </a:ext>
            </a:extLst>
          </p:cNvPr>
          <p:cNvSpPr txBox="1"/>
          <p:nvPr/>
        </p:nvSpPr>
        <p:spPr>
          <a:xfrm>
            <a:off x="304383" y="5208255"/>
            <a:ext cx="558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/>
              <a:t>證照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EB75459-239C-B502-5B7D-AC3689012E4E}"/>
              </a:ext>
            </a:extLst>
          </p:cNvPr>
          <p:cNvSpPr txBox="1"/>
          <p:nvPr/>
        </p:nvSpPr>
        <p:spPr>
          <a:xfrm>
            <a:off x="242565" y="7884575"/>
            <a:ext cx="5582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/>
              <a:t>結語</a:t>
            </a:r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05FBC7F7-24AB-9967-157A-5BE87B5DF5D1}"/>
              </a:ext>
            </a:extLst>
          </p:cNvPr>
          <p:cNvCxnSpPr>
            <a:cxnSpLocks/>
          </p:cNvCxnSpPr>
          <p:nvPr/>
        </p:nvCxnSpPr>
        <p:spPr>
          <a:xfrm>
            <a:off x="227848" y="1317265"/>
            <a:ext cx="0" cy="82779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6E388E84-AF12-A35D-692B-A4D16D5765F8}"/>
              </a:ext>
            </a:extLst>
          </p:cNvPr>
          <p:cNvCxnSpPr>
            <a:cxnSpLocks/>
          </p:cNvCxnSpPr>
          <p:nvPr/>
        </p:nvCxnSpPr>
        <p:spPr>
          <a:xfrm>
            <a:off x="229634" y="2145059"/>
            <a:ext cx="0" cy="136128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BB5C3A9A-C7E4-5A3C-F88B-1D89A7AD283A}"/>
              </a:ext>
            </a:extLst>
          </p:cNvPr>
          <p:cNvCxnSpPr>
            <a:cxnSpLocks/>
          </p:cNvCxnSpPr>
          <p:nvPr/>
        </p:nvCxnSpPr>
        <p:spPr>
          <a:xfrm flipH="1">
            <a:off x="216775" y="3517031"/>
            <a:ext cx="5222" cy="176311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F86EEA44-877F-7AB5-D486-251BC376A5E0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216775" y="5280144"/>
            <a:ext cx="25790" cy="273138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2D04DF81-5EA6-E645-6A13-6A475D6F5F62}"/>
              </a:ext>
            </a:extLst>
          </p:cNvPr>
          <p:cNvCxnSpPr>
            <a:cxnSpLocks/>
            <a:stCxn id="31" idx="1"/>
          </p:cNvCxnSpPr>
          <p:nvPr/>
        </p:nvCxnSpPr>
        <p:spPr>
          <a:xfrm>
            <a:off x="242565" y="8011533"/>
            <a:ext cx="0" cy="12886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170C2C1-2917-E9E7-8376-6F64C468063A}"/>
              </a:ext>
            </a:extLst>
          </p:cNvPr>
          <p:cNvSpPr txBox="1">
            <a:spLocks/>
          </p:cNvSpPr>
          <p:nvPr/>
        </p:nvSpPr>
        <p:spPr>
          <a:xfrm>
            <a:off x="1074264" y="1177084"/>
            <a:ext cx="5479353" cy="843955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400" kern="100" dirty="0">
                <a:effectLst/>
                <a:ea typeface="Arial Unicode MS"/>
                <a:cs typeface="Arial Unicode MS"/>
              </a:rPr>
              <a:t>您好，我的名字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是</a:t>
            </a:r>
            <a:r>
              <a:rPr lang="zh-TW" altLang="en-US" sz="1400" kern="100" dirty="0">
                <a:effectLst/>
                <a:ea typeface="Arial Unicode MS"/>
                <a:cs typeface="Arial Unicode MS"/>
              </a:rPr>
              <a:t>陳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宛亭，畢業於</a:t>
            </a:r>
            <a:r>
              <a:rPr lang="zh-TW" altLang="zh-TW" sz="1400" b="1" kern="100" dirty="0">
                <a:effectLst/>
                <a:ea typeface="Arial Unicode MS"/>
                <a:cs typeface="Arial Unicode MS"/>
              </a:rPr>
              <a:t>淡江大學統計系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，</a:t>
            </a:r>
            <a:endParaRPr lang="en-US" altLang="zh-TW" sz="1400" kern="100" dirty="0">
              <a:ea typeface="Arial Unicode MS"/>
              <a:cs typeface="Arial Unicode MS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1400" kern="100" dirty="0">
                <a:effectLst/>
                <a:ea typeface="Arial Unicode MS"/>
                <a:cs typeface="Arial Unicode MS"/>
              </a:rPr>
              <a:t>     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工作年資</a:t>
            </a:r>
            <a:r>
              <a:rPr lang="en-US" altLang="zh-TW" sz="1400" kern="100" dirty="0">
                <a:effectLst/>
                <a:ea typeface="Arial Unicode MS"/>
                <a:cs typeface="Arial Unicode MS"/>
              </a:rPr>
              <a:t>19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年。</a:t>
            </a:r>
            <a:r>
              <a:rPr lang="zh-TW" altLang="en-US" sz="1400" kern="100" dirty="0">
                <a:ea typeface="Arial Unicode MS"/>
                <a:cs typeface="Arial Unicode MS"/>
              </a:rPr>
              <a:t>最喜歡的休閒活動是閱讀</a:t>
            </a:r>
            <a:r>
              <a:rPr lang="zh-TW" altLang="zh-TW" sz="1400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、</a:t>
            </a:r>
            <a:r>
              <a:rPr lang="zh-TW" altLang="en-US" sz="1400" kern="100" dirty="0">
                <a:ea typeface="Arial Unicode MS"/>
                <a:cs typeface="Arial Unicode MS"/>
              </a:rPr>
              <a:t>旅行及瑜珈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。</a:t>
            </a:r>
            <a:endParaRPr lang="en-US" altLang="zh-TW" sz="1400" kern="100" dirty="0">
              <a:ea typeface="Arial Unicode MS"/>
              <a:cs typeface="Arial Unicode MS"/>
            </a:endParaRPr>
          </a:p>
          <a:p>
            <a:pPr>
              <a:lnSpc>
                <a:spcPct val="150000"/>
              </a:lnSpc>
            </a:pPr>
            <a:r>
              <a:rPr lang="zh-TW" altLang="zh-TW" sz="1400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大學求學過程中，專業科目為數理統計、迴歸分析、實驗設計、可靠度分析、品質管理、抽樣調查、線性代數、作業研究、</a:t>
            </a:r>
            <a:r>
              <a:rPr lang="en-US" altLang="zh-TW" sz="1400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SAS</a:t>
            </a:r>
            <a:r>
              <a:rPr lang="zh-TW" altLang="zh-TW" sz="1400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；大一時曾利用暑假期間到加拿大的語言學校</a:t>
            </a:r>
            <a:r>
              <a:rPr lang="en-US" altLang="zh-TW" sz="1400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(ESL)</a:t>
            </a:r>
            <a:r>
              <a:rPr lang="zh-TW" altLang="zh-TW" sz="1400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學習英文，讓我獲益良多。</a:t>
            </a:r>
            <a:r>
              <a:rPr lang="zh-TW" altLang="en-US" sz="1400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 </a:t>
            </a:r>
            <a:r>
              <a:rPr lang="en-US" altLang="zh-TW" sz="1400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  </a:t>
            </a:r>
            <a:endParaRPr kumimoji="1" lang="en-US" altLang="zh-TW" sz="1400" kern="100" dirty="0">
              <a:latin typeface="Arial Unicode MS"/>
              <a:ea typeface="PingFang SC Light" panose="020B03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TW" altLang="en-US" sz="1400" kern="100" dirty="0"/>
              <a:t>宛亭目前任職於</a:t>
            </a:r>
            <a:r>
              <a:rPr lang="zh-TW" altLang="en-US" sz="1400" b="1" kern="100" dirty="0"/>
              <a:t>聯發科技製造部－擔任封裝工程師</a:t>
            </a:r>
            <a:r>
              <a:rPr lang="zh-TW" altLang="en-US" sz="1400" kern="100" dirty="0"/>
              <a:t>一職，暑期曾輔導小學生</a:t>
            </a:r>
            <a:r>
              <a:rPr lang="en-US" altLang="zh-TW" sz="1400" b="1" kern="100" dirty="0"/>
              <a:t>Scratch</a:t>
            </a:r>
            <a:r>
              <a:rPr lang="zh-TW" altLang="en-US" sz="1400" b="1" kern="100" dirty="0"/>
              <a:t>程式教學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。</a:t>
            </a:r>
            <a:r>
              <a:rPr lang="zh-TW" altLang="en-US" sz="1400" kern="100" dirty="0">
                <a:effectLst/>
                <a:ea typeface="Arial Unicode MS"/>
                <a:cs typeface="Arial Unicode MS"/>
              </a:rPr>
              <a:t> 職涯前</a:t>
            </a:r>
            <a:r>
              <a:rPr lang="en-US" altLang="zh-TW" sz="1400" kern="100" dirty="0">
                <a:effectLst/>
                <a:ea typeface="Arial Unicode MS"/>
                <a:cs typeface="Arial Unicode MS"/>
              </a:rPr>
              <a:t>10</a:t>
            </a:r>
            <a:r>
              <a:rPr lang="zh-TW" altLang="en-US" sz="1400" kern="100" dirty="0">
                <a:effectLst/>
                <a:ea typeface="Arial Unicode MS"/>
                <a:cs typeface="Arial Unicode MS"/>
              </a:rPr>
              <a:t>年擔任</a:t>
            </a:r>
            <a:r>
              <a:rPr lang="zh-TW" altLang="en-US" sz="1400" b="1" kern="100" dirty="0">
                <a:effectLst/>
                <a:ea typeface="Arial Unicode MS"/>
                <a:cs typeface="Arial Unicode MS"/>
              </a:rPr>
              <a:t>晶圓廠業務</a:t>
            </a:r>
            <a:r>
              <a:rPr lang="zh-TW" altLang="en-US" sz="1400" kern="100" dirty="0">
                <a:effectLst/>
                <a:ea typeface="Arial Unicode MS"/>
                <a:cs typeface="Arial Unicode MS"/>
              </a:rPr>
              <a:t>，之後轉職至聯發科技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。</a:t>
            </a:r>
            <a:r>
              <a:rPr lang="zh-TW" altLang="en-US" sz="1400" kern="100" dirty="0">
                <a:effectLst/>
                <a:ea typeface="Arial Unicode MS"/>
                <a:cs typeface="Arial Unicode MS"/>
              </a:rPr>
              <a:t>轉職前</a:t>
            </a:r>
            <a:r>
              <a:rPr lang="zh-TW" altLang="en-US" sz="1400" kern="100" dirty="0">
                <a:ea typeface="Arial Unicode MS"/>
                <a:cs typeface="Arial Unicode MS"/>
              </a:rPr>
              <a:t>，宛亭曾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至菲律賓語言學校</a:t>
            </a:r>
            <a:r>
              <a:rPr lang="en-US" altLang="zh-TW" sz="1400" kern="100" dirty="0">
                <a:effectLst/>
                <a:ea typeface="Arial Unicode MS"/>
                <a:cs typeface="Arial Unicode MS"/>
              </a:rPr>
              <a:t>(ESL)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進修英文</a:t>
            </a:r>
            <a:r>
              <a:rPr lang="zh-TW" altLang="en-US" sz="1400" kern="100" dirty="0">
                <a:effectLst/>
                <a:ea typeface="Arial Unicode MS"/>
                <a:cs typeface="Arial Unicode MS"/>
              </a:rPr>
              <a:t>，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求學過程結交韓國、日本、越南、菲律賓朋友，深刻了解東南亞經濟市場起飛，也學習到各國不同文化，開拓了世界觀。</a:t>
            </a:r>
            <a:r>
              <a:rPr lang="en-US" altLang="zh-TW" sz="1400" kern="100" dirty="0">
                <a:effectLst/>
                <a:ea typeface="Arial Unicode MS"/>
                <a:cs typeface="Arial Unicode MS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TW" sz="500" kern="100" dirty="0">
              <a:effectLst/>
              <a:latin typeface="Arial Unicode MS"/>
              <a:ea typeface="Arial Unicode MS"/>
              <a:cs typeface="Arial Unicode MS"/>
            </a:endParaRPr>
          </a:p>
          <a:p>
            <a:pPr>
              <a:lnSpc>
                <a:spcPct val="150000"/>
              </a:lnSpc>
            </a:pPr>
            <a:r>
              <a:rPr lang="en-US" altLang="zh-TW" sz="1400" kern="100" dirty="0" err="1">
                <a:effectLst/>
                <a:latin typeface="Arial Unicode MS"/>
                <a:ea typeface="Arial Unicode MS"/>
                <a:cs typeface="Arial Unicode MS"/>
              </a:rPr>
              <a:t>我的個性積極、随和；工作態度認真負責</a:t>
            </a:r>
            <a:r>
              <a:rPr lang="en-US" altLang="zh-TW" sz="1400" kern="100" dirty="0">
                <a:effectLst/>
                <a:latin typeface="Arial Unicode MS"/>
                <a:ea typeface="Arial Unicode MS"/>
                <a:cs typeface="Arial Unicode MS"/>
              </a:rPr>
              <a:t>，</a:t>
            </a:r>
            <a:r>
              <a:rPr lang="zh-TW" altLang="en-US" sz="1400" kern="100" dirty="0">
                <a:effectLst/>
                <a:latin typeface="Arial Unicode MS"/>
                <a:ea typeface="Arial Unicode MS"/>
                <a:cs typeface="Arial Unicode MS"/>
              </a:rPr>
              <a:t>有著積極好學的心</a:t>
            </a:r>
            <a:r>
              <a:rPr lang="zh-TW" altLang="zh-TW" sz="1400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。 </a:t>
            </a:r>
            <a:r>
              <a:rPr lang="zh-TW" altLang="en-US" sz="1400" kern="100" dirty="0">
                <a:latin typeface="Times New Roman" panose="02020603050405020304" pitchFamily="18" charset="0"/>
                <a:ea typeface="Arial Unicode MS"/>
                <a:cs typeface="Arial Unicode MS"/>
              </a:rPr>
              <a:t>   </a:t>
            </a:r>
            <a:r>
              <a:rPr lang="zh-TW" altLang="en-US" sz="1400" kern="100" dirty="0">
                <a:effectLst/>
                <a:latin typeface="Arial Unicode MS"/>
                <a:ea typeface="Arial Unicode MS"/>
                <a:cs typeface="Arial Unicode MS"/>
              </a:rPr>
              <a:t>畢業後， 宛亭不停學習新知，無論與工作相關或興趣，都希望能盡力做到最好，也考取了</a:t>
            </a:r>
            <a:r>
              <a:rPr lang="zh-TW" altLang="en-US" sz="1400" b="1" kern="100" dirty="0">
                <a:effectLst/>
                <a:latin typeface="Arial Unicode MS"/>
                <a:ea typeface="Arial Unicode MS"/>
                <a:cs typeface="Arial Unicode MS"/>
              </a:rPr>
              <a:t>三張國家證照</a:t>
            </a:r>
            <a:r>
              <a:rPr lang="zh-TW" altLang="zh-TW" sz="1400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。</a:t>
            </a:r>
            <a:r>
              <a:rPr lang="zh-TW" altLang="en-US" sz="1400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宛亭認為</a:t>
            </a:r>
            <a:r>
              <a:rPr lang="en-US" altLang="zh-TW" sz="1400" b="1" kern="100" dirty="0" err="1">
                <a:effectLst/>
                <a:latin typeface="Arial Unicode MS"/>
                <a:ea typeface="Arial Unicode MS"/>
                <a:cs typeface="Arial Unicode MS"/>
              </a:rPr>
              <a:t>責任</a:t>
            </a:r>
            <a:r>
              <a:rPr lang="zh-TW" altLang="en-US" sz="1400" b="1" kern="100" dirty="0">
                <a:latin typeface="Arial Unicode MS"/>
                <a:ea typeface="Arial Unicode MS"/>
                <a:cs typeface="Arial Unicode MS"/>
              </a:rPr>
              <a:t>感</a:t>
            </a:r>
            <a:r>
              <a:rPr lang="zh-TW" altLang="en-US" sz="1400" kern="100" dirty="0">
                <a:latin typeface="Arial Unicode MS"/>
                <a:ea typeface="Arial Unicode MS"/>
                <a:cs typeface="Arial Unicode MS"/>
              </a:rPr>
              <a:t>是</a:t>
            </a:r>
            <a:r>
              <a:rPr lang="en-US" altLang="zh-TW" sz="1400" kern="100" dirty="0" err="1">
                <a:effectLst/>
                <a:latin typeface="Arial Unicode MS"/>
                <a:ea typeface="Arial Unicode MS"/>
                <a:cs typeface="Arial Unicode MS"/>
              </a:rPr>
              <a:t>促使</a:t>
            </a:r>
            <a:r>
              <a:rPr lang="zh-TW" altLang="en-US" sz="1400" kern="100" dirty="0">
                <a:effectLst/>
                <a:latin typeface="Arial Unicode MS"/>
                <a:ea typeface="Arial Unicode MS"/>
                <a:cs typeface="Arial Unicode MS"/>
              </a:rPr>
              <a:t>自己</a:t>
            </a:r>
            <a:r>
              <a:rPr lang="en-US" altLang="zh-TW" sz="1400" kern="100" dirty="0" err="1">
                <a:effectLst/>
                <a:latin typeface="Arial Unicode MS"/>
                <a:ea typeface="Arial Unicode MS"/>
                <a:cs typeface="Arial Unicode MS"/>
              </a:rPr>
              <a:t>不斷成長學習</a:t>
            </a:r>
            <a:r>
              <a:rPr lang="zh-TW" altLang="en-US" sz="1400" kern="100" dirty="0">
                <a:effectLst/>
                <a:latin typeface="Arial Unicode MS"/>
                <a:ea typeface="Arial Unicode MS"/>
                <a:cs typeface="Arial Unicode MS"/>
              </a:rPr>
              <a:t>的最大動力，因為工作上希望能做得更好，會自我進修加強，</a:t>
            </a:r>
            <a:r>
              <a:rPr lang="en-US" altLang="zh-TW" sz="1400" kern="100" dirty="0" err="1">
                <a:effectLst/>
                <a:latin typeface="Arial Unicode MS"/>
                <a:ea typeface="Arial Unicode MS"/>
                <a:cs typeface="Arial Unicode MS"/>
              </a:rPr>
              <a:t>由於客戶中有日本人</a:t>
            </a:r>
            <a:r>
              <a:rPr lang="en-US" altLang="zh-TW" sz="1400" kern="100" dirty="0">
                <a:effectLst/>
                <a:latin typeface="Arial Unicode MS"/>
                <a:ea typeface="Arial Unicode MS"/>
                <a:cs typeface="Arial Unicode MS"/>
              </a:rPr>
              <a:t>，</a:t>
            </a:r>
            <a:r>
              <a:rPr lang="zh-TW" altLang="en-US" sz="1400" kern="100" dirty="0">
                <a:effectLst/>
                <a:latin typeface="Arial Unicode MS"/>
                <a:ea typeface="Arial Unicode MS"/>
                <a:cs typeface="Arial Unicode MS"/>
              </a:rPr>
              <a:t>也</a:t>
            </a:r>
            <a:r>
              <a:rPr lang="en-US" altLang="zh-TW" sz="1400" kern="100" dirty="0" err="1">
                <a:effectLst/>
                <a:latin typeface="Arial Unicode MS"/>
                <a:ea typeface="Arial Unicode MS"/>
                <a:cs typeface="Arial Unicode MS"/>
              </a:rPr>
              <a:t>因此開始學習日文</a:t>
            </a:r>
            <a:r>
              <a:rPr lang="en-US" altLang="zh-TW" sz="1400" kern="100" dirty="0">
                <a:effectLst/>
                <a:latin typeface="Arial Unicode MS"/>
                <a:ea typeface="Arial Unicode MS"/>
                <a:cs typeface="Arial Unicode MS"/>
              </a:rPr>
              <a:t>，</a:t>
            </a:r>
            <a:r>
              <a:rPr lang="zh-TW" altLang="en-US" sz="1400" kern="100" dirty="0">
                <a:effectLst/>
                <a:latin typeface="Arial Unicode MS"/>
                <a:ea typeface="Arial Unicode MS"/>
                <a:cs typeface="Arial Unicode MS"/>
              </a:rPr>
              <a:t>並</a:t>
            </a:r>
            <a:r>
              <a:rPr lang="en-US" altLang="zh-TW" sz="1400" b="1" kern="100" dirty="0">
                <a:effectLst/>
                <a:latin typeface="Arial Unicode MS"/>
                <a:ea typeface="Arial Unicode MS"/>
                <a:cs typeface="Arial Unicode MS"/>
              </a:rPr>
              <a:t>考取N5證照</a:t>
            </a:r>
            <a:r>
              <a:rPr lang="zh-TW" altLang="zh-TW" sz="1600" b="1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 </a:t>
            </a:r>
            <a:r>
              <a:rPr lang="zh-TW" altLang="zh-TW" sz="1600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。</a:t>
            </a:r>
            <a:r>
              <a:rPr lang="zh-TW" altLang="en-US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宛亭喜歡嘗試各種領域並全力以赴</a:t>
            </a:r>
            <a:r>
              <a:rPr lang="zh-TW" altLang="en-US" sz="14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，目前已取</a:t>
            </a:r>
            <a:r>
              <a:rPr lang="zh-TW" altLang="en-US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得</a:t>
            </a:r>
            <a:r>
              <a:rPr lang="zh-TW" altLang="en-US" sz="1400" b="1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國家乙級美容證照</a:t>
            </a:r>
            <a:r>
              <a:rPr lang="zh-TW" altLang="en-US" sz="1400" b="1" kern="100" dirty="0">
                <a:effectLst/>
                <a:latin typeface="Poiret One" panose="00000500000000000000" pitchFamily="2" charset="0"/>
                <a:ea typeface="新細明體" panose="02020500000000000000" pitchFamily="18" charset="-120"/>
              </a:rPr>
              <a:t>、國家丙級烘焙證照</a:t>
            </a:r>
            <a:r>
              <a:rPr lang="zh-TW" altLang="zh-TW" sz="1400" b="1" kern="100" dirty="0">
                <a:effectLst/>
                <a:latin typeface="Times New Roman" panose="02020603050405020304" pitchFamily="18" charset="0"/>
                <a:ea typeface="Arial Unicode MS"/>
                <a:cs typeface="Arial Unicode MS"/>
              </a:rPr>
              <a:t>。</a:t>
            </a:r>
            <a:endParaRPr lang="en-US" altLang="zh-TW" sz="1400" kern="1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>
              <a:lnSpc>
                <a:spcPct val="150000"/>
              </a:lnSpc>
              <a:spcBef>
                <a:spcPts val="1850"/>
              </a:spcBef>
            </a:pPr>
            <a:r>
              <a:rPr lang="zh-TW" altLang="en-US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外婆家經營</a:t>
            </a:r>
            <a:r>
              <a:rPr lang="zh-TW" altLang="en-US" sz="14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新竹西市汕頭館，因此宛亭從小個性熱情助人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、</a:t>
            </a:r>
            <a:r>
              <a:rPr lang="zh-TW" altLang="en-US" sz="14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正向積極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、</a:t>
            </a:r>
            <a:r>
              <a:rPr lang="zh-TW" altLang="en-US" sz="14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主動自發，除了擔任志工</a:t>
            </a:r>
            <a:r>
              <a:rPr lang="zh-TW" altLang="en-US" sz="1400" kern="1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，也協助籌辦公司許多活動，</a:t>
            </a:r>
            <a:r>
              <a:rPr lang="zh-TW" altLang="en-US" sz="1400" kern="100" dirty="0">
                <a:effectLst/>
                <a:ea typeface="Arial Unicode MS"/>
                <a:cs typeface="Arial Unicode MS"/>
              </a:rPr>
              <a:t>期待能進入貴校，跟隨老師們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的</a:t>
            </a:r>
            <a:r>
              <a:rPr lang="zh-TW" altLang="en-US" sz="1400" kern="100" dirty="0">
                <a:effectLst/>
                <a:ea typeface="Arial Unicode MS"/>
                <a:cs typeface="Arial Unicode MS"/>
              </a:rPr>
              <a:t>指教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，</a:t>
            </a:r>
            <a:r>
              <a:rPr lang="zh-TW" altLang="en-US" sz="1400" kern="100" dirty="0">
                <a:ea typeface="Arial Unicode MS"/>
                <a:cs typeface="Arial Unicode MS"/>
              </a:rPr>
              <a:t>讓宛亭</a:t>
            </a:r>
            <a:r>
              <a:rPr lang="zh-TW" altLang="en-US" sz="1400" kern="100" dirty="0">
                <a:effectLst/>
                <a:ea typeface="Arial Unicode MS"/>
                <a:cs typeface="Arial Unicode MS"/>
              </a:rPr>
              <a:t>在知識領域</a:t>
            </a:r>
            <a:r>
              <a:rPr lang="zh-TW" altLang="en-US" sz="1400" kern="100" dirty="0">
                <a:ea typeface="Arial Unicode MS"/>
                <a:cs typeface="Arial Unicode MS"/>
              </a:rPr>
              <a:t>上，能獲得更紮實的能力與研究基礎</a:t>
            </a:r>
            <a:r>
              <a:rPr lang="zh-TW" altLang="en-US" sz="1400" kern="100" dirty="0">
                <a:effectLst/>
                <a:ea typeface="Arial Unicode MS"/>
                <a:cs typeface="Arial Unicode MS"/>
              </a:rPr>
              <a:t>，達成重要的里程碑</a:t>
            </a:r>
            <a:r>
              <a:rPr lang="zh-TW" altLang="zh-TW" sz="1400" kern="100" dirty="0">
                <a:effectLst/>
                <a:ea typeface="Arial Unicode MS"/>
                <a:cs typeface="Arial Unicode MS"/>
              </a:rPr>
              <a:t>。</a:t>
            </a:r>
            <a:endParaRPr lang="zh-TW" altLang="zh-TW" sz="1400" kern="100" dirty="0">
              <a:effectLst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0662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39025415-CDCD-DA1B-4CF9-B5578F3ADBEE}"/>
                  </a:ext>
                </a:extLst>
              </p:cNvPr>
              <p:cNvSpPr/>
              <p:nvPr/>
            </p:nvSpPr>
            <p:spPr>
              <a:xfrm>
                <a:off x="728770" y="1569505"/>
                <a:ext cx="5781290" cy="5195682"/>
              </a:xfrm>
              <a:prstGeom prst="roundRect">
                <a:avLst>
                  <a:gd name="adj" fmla="val 16408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TW" altLang="zh-TW" sz="1400" kern="100" dirty="0">
                    <a:solidFill>
                      <a:schemeClr val="tx1"/>
                    </a:solidFill>
                  </a:rPr>
                  <a:t>參與多項跨部門專案，協助導入自動化檢測與數據分析系統</a:t>
                </a:r>
                <a:r>
                  <a:rPr lang="en-US" altLang="zh-TW" sz="1400" kern="100" dirty="0">
                    <a:solidFill>
                      <a:schemeClr val="tx1"/>
                    </a:solidFill>
                  </a:rPr>
                  <a:t>( MTK NPI to MP System</a:t>
                </a:r>
                <a:r>
                  <a:rPr lang="zh-TW" altLang="zh-TW" sz="1400" kern="100" dirty="0">
                    <a:solidFill>
                      <a:schemeClr val="tx1"/>
                    </a:solidFill>
                  </a:rPr>
                  <a:t>、</a:t>
                </a:r>
                <a:r>
                  <a:rPr lang="en-US" altLang="zh-TW" sz="1400" kern="100" dirty="0">
                    <a:solidFill>
                      <a:schemeClr val="tx1"/>
                    </a:solidFill>
                  </a:rPr>
                  <a:t>EDA System)</a:t>
                </a:r>
                <a:r>
                  <a:rPr lang="zh-TW" altLang="zh-TW" sz="1400" kern="100" dirty="0">
                    <a:solidFill>
                      <a:schemeClr val="tx1"/>
                    </a:solidFill>
                  </a:rPr>
                  <a:t>，</a:t>
                </a:r>
                <a:r>
                  <a:rPr lang="zh-TW" altLang="zh-TW" sz="1400" b="1" u="sng" kern="100" dirty="0">
                    <a:solidFill>
                      <a:schemeClr val="tx1"/>
                    </a:solidFill>
                  </a:rPr>
                  <a:t>此系統有效提升聯發科技所有量產產品之封裝良率</a:t>
                </a:r>
                <a:r>
                  <a:rPr lang="en-US" altLang="zh-TW" sz="1400" b="1" u="sng" kern="100" dirty="0">
                    <a:solidFill>
                      <a:schemeClr val="tx1"/>
                    </a:solidFill>
                  </a:rPr>
                  <a:t>13% (85%-&gt;98%) </a:t>
                </a:r>
                <a:r>
                  <a:rPr lang="zh-TW" altLang="zh-TW" sz="1400" kern="100" dirty="0">
                    <a:solidFill>
                      <a:schemeClr val="tx1"/>
                    </a:solidFill>
                  </a:rPr>
                  <a:t>，除了增加公司營收並可降低失效率，系統更可提前預判低良率產品，提早發現並解決異常問題。</a:t>
                </a:r>
                <a:endParaRPr lang="en-US" altLang="zh-TW" sz="1400" kern="1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TW" altLang="zh-TW" sz="1400" kern="100" dirty="0">
                    <a:solidFill>
                      <a:schemeClr val="tx1"/>
                    </a:solidFill>
                  </a:rPr>
                  <a:t>在品管與供應鏈管理方面，擔任封裝、品管部門、採購、生管定期召開會議之溝通協調主要會議負責人，確認整個供應鏈管理流程的順暢性與如期執行，並確保新產品導入（</a:t>
                </a:r>
                <a:r>
                  <a:rPr lang="en-US" altLang="zh-TW" sz="1400" kern="100" dirty="0">
                    <a:solidFill>
                      <a:schemeClr val="tx1"/>
                    </a:solidFill>
                  </a:rPr>
                  <a:t>NPI</a:t>
                </a:r>
                <a:r>
                  <a:rPr lang="zh-TW" altLang="zh-TW" sz="1400" kern="100" dirty="0">
                    <a:solidFill>
                      <a:schemeClr val="tx1"/>
                    </a:solidFill>
                  </a:rPr>
                  <a:t>）至量產（</a:t>
                </a:r>
                <a:r>
                  <a:rPr lang="en-US" altLang="zh-TW" sz="1400" kern="100" dirty="0">
                    <a:solidFill>
                      <a:schemeClr val="tx1"/>
                    </a:solidFill>
                  </a:rPr>
                  <a:t>MP</a:t>
                </a:r>
                <a:r>
                  <a:rPr lang="zh-TW" altLang="zh-TW" sz="1400" kern="100" dirty="0">
                    <a:solidFill>
                      <a:schemeClr val="tx1"/>
                    </a:solidFill>
                  </a:rPr>
                  <a:t>）的過程無縫銜接。</a:t>
                </a:r>
                <a:endParaRPr lang="en-US" altLang="zh-TW" sz="1400" kern="1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</a:rPr>
                  <a:t>新產品</a:t>
                </a:r>
                <a:r>
                  <a:rPr lang="zh-TW" altLang="zh-TW" sz="1400" kern="100" dirty="0">
                    <a:solidFill>
                      <a:schemeClr val="tx1"/>
                    </a:solidFill>
                  </a:rPr>
                  <a:t>專案審查</a:t>
                </a:r>
                <a:r>
                  <a:rPr lang="zh-TW" altLang="en-US" sz="1400" kern="100" dirty="0">
                    <a:solidFill>
                      <a:schemeClr val="tx1"/>
                    </a:solidFill>
                  </a:rPr>
                  <a:t>導入</a:t>
                </a:r>
                <a:r>
                  <a:rPr lang="zh-TW" altLang="zh-TW" sz="1400" kern="100" dirty="0">
                    <a:solidFill>
                      <a:schemeClr val="tx1"/>
                    </a:solidFill>
                  </a:rPr>
                  <a:t>：在產品轉為量產（</a:t>
                </a:r>
                <a:r>
                  <a:rPr lang="en-US" altLang="zh-TW" sz="1400" kern="100" dirty="0">
                    <a:solidFill>
                      <a:schemeClr val="tx1"/>
                    </a:solidFill>
                  </a:rPr>
                  <a:t>MP</a:t>
                </a:r>
                <a:r>
                  <a:rPr lang="zh-TW" altLang="zh-TW" sz="1400" kern="100" dirty="0">
                    <a:solidFill>
                      <a:schemeClr val="tx1"/>
                    </a:solidFill>
                  </a:rPr>
                  <a:t>）前，完成四階段的</a:t>
                </a:r>
                <a:r>
                  <a:rPr lang="en-US" altLang="zh-TW" sz="1400" kern="100" dirty="0">
                    <a:solidFill>
                      <a:schemeClr val="tx1"/>
                    </a:solidFill>
                  </a:rPr>
                  <a:t>NPI</a:t>
                </a:r>
                <a:r>
                  <a:rPr lang="zh-TW" altLang="zh-TW" sz="1400" kern="100" dirty="0">
                    <a:solidFill>
                      <a:schemeClr val="tx1"/>
                    </a:solidFill>
                  </a:rPr>
                  <a:t>專案審查（如</a:t>
                </a:r>
                <a:r>
                  <a:rPr lang="en-US" altLang="zh-TW" sz="1400" kern="100" dirty="0">
                    <a:solidFill>
                      <a:schemeClr val="tx1"/>
                    </a:solidFill>
                  </a:rPr>
                  <a:t>: </a:t>
                </a:r>
                <a:r>
                  <a:rPr lang="zh-TW" altLang="zh-TW" sz="1400" kern="100" dirty="0">
                    <a:solidFill>
                      <a:schemeClr val="tx1"/>
                    </a:solidFill>
                  </a:rPr>
                  <a:t>共約</a:t>
                </a:r>
                <a:r>
                  <a:rPr lang="en-US" altLang="zh-TW" sz="1400" kern="100" dirty="0">
                    <a:solidFill>
                      <a:schemeClr val="tx1"/>
                    </a:solidFill>
                  </a:rPr>
                  <a:t>100</a:t>
                </a:r>
                <a:r>
                  <a:rPr lang="zh-TW" altLang="zh-TW" sz="1400" kern="100" dirty="0">
                    <a:solidFill>
                      <a:schemeClr val="tx1"/>
                    </a:solidFill>
                  </a:rPr>
                  <a:t>項品管監控測試項目）。</a:t>
                </a:r>
                <a:endParaRPr lang="en-US" altLang="zh-TW" sz="1400" kern="1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TW" altLang="zh-TW" sz="1400" kern="100" dirty="0">
                    <a:solidFill>
                      <a:schemeClr val="tx1"/>
                    </a:solidFill>
                  </a:rPr>
                  <a:t>專案管理與跨部門協作：能制定封裝開發的專案計劃，熟悉與設計、製造、測試等部門的協作流程，確保專案順利進行。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</a:rPr>
                  <a:t>與國內外約</a:t>
                </a:r>
                <a:r>
                  <a:rPr lang="en-US" altLang="zh-TW" sz="1400" kern="100" dirty="0">
                    <a:solidFill>
                      <a:schemeClr val="tx1"/>
                    </a:solidFill>
                  </a:rPr>
                  <a:t>10</a:t>
                </a:r>
                <a:r>
                  <a:rPr lang="zh-TW" altLang="en-US" sz="1400" kern="100" dirty="0">
                    <a:solidFill>
                      <a:schemeClr val="tx1"/>
                    </a:solidFill>
                  </a:rPr>
                  <a:t>家封裝廠合作，完成封裝設計</a:t>
                </a:r>
                <a:r>
                  <a:rPr lang="zh-TW" altLang="zh-TW" sz="1400" kern="100" dirty="0">
                    <a:solidFill>
                      <a:schemeClr val="tx1"/>
                    </a:solidFill>
                  </a:rPr>
                  <a:t>。</a:t>
                </a:r>
                <a:endParaRPr lang="en-US" altLang="zh-TW" sz="1400" kern="1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</a:rPr>
                  <a:t>封裝技術開發</a:t>
                </a:r>
                <a14:m>
                  <m:oMath xmlns:m="http://schemas.openxmlformats.org/officeDocument/2006/math">
                    <m:r>
                      <a:rPr lang="zh-TW" altLang="en-US" sz="1400" kern="100">
                        <a:solidFill>
                          <a:schemeClr val="tx1"/>
                        </a:solidFill>
                      </a:rPr>
                      <m:t>、</m:t>
                    </m:r>
                  </m:oMath>
                </a14:m>
                <a:r>
                  <a:rPr lang="zh-TW" altLang="en-US" sz="1400" kern="100" dirty="0">
                    <a:solidFill>
                      <a:schemeClr val="tx1"/>
                    </a:solidFill>
                  </a:rPr>
                  <a:t>驗證與生產良率管理</a:t>
                </a:r>
                <a:endParaRPr lang="en-US" altLang="zh-TW" sz="1400" kern="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39025415-CDCD-DA1B-4CF9-B5578F3ADB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70" y="1569505"/>
                <a:ext cx="5781290" cy="5195682"/>
              </a:xfrm>
              <a:prstGeom prst="roundRect">
                <a:avLst>
                  <a:gd name="adj" fmla="val 16408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FDF72722-8F94-F4C0-896D-1E485D251259}"/>
              </a:ext>
            </a:extLst>
          </p:cNvPr>
          <p:cNvSpPr txBox="1"/>
          <p:nvPr/>
        </p:nvSpPr>
        <p:spPr>
          <a:xfrm>
            <a:off x="803318" y="1098389"/>
            <a:ext cx="590686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1700" b="1" dirty="0">
                <a:solidFill>
                  <a:schemeClr val="tx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聯發科技</a:t>
            </a:r>
            <a:r>
              <a:rPr kumimoji="1" lang="zh-TW" altLang="en-US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股份有限公司</a:t>
            </a:r>
            <a:r>
              <a:rPr kumimoji="1" lang="en-US" altLang="zh-TW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, </a:t>
            </a:r>
            <a:r>
              <a:rPr kumimoji="1" lang="zh-TW" altLang="en-US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封裝工程師</a:t>
            </a:r>
            <a:r>
              <a:rPr kumimoji="1" lang="en-US" altLang="zh-TW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, </a:t>
            </a:r>
            <a:r>
              <a:rPr kumimoji="1" lang="zh-TW" altLang="en-US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kumimoji="1" lang="en-US" altLang="zh-TW" sz="1200" dirty="0">
                <a:latin typeface="PingFang SC" panose="020B0400000000000000" pitchFamily="34" charset="-122"/>
                <a:ea typeface="PingFang SC" panose="020B0400000000000000" pitchFamily="34" charset="-122"/>
              </a:rPr>
              <a:t>2017.03~Now</a:t>
            </a:r>
            <a:endParaRPr kumimoji="1" lang="en-US" altLang="zh-TW" sz="1700" dirty="0">
              <a:solidFill>
                <a:schemeClr val="tx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7" name="五邊形 16">
            <a:extLst>
              <a:ext uri="{FF2B5EF4-FFF2-40B4-BE49-F238E27FC236}">
                <a16:creationId xmlns:a16="http://schemas.microsoft.com/office/drawing/2014/main" id="{E9ADD3FC-AED3-733E-A97D-85FE61E15EC3}"/>
              </a:ext>
            </a:extLst>
          </p:cNvPr>
          <p:cNvSpPr/>
          <p:nvPr/>
        </p:nvSpPr>
        <p:spPr>
          <a:xfrm>
            <a:off x="522188" y="1153669"/>
            <a:ext cx="324000" cy="216000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五邊形 21">
            <a:extLst>
              <a:ext uri="{FF2B5EF4-FFF2-40B4-BE49-F238E27FC236}">
                <a16:creationId xmlns:a16="http://schemas.microsoft.com/office/drawing/2014/main" id="{4F503AFF-38DE-D119-24DF-89B952CDAE62}"/>
              </a:ext>
            </a:extLst>
          </p:cNvPr>
          <p:cNvSpPr/>
          <p:nvPr/>
        </p:nvSpPr>
        <p:spPr>
          <a:xfrm>
            <a:off x="410085" y="6868810"/>
            <a:ext cx="324000" cy="216000"/>
          </a:xfrm>
          <a:prstGeom prst="homePlate">
            <a:avLst/>
          </a:prstGeom>
          <a:solidFill>
            <a:srgbClr val="FFF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F8A8DA-581F-520C-402D-7C6E10FCBE98}"/>
              </a:ext>
            </a:extLst>
          </p:cNvPr>
          <p:cNvSpPr txBox="1"/>
          <p:nvPr/>
        </p:nvSpPr>
        <p:spPr>
          <a:xfrm>
            <a:off x="3031981" y="9624885"/>
            <a:ext cx="8866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1100" dirty="0">
                <a:solidFill>
                  <a:schemeClr val="bg1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＠陳宛亭</a:t>
            </a:r>
            <a:endParaRPr lang="zh-TW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圓角矩形 13">
            <a:extLst>
              <a:ext uri="{FF2B5EF4-FFF2-40B4-BE49-F238E27FC236}">
                <a16:creationId xmlns:a16="http://schemas.microsoft.com/office/drawing/2014/main" id="{357E4EBB-EF55-083B-5B93-256CB52AD227}"/>
              </a:ext>
            </a:extLst>
          </p:cNvPr>
          <p:cNvSpPr/>
          <p:nvPr/>
        </p:nvSpPr>
        <p:spPr>
          <a:xfrm>
            <a:off x="1498899" y="367279"/>
            <a:ext cx="1301451" cy="46180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kumimoji="1" lang="zh-TW" altLang="en-US" sz="1800" b="1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工作經歷</a:t>
            </a:r>
          </a:p>
        </p:txBody>
      </p:sp>
      <p:sp>
        <p:nvSpPr>
          <p:cNvPr id="7" name="圓角矩形 18">
            <a:extLst>
              <a:ext uri="{FF2B5EF4-FFF2-40B4-BE49-F238E27FC236}">
                <a16:creationId xmlns:a16="http://schemas.microsoft.com/office/drawing/2014/main" id="{DA7CBD88-FFD8-227C-6F2B-72455FE718B3}"/>
              </a:ext>
            </a:extLst>
          </p:cNvPr>
          <p:cNvSpPr/>
          <p:nvPr/>
        </p:nvSpPr>
        <p:spPr>
          <a:xfrm>
            <a:off x="506948" y="367279"/>
            <a:ext cx="818932" cy="461801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TW" b="1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02</a:t>
            </a:r>
            <a:endParaRPr kumimoji="1" lang="zh-TW" altLang="en-US" sz="1800" b="1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BD98D48-BBB9-610D-8E81-0265A98CD6DB}"/>
              </a:ext>
            </a:extLst>
          </p:cNvPr>
          <p:cNvSpPr txBox="1"/>
          <p:nvPr/>
        </p:nvSpPr>
        <p:spPr>
          <a:xfrm>
            <a:off x="803318" y="6799839"/>
            <a:ext cx="590686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1700" b="1" dirty="0">
                <a:solidFill>
                  <a:schemeClr val="tx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台星科</a:t>
            </a:r>
            <a:r>
              <a:rPr kumimoji="1" lang="zh-TW" altLang="en-US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股份有限公司</a:t>
            </a:r>
            <a:r>
              <a:rPr kumimoji="1" lang="en-US" altLang="zh-TW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, </a:t>
            </a:r>
            <a:r>
              <a:rPr kumimoji="1" lang="zh-TW" altLang="en-US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業務副理</a:t>
            </a:r>
            <a:r>
              <a:rPr kumimoji="1" lang="en-US" altLang="zh-TW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, </a:t>
            </a:r>
            <a:r>
              <a:rPr kumimoji="1" lang="zh-TW" altLang="en-US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kumimoji="1" lang="en-US" altLang="zh-TW" sz="1200" dirty="0">
                <a:latin typeface="PingFang SC" panose="020B0400000000000000" pitchFamily="34" charset="-122"/>
                <a:ea typeface="PingFang SC" panose="020B0400000000000000" pitchFamily="34" charset="-122"/>
              </a:rPr>
              <a:t>2016.06 ~2017.03</a:t>
            </a:r>
            <a:endParaRPr kumimoji="1" lang="en-US" altLang="zh-TW" sz="1700" dirty="0">
              <a:solidFill>
                <a:schemeClr val="tx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圓角矩形 8">
                <a:extLst>
                  <a:ext uri="{FF2B5EF4-FFF2-40B4-BE49-F238E27FC236}">
                    <a16:creationId xmlns:a16="http://schemas.microsoft.com/office/drawing/2014/main" id="{1828AAE4-5E11-0C05-BF98-7FB097D391A7}"/>
                  </a:ext>
                </a:extLst>
              </p:cNvPr>
              <p:cNvSpPr/>
              <p:nvPr/>
            </p:nvSpPr>
            <p:spPr>
              <a:xfrm>
                <a:off x="728770" y="7332990"/>
                <a:ext cx="5781290" cy="193571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lnSpc>
                    <a:spcPts val="242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維護客戶關係</a:t>
                </a:r>
                <a14:m>
                  <m:oMath xmlns:m="http://schemas.openxmlformats.org/officeDocument/2006/math">
                    <m:r>
                      <a:rPr lang="zh-TW" altLang="en-US" sz="1400" kern="100">
                        <a:solidFill>
                          <a:schemeClr val="tx1"/>
                        </a:solidFill>
                        <a:ea typeface="Arial Unicode MS"/>
                        <a:cs typeface="Arial Unicode MS"/>
                      </a:rPr>
                      <m:t>，</m:t>
                    </m:r>
                  </m:oMath>
                </a14:m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積極開發新客戶</a:t>
                </a:r>
              </a:p>
              <a:p>
                <a:pPr marL="285750" indent="-285750">
                  <a:lnSpc>
                    <a:spcPts val="242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推廣新產品及製程技術</a:t>
                </a:r>
              </a:p>
              <a:p>
                <a:pPr marL="285750" indent="-285750">
                  <a:lnSpc>
                    <a:spcPts val="242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公司營收狀況概估及營運規畫</a:t>
                </a:r>
              </a:p>
              <a:p>
                <a:pPr marL="285750" indent="-285750">
                  <a:lnSpc>
                    <a:spcPts val="242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了解競爭對手動態及客戶反饋</a:t>
                </a:r>
                <a:endParaRPr lang="en-US" altLang="zh-TW" sz="1400" kern="100" dirty="0">
                  <a:solidFill>
                    <a:schemeClr val="tx1"/>
                  </a:solidFill>
                  <a:ea typeface="Arial Unicode MS"/>
                  <a:cs typeface="Arial Unicode MS"/>
                </a:endParaRPr>
              </a:p>
              <a:p>
                <a:pPr marL="285750" indent="-285750">
                  <a:lnSpc>
                    <a:spcPts val="242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預測市場淺力、研究市場情報</a:t>
                </a:r>
                <a:endParaRPr lang="en-US" altLang="zh-TW" sz="1400" kern="100" dirty="0">
                  <a:solidFill>
                    <a:schemeClr val="tx1"/>
                  </a:solidFill>
                  <a:ea typeface="Arial Unicode MS"/>
                  <a:cs typeface="Arial Unicode MS"/>
                </a:endParaRPr>
              </a:p>
              <a:p>
                <a:pPr marL="285750" indent="-285750">
                  <a:lnSpc>
                    <a:spcPts val="2420"/>
                  </a:lnSpc>
                  <a:buFont typeface="Wingdings" pitchFamily="2" charset="2"/>
                  <a:buChar char="Ø"/>
                </a:pPr>
                <a:endParaRPr lang="zh-TW" altLang="en-US" sz="1400" dirty="0">
                  <a:solidFill>
                    <a:srgbClr val="000000"/>
                  </a:solidFill>
                  <a:latin typeface="PingFang SC" panose="020B0400000000000000" pitchFamily="34" charset="-122"/>
                  <a:ea typeface="PingFang SC" panose="020B0400000000000000" pitchFamily="34" charset="-122"/>
                </a:endParaRPr>
              </a:p>
            </p:txBody>
          </p:sp>
        </mc:Choice>
        <mc:Fallback>
          <p:sp>
            <p:nvSpPr>
              <p:cNvPr id="9" name="圓角矩形 8">
                <a:extLst>
                  <a:ext uri="{FF2B5EF4-FFF2-40B4-BE49-F238E27FC236}">
                    <a16:creationId xmlns:a16="http://schemas.microsoft.com/office/drawing/2014/main" id="{1828AAE4-5E11-0C05-BF98-7FB097D391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70" y="7332990"/>
                <a:ext cx="5781290" cy="193571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21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圓角矩形 9">
                <a:extLst>
                  <a:ext uri="{FF2B5EF4-FFF2-40B4-BE49-F238E27FC236}">
                    <a16:creationId xmlns:a16="http://schemas.microsoft.com/office/drawing/2014/main" id="{E4C73155-35EE-93A4-FBE8-32AE5093D1EE}"/>
                  </a:ext>
                </a:extLst>
              </p:cNvPr>
              <p:cNvSpPr/>
              <p:nvPr/>
            </p:nvSpPr>
            <p:spPr>
              <a:xfrm>
                <a:off x="614139" y="1307246"/>
                <a:ext cx="5996652" cy="213467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lnSpc>
                    <a:spcPts val="242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客戶產品交期確認</a:t>
                </a:r>
                <a14:m>
                  <m:oMath xmlns:m="http://schemas.openxmlformats.org/officeDocument/2006/math">
                    <m:r>
                      <a:rPr lang="zh-TW" altLang="en-US" sz="1400" kern="100">
                        <a:solidFill>
                          <a:schemeClr val="tx1"/>
                        </a:solidFill>
                        <a:ea typeface="Arial Unicode MS"/>
                        <a:cs typeface="Arial Unicode MS"/>
                      </a:rPr>
                      <m:t>，</m:t>
                    </m:r>
                  </m:oMath>
                </a14:m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包含貨運、發票及進出口</a:t>
                </a:r>
              </a:p>
              <a:p>
                <a:pPr marL="285750" indent="-285750">
                  <a:lnSpc>
                    <a:spcPts val="242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客戶</a:t>
                </a:r>
                <a:r>
                  <a:rPr lang="en-US" altLang="zh-TW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ISO</a:t>
                </a: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稽核及文件管理</a:t>
                </a:r>
                <a:endParaRPr lang="en-US" altLang="zh-TW" sz="1400" kern="100" dirty="0">
                  <a:solidFill>
                    <a:schemeClr val="tx1"/>
                  </a:solidFill>
                  <a:ea typeface="Arial Unicode MS"/>
                  <a:cs typeface="Arial Unicode MS"/>
                </a:endParaRPr>
              </a:p>
              <a:p>
                <a:pPr marL="285750" indent="-285750">
                  <a:lnSpc>
                    <a:spcPts val="242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產能分配與溝通協調</a:t>
                </a:r>
              </a:p>
              <a:p>
                <a:pPr marL="285750" indent="-285750">
                  <a:lnSpc>
                    <a:spcPts val="242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客戶產品異常、賠償及</a:t>
                </a:r>
                <a:r>
                  <a:rPr lang="en-US" altLang="zh-TW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RMA</a:t>
                </a: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案件處置</a:t>
                </a:r>
              </a:p>
              <a:p>
                <a:pPr marL="285750" indent="-285750">
                  <a:lnSpc>
                    <a:spcPts val="242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應收帳款、殘材處理</a:t>
                </a:r>
                <a:endParaRPr lang="en-US" altLang="zh-TW" sz="1400" kern="100" dirty="0">
                  <a:solidFill>
                    <a:schemeClr val="tx1"/>
                  </a:solidFill>
                  <a:ea typeface="Arial Unicode MS"/>
                  <a:cs typeface="Arial Unicode MS"/>
                </a:endParaRPr>
              </a:p>
              <a:p>
                <a:pPr marL="285750" indent="-285750">
                  <a:lnSpc>
                    <a:spcPts val="2420"/>
                  </a:lnSpc>
                  <a:buFont typeface="Wingdings" pitchFamily="2" charset="2"/>
                  <a:buChar char="Ø"/>
                </a:pP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庫存盤點、</a:t>
                </a:r>
                <a:r>
                  <a:rPr lang="en-US" altLang="zh-TW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EOL</a:t>
                </a:r>
                <a:r>
                  <a:rPr lang="zh-TW" altLang="en-US" sz="1400" kern="100" dirty="0">
                    <a:solidFill>
                      <a:schemeClr val="tx1"/>
                    </a:solidFill>
                    <a:ea typeface="Arial Unicode MS"/>
                    <a:cs typeface="Arial Unicode MS"/>
                  </a:rPr>
                  <a:t>產品管理</a:t>
                </a:r>
              </a:p>
            </p:txBody>
          </p:sp>
        </mc:Choice>
        <mc:Fallback>
          <p:sp>
            <p:nvSpPr>
              <p:cNvPr id="4" name="圓角矩形 9">
                <a:extLst>
                  <a:ext uri="{FF2B5EF4-FFF2-40B4-BE49-F238E27FC236}">
                    <a16:creationId xmlns:a16="http://schemas.microsoft.com/office/drawing/2014/main" id="{E4C73155-35EE-93A4-FBE8-32AE5093D1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39" y="1307246"/>
                <a:ext cx="5996652" cy="213467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1F15F25E-475E-D8C9-3A5A-00502E439F78}"/>
              </a:ext>
            </a:extLst>
          </p:cNvPr>
          <p:cNvSpPr txBox="1"/>
          <p:nvPr/>
        </p:nvSpPr>
        <p:spPr>
          <a:xfrm>
            <a:off x="916414" y="901298"/>
            <a:ext cx="612686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1700" b="1" dirty="0">
                <a:solidFill>
                  <a:schemeClr val="tx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力晶積成電子製造股份有限公司</a:t>
            </a:r>
            <a:r>
              <a:rPr kumimoji="1" lang="en-US" altLang="zh-TW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,</a:t>
            </a:r>
            <a:r>
              <a:rPr kumimoji="1" lang="zh-TW" altLang="en-US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 行銷業務</a:t>
            </a:r>
            <a:r>
              <a:rPr kumimoji="1" lang="en-US" altLang="zh-TW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, </a:t>
            </a:r>
            <a:r>
              <a:rPr kumimoji="1" lang="zh-TW" altLang="en-US" sz="17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kumimoji="1" lang="en-US" altLang="zh-TW" sz="1200" dirty="0">
                <a:latin typeface="PingFang SC" panose="020B0400000000000000" pitchFamily="34" charset="-122"/>
                <a:ea typeface="PingFang SC" panose="020B0400000000000000" pitchFamily="34" charset="-122"/>
              </a:rPr>
              <a:t>2007.01 ~2016.06</a:t>
            </a:r>
            <a:r>
              <a:rPr kumimoji="1" lang="zh-TW" altLang="en-US" sz="12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endParaRPr kumimoji="1" lang="en-US" altLang="zh-TW" sz="1200" b="1" dirty="0">
              <a:solidFill>
                <a:schemeClr val="tx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6" name="五邊形 23">
            <a:extLst>
              <a:ext uri="{FF2B5EF4-FFF2-40B4-BE49-F238E27FC236}">
                <a16:creationId xmlns:a16="http://schemas.microsoft.com/office/drawing/2014/main" id="{BD0417CF-E41C-5647-FC99-DA454BDF01E8}"/>
              </a:ext>
            </a:extLst>
          </p:cNvPr>
          <p:cNvSpPr/>
          <p:nvPr/>
        </p:nvSpPr>
        <p:spPr>
          <a:xfrm>
            <a:off x="505501" y="952188"/>
            <a:ext cx="324000" cy="216000"/>
          </a:xfrm>
          <a:prstGeom prst="homePlat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圓角矩形 13">
            <a:extLst>
              <a:ext uri="{FF2B5EF4-FFF2-40B4-BE49-F238E27FC236}">
                <a16:creationId xmlns:a16="http://schemas.microsoft.com/office/drawing/2014/main" id="{E69F5D4C-B94C-C23C-6C95-E483C5E9AC2F}"/>
              </a:ext>
            </a:extLst>
          </p:cNvPr>
          <p:cNvSpPr/>
          <p:nvPr/>
        </p:nvSpPr>
        <p:spPr>
          <a:xfrm>
            <a:off x="1259463" y="302308"/>
            <a:ext cx="1301451" cy="46180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kumimoji="1" lang="zh-TW" altLang="en-US" sz="1800" b="1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工作經歷</a:t>
            </a:r>
          </a:p>
        </p:txBody>
      </p:sp>
      <p:sp>
        <p:nvSpPr>
          <p:cNvPr id="8" name="圓角矩形 18">
            <a:extLst>
              <a:ext uri="{FF2B5EF4-FFF2-40B4-BE49-F238E27FC236}">
                <a16:creationId xmlns:a16="http://schemas.microsoft.com/office/drawing/2014/main" id="{FCAA6C70-F3FF-4134-471B-E36DB8D1A668}"/>
              </a:ext>
            </a:extLst>
          </p:cNvPr>
          <p:cNvSpPr/>
          <p:nvPr/>
        </p:nvSpPr>
        <p:spPr>
          <a:xfrm>
            <a:off x="267512" y="302308"/>
            <a:ext cx="818932" cy="461801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TW" b="1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02</a:t>
            </a:r>
            <a:endParaRPr kumimoji="1" lang="zh-TW" altLang="en-US" sz="1800" b="1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9" name="圓角矩形 12">
            <a:extLst>
              <a:ext uri="{FF2B5EF4-FFF2-40B4-BE49-F238E27FC236}">
                <a16:creationId xmlns:a16="http://schemas.microsoft.com/office/drawing/2014/main" id="{42DA9171-BE20-709A-5917-26054E2F6AE5}"/>
              </a:ext>
            </a:extLst>
          </p:cNvPr>
          <p:cNvSpPr/>
          <p:nvPr/>
        </p:nvSpPr>
        <p:spPr>
          <a:xfrm>
            <a:off x="614139" y="4169837"/>
            <a:ext cx="5996652" cy="224121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</a:pPr>
            <a:r>
              <a:rPr lang="zh-TW" altLang="zh-TW" sz="1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軟正黑體" panose="020B0604030504040204" pitchFamily="34" charset="-120"/>
              </a:rPr>
              <a:t>宛亭在貴校</a:t>
            </a:r>
            <a:r>
              <a:rPr lang="zh-TW" altLang="en-US" sz="1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軟正黑體" panose="020B0604030504040204" pitchFamily="34" charset="-120"/>
              </a:rPr>
              <a:t>將</a:t>
            </a:r>
            <a:r>
              <a:rPr lang="zh-TW" altLang="zh-TW" sz="1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軟正黑體" panose="020B0604030504040204" pitchFamily="34" charset="-120"/>
              </a:rPr>
              <a:t>計劃專注於「品質工程」、「製程管理」、「供應鏈管理」方面的學習與發展，並以</a:t>
            </a:r>
            <a:r>
              <a:rPr lang="zh-TW" altLang="zh-TW" sz="1400" b="1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軟正黑體" panose="020B0604030504040204" pitchFamily="34" charset="-120"/>
              </a:rPr>
              <a:t>「</a:t>
            </a:r>
            <a:r>
              <a:rPr lang="ga-IE" altLang="zh-TW" sz="1400" b="1" u="sng" kern="100" dirty="0"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新細明體" panose="02020500000000000000" pitchFamily="18" charset="-120"/>
              </a:rPr>
              <a:t>CoWoS</a:t>
            </a:r>
            <a:r>
              <a:rPr lang="zh-TW" altLang="zh-TW" sz="1400" b="1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軟正黑體" panose="020B0604030504040204" pitchFamily="34" charset="-120"/>
              </a:rPr>
              <a:t>技術之良率提升與品質優化之供應鏈管理」</a:t>
            </a:r>
            <a:r>
              <a:rPr lang="zh-TW" altLang="zh-TW" sz="1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軟正黑體" panose="020B0604030504040204" pitchFamily="34" charset="-120"/>
              </a:rPr>
              <a:t>為論文方向，</a:t>
            </a:r>
            <a:r>
              <a:rPr lang="zh-TW" altLang="zh-TW" sz="14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軟正黑體" panose="020B0604030504040204" pitchFamily="34" charset="-120"/>
              </a:rPr>
              <a:t>期望藉由系統性的學習，結合現有工作經驗，深入探討</a:t>
            </a:r>
            <a:r>
              <a:rPr lang="en-US" altLang="zh-TW" sz="1400" b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軟正黑體" panose="020B0604030504040204" pitchFamily="34" charset="-120"/>
              </a:rPr>
              <a:t>CoWoS</a:t>
            </a:r>
            <a:r>
              <a:rPr lang="zh-TW" altLang="zh-TW" sz="14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軟正黑體" panose="020B0604030504040204" pitchFamily="34" charset="-120"/>
              </a:rPr>
              <a:t>技術在製程優化、品質管理及供應鏈管理等面向的創新應用，並結合目前與各家封測廠的緊密合作，深入探討如何以科學方法提升半導體封裝技術的良率與品質，並提出具體可行的改善方案</a:t>
            </a:r>
            <a:r>
              <a:rPr lang="zh-TW" altLang="zh-TW" sz="14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軟正黑體" panose="020B0604030504040204" pitchFamily="34" charset="-120"/>
              </a:rPr>
              <a:t>，期望能為公司及產業創造更高價值，並且更進一步提升自身專業能力。</a:t>
            </a:r>
            <a:endParaRPr lang="zh-TW" altLang="zh-TW" sz="14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0" name="圓角矩形 13">
            <a:extLst>
              <a:ext uri="{FF2B5EF4-FFF2-40B4-BE49-F238E27FC236}">
                <a16:creationId xmlns:a16="http://schemas.microsoft.com/office/drawing/2014/main" id="{15057875-0249-2CF2-CF56-ECDE1F13D1B0}"/>
              </a:ext>
            </a:extLst>
          </p:cNvPr>
          <p:cNvSpPr/>
          <p:nvPr/>
        </p:nvSpPr>
        <p:spPr>
          <a:xfrm>
            <a:off x="1259463" y="3626538"/>
            <a:ext cx="1271802" cy="46180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kumimoji="1" lang="zh-TW" altLang="en-US" b="1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報考動機</a:t>
            </a:r>
            <a:endParaRPr kumimoji="1" lang="zh-TW" altLang="en-US" sz="1800" b="1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1" name="圓角矩形 18">
            <a:extLst>
              <a:ext uri="{FF2B5EF4-FFF2-40B4-BE49-F238E27FC236}">
                <a16:creationId xmlns:a16="http://schemas.microsoft.com/office/drawing/2014/main" id="{D9F5652B-2ED5-ADA9-B570-A10B6F96DEE0}"/>
              </a:ext>
            </a:extLst>
          </p:cNvPr>
          <p:cNvSpPr/>
          <p:nvPr/>
        </p:nvSpPr>
        <p:spPr>
          <a:xfrm>
            <a:off x="267512" y="3641554"/>
            <a:ext cx="818932" cy="461801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TW" b="1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03</a:t>
            </a:r>
            <a:endParaRPr kumimoji="1" lang="zh-TW" altLang="en-US" sz="1800" b="1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2" name="圓角矩形 12">
            <a:extLst>
              <a:ext uri="{FF2B5EF4-FFF2-40B4-BE49-F238E27FC236}">
                <a16:creationId xmlns:a16="http://schemas.microsoft.com/office/drawing/2014/main" id="{C83FAC23-30AA-5454-8F05-61CE9D5FF46F}"/>
              </a:ext>
            </a:extLst>
          </p:cNvPr>
          <p:cNvSpPr/>
          <p:nvPr/>
        </p:nvSpPr>
        <p:spPr>
          <a:xfrm>
            <a:off x="609282" y="7030652"/>
            <a:ext cx="6126864" cy="2758767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</a:pPr>
            <a:r>
              <a:rPr lang="zh-TW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論文方面，計畫以「</a:t>
            </a:r>
            <a:r>
              <a:rPr lang="en-US" altLang="zh-TW" sz="1400" kern="100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CoWoS</a:t>
            </a:r>
            <a:r>
              <a:rPr lang="zh-TW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技術之良率提升與品質優化之供應鏈管理」為主題，結合工業工程的系統分析方法與聯發科技的實際數據，深入探討製程參數、品質管控、供應鏈協同等對良率與品質的影響，期望提出具體可行的改善方案。</a:t>
            </a:r>
          </a:p>
          <a:p>
            <a:pPr algn="just">
              <a:lnSpc>
                <a:spcPct val="115000"/>
              </a:lnSpc>
            </a:pPr>
            <a:r>
              <a:rPr lang="zh-TW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強化在半導體製程優化與品質提升的理論基礎。並積極參與專題研究與產業合作，將聯發科現行</a:t>
            </a:r>
            <a:r>
              <a:rPr lang="en-US" altLang="zh-TW" sz="1400" kern="100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CoWoS</a:t>
            </a:r>
            <a:r>
              <a:rPr lang="zh-TW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技術的實務問題帶入課堂討論與研究。</a:t>
            </a:r>
          </a:p>
          <a:p>
            <a:pPr algn="just">
              <a:lnSpc>
                <a:spcPct val="115000"/>
              </a:lnSpc>
            </a:pPr>
            <a:r>
              <a:rPr lang="en-US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  </a:t>
            </a:r>
            <a:r>
              <a:rPr lang="zh-TW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宛亭希望能將所學的專業知識，應用在</a:t>
            </a:r>
            <a:r>
              <a:rPr lang="en-US" altLang="zh-TW" sz="1400" kern="100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CoWoS</a:t>
            </a:r>
            <a:r>
              <a:rPr lang="zh-TW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技術的供應鏈管理中應用這些技術，以提高整體效率和品質，提升良率，將有助於宛亭在學術研究中結合實務經驗，提出具體可行的供應鏈管理方案。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6CE7CB68-17ED-8BC0-B3A8-A679661CFECE}"/>
              </a:ext>
            </a:extLst>
          </p:cNvPr>
          <p:cNvSpPr/>
          <p:nvPr/>
        </p:nvSpPr>
        <p:spPr>
          <a:xfrm>
            <a:off x="1259463" y="6525316"/>
            <a:ext cx="1271802" cy="46180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kumimoji="1" lang="zh-TW" altLang="en-US" b="1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研究計劃</a:t>
            </a:r>
            <a:endParaRPr kumimoji="1" lang="zh-TW" altLang="en-US" sz="1800" b="1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5" name="圓角矩形 18">
            <a:extLst>
              <a:ext uri="{FF2B5EF4-FFF2-40B4-BE49-F238E27FC236}">
                <a16:creationId xmlns:a16="http://schemas.microsoft.com/office/drawing/2014/main" id="{4FD73EA9-51A0-5BE6-36FB-6B51B7A16754}"/>
              </a:ext>
            </a:extLst>
          </p:cNvPr>
          <p:cNvSpPr/>
          <p:nvPr/>
        </p:nvSpPr>
        <p:spPr>
          <a:xfrm>
            <a:off x="267512" y="6507648"/>
            <a:ext cx="818932" cy="461801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TW" b="1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04</a:t>
            </a:r>
            <a:endParaRPr kumimoji="1" lang="zh-TW" altLang="en-US" sz="1800" b="1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2215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圓角矩形 13">
            <a:extLst>
              <a:ext uri="{FF2B5EF4-FFF2-40B4-BE49-F238E27FC236}">
                <a16:creationId xmlns:a16="http://schemas.microsoft.com/office/drawing/2014/main" id="{FE2AC102-FD2C-4EA7-A27D-5B04D5D6A04B}"/>
              </a:ext>
            </a:extLst>
          </p:cNvPr>
          <p:cNvSpPr/>
          <p:nvPr/>
        </p:nvSpPr>
        <p:spPr>
          <a:xfrm>
            <a:off x="1239192" y="312918"/>
            <a:ext cx="1271802" cy="46180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kumimoji="1" lang="zh-TW" altLang="en-US" b="1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研究計劃</a:t>
            </a:r>
            <a:endParaRPr kumimoji="1" lang="zh-TW" altLang="en-US" sz="1800" b="1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7" name="圓角矩形 18">
            <a:extLst>
              <a:ext uri="{FF2B5EF4-FFF2-40B4-BE49-F238E27FC236}">
                <a16:creationId xmlns:a16="http://schemas.microsoft.com/office/drawing/2014/main" id="{4041F6A3-EB9A-ABFC-FC0B-F8F6748A7429}"/>
              </a:ext>
            </a:extLst>
          </p:cNvPr>
          <p:cNvSpPr/>
          <p:nvPr/>
        </p:nvSpPr>
        <p:spPr>
          <a:xfrm>
            <a:off x="247241" y="312918"/>
            <a:ext cx="818932" cy="461801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1" lang="en-US" altLang="zh-TW" b="1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04</a:t>
            </a:r>
            <a:endParaRPr kumimoji="1" lang="zh-TW" altLang="en-US" sz="1800" b="1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5ACEE67-6660-26F6-44B8-28852C580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953320"/>
              </p:ext>
            </p:extLst>
          </p:nvPr>
        </p:nvGraphicFramePr>
        <p:xfrm>
          <a:off x="349456" y="1104712"/>
          <a:ext cx="6132025" cy="69635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6323">
                  <a:extLst>
                    <a:ext uri="{9D8B030D-6E8A-4147-A177-3AD203B41FA5}">
                      <a16:colId xmlns:a16="http://schemas.microsoft.com/office/drawing/2014/main" val="2647043507"/>
                    </a:ext>
                  </a:extLst>
                </a:gridCol>
                <a:gridCol w="1936243">
                  <a:extLst>
                    <a:ext uri="{9D8B030D-6E8A-4147-A177-3AD203B41FA5}">
                      <a16:colId xmlns:a16="http://schemas.microsoft.com/office/drawing/2014/main" val="4279722648"/>
                    </a:ext>
                  </a:extLst>
                </a:gridCol>
                <a:gridCol w="3159459">
                  <a:extLst>
                    <a:ext uri="{9D8B030D-6E8A-4147-A177-3AD203B41FA5}">
                      <a16:colId xmlns:a16="http://schemas.microsoft.com/office/drawing/2014/main" val="576085332"/>
                    </a:ext>
                  </a:extLst>
                </a:gridCol>
              </a:tblGrid>
              <a:tr h="6251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TW" sz="1400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年級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TW" sz="1400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課程</a:t>
                      </a:r>
                      <a:r>
                        <a:rPr lang="en-US" sz="1400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/</a:t>
                      </a:r>
                      <a:r>
                        <a:rPr lang="zh-TW" sz="1400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活動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TW" sz="1400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內容簡介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1409925307"/>
                  </a:ext>
                </a:extLst>
              </a:tr>
              <a:tr h="546692">
                <a:tc rowSpan="7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TW" sz="1400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碩一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品質工程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SPC</a:t>
                      </a:r>
                      <a:r>
                        <a:rPr lang="zh-TW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、</a:t>
                      </a:r>
                      <a:r>
                        <a:rPr lang="en-US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FMEA</a:t>
                      </a:r>
                      <a:r>
                        <a:rPr lang="zh-TW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、六標準差、</a:t>
                      </a: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失效分析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3000821895"/>
                  </a:ext>
                </a:extLst>
              </a:tr>
              <a:tr h="546692">
                <a:tc vMerge="1">
                  <a:txBody>
                    <a:bodyPr/>
                    <a:lstStyle/>
                    <a:p>
                      <a:endParaRPr lang="zh-TW" sz="1100" dirty="0">
                        <a:effectLst/>
                        <a:latin typeface="+mn-lt"/>
                      </a:endParaRP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製程管理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製程優化、流程再造、</a:t>
                      </a: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製程能力分析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3465207987"/>
                  </a:ext>
                </a:extLst>
              </a:tr>
              <a:tr h="546692">
                <a:tc vMerge="1">
                  <a:txBody>
                    <a:bodyPr/>
                    <a:lstStyle/>
                    <a:p>
                      <a:endParaRPr lang="zh-TW" sz="1100" dirty="0">
                        <a:effectLst/>
                        <a:latin typeface="+mn-lt"/>
                      </a:endParaRP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供應鏈管理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採購策略、庫存管理、</a:t>
                      </a: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供應商協同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525116228"/>
                  </a:ext>
                </a:extLst>
              </a:tr>
              <a:tr h="271646">
                <a:tc vMerge="1">
                  <a:txBody>
                    <a:bodyPr/>
                    <a:lstStyle/>
                    <a:p>
                      <a:endParaRPr lang="zh-TW" sz="1100" dirty="0">
                        <a:effectLst/>
                        <a:latin typeface="+mn-lt"/>
                      </a:endParaRP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資料分析與決策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統計分析、資料探勘、決策模型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3482588649"/>
                  </a:ext>
                </a:extLst>
              </a:tr>
              <a:tr h="453510">
                <a:tc vMerge="1">
                  <a:txBody>
                    <a:bodyPr/>
                    <a:lstStyle/>
                    <a:p>
                      <a:endParaRPr lang="zh-TW" sz="1100" dirty="0">
                        <a:effectLst/>
                        <a:latin typeface="+mn-lt"/>
                      </a:endParaRP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系統工程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系統性問題分析、跨部門協作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2557047414"/>
                  </a:ext>
                </a:extLst>
              </a:tr>
              <a:tr h="546692">
                <a:tc vMerge="1">
                  <a:txBody>
                    <a:bodyPr/>
                    <a:lstStyle/>
                    <a:p>
                      <a:endParaRPr lang="zh-TW" sz="1100" dirty="0">
                        <a:effectLst/>
                        <a:latin typeface="+mn-lt"/>
                      </a:endParaRP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產業講座</a:t>
                      </a:r>
                      <a:r>
                        <a:rPr lang="en-US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/</a:t>
                      </a: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師資交流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參與半導體、製造業相關講座，與業界師資互動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1629682718"/>
                  </a:ext>
                </a:extLst>
              </a:tr>
              <a:tr h="541603">
                <a:tc vMerge="1">
                  <a:txBody>
                    <a:bodyPr/>
                    <a:lstStyle/>
                    <a:p>
                      <a:endParaRPr lang="zh-TW" sz="1100" dirty="0">
                        <a:effectLst/>
                        <a:latin typeface="+mn-lt"/>
                      </a:endParaRP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論文主題規劃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初步擬定論文方向，蒐集相關文獻與數據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1008915774"/>
                  </a:ext>
                </a:extLst>
              </a:tr>
              <a:tr h="271646">
                <a:tc rowSpan="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zh-TW" sz="1400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碩二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進階品質管理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品質系統設計、可靠度工程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162609104"/>
                  </a:ext>
                </a:extLst>
              </a:tr>
              <a:tr h="430777">
                <a:tc vMerge="1">
                  <a:txBody>
                    <a:bodyPr/>
                    <a:lstStyle/>
                    <a:p>
                      <a:endParaRPr lang="zh-TW" sz="1100">
                        <a:effectLst/>
                        <a:latin typeface="+mn-lt"/>
                      </a:endParaRP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進階供應鏈管理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全球供應鏈、風險管理、永續發展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2353441082"/>
                  </a:ext>
                </a:extLst>
              </a:tr>
              <a:tr h="271646">
                <a:tc vMerge="1">
                  <a:txBody>
                    <a:bodyPr/>
                    <a:lstStyle/>
                    <a:p>
                      <a:endParaRPr lang="zh-TW" sz="1100" dirty="0">
                        <a:effectLst/>
                        <a:latin typeface="+mn-lt"/>
                      </a:endParaRP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專案管理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專案規劃、資源分配、風險控管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3313067213"/>
                  </a:ext>
                </a:extLst>
              </a:tr>
              <a:tr h="546692">
                <a:tc vMerge="1">
                  <a:txBody>
                    <a:bodyPr/>
                    <a:lstStyle/>
                    <a:p>
                      <a:endParaRPr lang="zh-TW" sz="1100" dirty="0">
                        <a:effectLst/>
                        <a:latin typeface="+mn-lt"/>
                      </a:endParaRP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產業實習</a:t>
                      </a:r>
                      <a:r>
                        <a:rPr lang="en-US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/</a:t>
                      </a:r>
                      <a:r>
                        <a:rPr lang="zh-TW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專題研究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參與校企合作或產業實習，</a:t>
                      </a: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進行專題研究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1136719971"/>
                  </a:ext>
                </a:extLst>
              </a:tr>
              <a:tr h="430777">
                <a:tc vMerge="1">
                  <a:txBody>
                    <a:bodyPr/>
                    <a:lstStyle/>
                    <a:p>
                      <a:endParaRPr lang="zh-TW" sz="1100" dirty="0">
                        <a:effectLst/>
                        <a:latin typeface="+mn-lt"/>
                      </a:endParaRP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論文撰寫與發表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進行論文研究、數據分析、撰寫與發表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3279834951"/>
                  </a:ext>
                </a:extLst>
              </a:tr>
              <a:tr h="933263">
                <a:tc vMerge="1">
                  <a:txBody>
                    <a:bodyPr/>
                    <a:lstStyle/>
                    <a:p>
                      <a:endParaRPr lang="zh-TW" sz="1100" dirty="0">
                        <a:effectLst/>
                        <a:latin typeface="+mn-lt"/>
                      </a:endParaRP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產業交流</a:t>
                      </a:r>
                      <a:r>
                        <a:rPr lang="en-US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/</a:t>
                      </a: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學術研討</a:t>
                      </a:r>
                    </a:p>
                  </a:txBody>
                  <a:tcPr marL="7495" marR="7495" marT="7495" marB="749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zh-TW" sz="1400" b="1" kern="100" dirty="0">
                          <a:effectLst/>
                          <a:latin typeface="Microsoft JhengHei Light" panose="020B0304030504040204" pitchFamily="34" charset="-120"/>
                          <a:ea typeface="Microsoft JhengHei Light" panose="020B0304030504040204" pitchFamily="34" charset="-120"/>
                        </a:rPr>
                        <a:t>參加學術研討會、產業交流活動</a:t>
                      </a:r>
                    </a:p>
                  </a:txBody>
                  <a:tcPr marL="7495" marR="7495" marT="7495" marB="7495" anchor="ctr"/>
                </a:tc>
                <a:extLst>
                  <a:ext uri="{0D108BD9-81ED-4DB2-BD59-A6C34878D82A}">
                    <a16:rowId xmlns:a16="http://schemas.microsoft.com/office/drawing/2014/main" val="2247035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93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3bcef13-7cac-433f-ba1d-47a323951816}" enabled="1" method="Privileged" siteId="{a7687ede-7a6b-4ef6-bace-642f677fbe3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29166</TotalTime>
  <Words>1409</Words>
  <Application>Microsoft Office PowerPoint</Application>
  <PresentationFormat>A4 紙張 (210x297 公釐)</PresentationFormat>
  <Paragraphs>89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7" baseType="lpstr">
      <vt:lpstr>Arial Unicode MS</vt:lpstr>
      <vt:lpstr>Microsoft JhengHei Light</vt:lpstr>
      <vt:lpstr>PingFang SC</vt:lpstr>
      <vt:lpstr>Söhne</vt:lpstr>
      <vt:lpstr>微軟正黑體</vt:lpstr>
      <vt:lpstr>Arial</vt:lpstr>
      <vt:lpstr>Calibri</vt:lpstr>
      <vt:lpstr>Calibri Light</vt:lpstr>
      <vt:lpstr>Helvetica</vt:lpstr>
      <vt:lpstr>Poiret One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Microsoft Office User</dc:creator>
  <cp:lastModifiedBy>Donna Chen (陳宛亭)</cp:lastModifiedBy>
  <cp:revision>93</cp:revision>
  <dcterms:created xsi:type="dcterms:W3CDTF">2023-11-18T08:29:31Z</dcterms:created>
  <dcterms:modified xsi:type="dcterms:W3CDTF">2025-12-12T10:01:21Z</dcterms:modified>
</cp:coreProperties>
</file>