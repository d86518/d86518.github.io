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22"/>
  </p:notesMasterIdLst>
  <p:sldIdLst>
    <p:sldId id="259" r:id="rId2"/>
    <p:sldId id="261" r:id="rId3"/>
    <p:sldId id="276" r:id="rId4"/>
    <p:sldId id="270" r:id="rId5"/>
    <p:sldId id="269" r:id="rId6"/>
    <p:sldId id="267" r:id="rId7"/>
    <p:sldId id="271" r:id="rId8"/>
    <p:sldId id="272" r:id="rId9"/>
    <p:sldId id="273" r:id="rId10"/>
    <p:sldId id="262" r:id="rId11"/>
    <p:sldId id="260" r:id="rId12"/>
    <p:sldId id="266" r:id="rId13"/>
    <p:sldId id="264" r:id="rId14"/>
    <p:sldId id="274" r:id="rId15"/>
    <p:sldId id="263" r:id="rId16"/>
    <p:sldId id="265" r:id="rId17"/>
    <p:sldId id="279" r:id="rId18"/>
    <p:sldId id="278" r:id="rId19"/>
    <p:sldId id="277" r:id="rId20"/>
    <p:sldId id="280" r:id="rId21"/>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8FC2FF"/>
    <a:srgbClr val="DEEBF7"/>
    <a:srgbClr val="FFF3CC"/>
    <a:srgbClr val="E4FFFC"/>
    <a:srgbClr val="DAFFF1"/>
    <a:srgbClr val="FFE4CA"/>
    <a:srgbClr val="FFFEF8"/>
    <a:srgbClr val="FFF1FF"/>
    <a:srgbClr val="F69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1" autoAdjust="0"/>
    <p:restoredTop sz="89869"/>
  </p:normalViewPr>
  <p:slideViewPr>
    <p:cSldViewPr snapToGrid="0">
      <p:cViewPr varScale="1">
        <p:scale>
          <a:sx n="69" d="100"/>
          <a:sy n="69" d="100"/>
        </p:scale>
        <p:origin x="31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C48FA6-F2FE-9E41-B742-03A9D0F9BB28}" type="datetimeFigureOut">
              <a:rPr kumimoji="1" lang="zh-TW" altLang="en-US" smtClean="0"/>
              <a:t>2025/11/27</a:t>
            </a:fld>
            <a:endParaRPr kumimoji="1" lang="zh-TW" altLang="en-US"/>
          </a:p>
        </p:txBody>
      </p:sp>
      <p:sp>
        <p:nvSpPr>
          <p:cNvPr id="4" name="投影片影像版面配置區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60ED4-14E4-1E45-994E-FE991B21CFBF}" type="slidenum">
              <a:rPr kumimoji="1" lang="zh-TW" altLang="en-US" smtClean="0"/>
              <a:t>‹#›</a:t>
            </a:fld>
            <a:endParaRPr kumimoji="1" lang="zh-TW" altLang="en-US"/>
          </a:p>
        </p:txBody>
      </p:sp>
    </p:spTree>
    <p:extLst>
      <p:ext uri="{BB962C8B-B14F-4D97-AF65-F5344CB8AC3E}">
        <p14:creationId xmlns:p14="http://schemas.microsoft.com/office/powerpoint/2010/main" val="1108759109"/>
      </p:ext>
    </p:extLst>
  </p:cSld>
  <p:clrMap bg1="lt1" tx1="dk1" bg2="lt2" tx2="dk2" accent1="accent1" accent2="accent2" accent3="accent3" accent4="accent4" accent5="accent5" accent6="accent6" hlink="hlink" folHlink="folHlink"/>
  <p:notesStyle>
    <a:lvl1pPr marL="0" algn="l" defTabSz="514188" rtl="0" eaLnBrk="1" latinLnBrk="0" hangingPunct="1">
      <a:defRPr sz="675" kern="1200">
        <a:solidFill>
          <a:schemeClr val="tx1"/>
        </a:solidFill>
        <a:latin typeface="+mn-lt"/>
        <a:ea typeface="+mn-ea"/>
        <a:cs typeface="+mn-cs"/>
      </a:defRPr>
    </a:lvl1pPr>
    <a:lvl2pPr marL="257094" algn="l" defTabSz="514188" rtl="0" eaLnBrk="1" latinLnBrk="0" hangingPunct="1">
      <a:defRPr sz="675" kern="1200">
        <a:solidFill>
          <a:schemeClr val="tx1"/>
        </a:solidFill>
        <a:latin typeface="+mn-lt"/>
        <a:ea typeface="+mn-ea"/>
        <a:cs typeface="+mn-cs"/>
      </a:defRPr>
    </a:lvl2pPr>
    <a:lvl3pPr marL="514188" algn="l" defTabSz="514188" rtl="0" eaLnBrk="1" latinLnBrk="0" hangingPunct="1">
      <a:defRPr sz="675" kern="1200">
        <a:solidFill>
          <a:schemeClr val="tx1"/>
        </a:solidFill>
        <a:latin typeface="+mn-lt"/>
        <a:ea typeface="+mn-ea"/>
        <a:cs typeface="+mn-cs"/>
      </a:defRPr>
    </a:lvl3pPr>
    <a:lvl4pPr marL="771284" algn="l" defTabSz="514188" rtl="0" eaLnBrk="1" latinLnBrk="0" hangingPunct="1">
      <a:defRPr sz="675" kern="1200">
        <a:solidFill>
          <a:schemeClr val="tx1"/>
        </a:solidFill>
        <a:latin typeface="+mn-lt"/>
        <a:ea typeface="+mn-ea"/>
        <a:cs typeface="+mn-cs"/>
      </a:defRPr>
    </a:lvl4pPr>
    <a:lvl5pPr marL="1028378" algn="l" defTabSz="514188" rtl="0" eaLnBrk="1" latinLnBrk="0" hangingPunct="1">
      <a:defRPr sz="675" kern="1200">
        <a:solidFill>
          <a:schemeClr val="tx1"/>
        </a:solidFill>
        <a:latin typeface="+mn-lt"/>
        <a:ea typeface="+mn-ea"/>
        <a:cs typeface="+mn-cs"/>
      </a:defRPr>
    </a:lvl5pPr>
    <a:lvl6pPr marL="1285472" algn="l" defTabSz="514188" rtl="0" eaLnBrk="1" latinLnBrk="0" hangingPunct="1">
      <a:defRPr sz="675" kern="1200">
        <a:solidFill>
          <a:schemeClr val="tx1"/>
        </a:solidFill>
        <a:latin typeface="+mn-lt"/>
        <a:ea typeface="+mn-ea"/>
        <a:cs typeface="+mn-cs"/>
      </a:defRPr>
    </a:lvl6pPr>
    <a:lvl7pPr marL="1542566" algn="l" defTabSz="514188" rtl="0" eaLnBrk="1" latinLnBrk="0" hangingPunct="1">
      <a:defRPr sz="675" kern="1200">
        <a:solidFill>
          <a:schemeClr val="tx1"/>
        </a:solidFill>
        <a:latin typeface="+mn-lt"/>
        <a:ea typeface="+mn-ea"/>
        <a:cs typeface="+mn-cs"/>
      </a:defRPr>
    </a:lvl7pPr>
    <a:lvl8pPr marL="1799662" algn="l" defTabSz="514188" rtl="0" eaLnBrk="1" latinLnBrk="0" hangingPunct="1">
      <a:defRPr sz="675" kern="1200">
        <a:solidFill>
          <a:schemeClr val="tx1"/>
        </a:solidFill>
        <a:latin typeface="+mn-lt"/>
        <a:ea typeface="+mn-ea"/>
        <a:cs typeface="+mn-cs"/>
      </a:defRPr>
    </a:lvl8pPr>
    <a:lvl9pPr marL="2056756" algn="l" defTabSz="514188"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514188" rtl="0" eaLnBrk="1" fontAlgn="auto" latinLnBrk="0" hangingPunct="1">
              <a:lnSpc>
                <a:spcPct val="100000"/>
              </a:lnSpc>
              <a:spcBef>
                <a:spcPts val="0"/>
              </a:spcBef>
              <a:spcAft>
                <a:spcPts val="0"/>
              </a:spcAft>
              <a:buClrTx/>
              <a:buSzTx/>
              <a:buFontTx/>
              <a:buNone/>
              <a:tabLst/>
              <a:defRPr/>
            </a:pPr>
            <a:r>
              <a:rPr lang="zh-TW" altLang="en-US" sz="4800" b="0" i="0" dirty="0">
                <a:solidFill>
                  <a:srgbClr val="0F0F0F"/>
                </a:solidFill>
                <a:effectLst/>
                <a:latin typeface="Söhne"/>
              </a:rPr>
              <a:t>當我高中畢業後，除了課業以外，我熱衷於參與志願服務。那時，我特別頻繁地參與自閉症相關的志願活動。我參與了辦理營隊，幫助特殊需求生提升社交技巧，並在課業上給予他們輔導，幫助他們跟上進度，同時也讓家長得到些許喘息的機會。透過這些活動，我發現了自己的價值和熱情，並立志更努力地為他人服務。 在大學期間，我不僅加入手語社並擔任社長，更積極參與各項志願服務。我也選修了特殊教育相關的課程，深入了解不同身心障礙族群的需求。我也走訪了一些身心障礙協會，親自走進他們的生活，更加深了對他們需求的理解。這段時間讓我更深刻地領悟到「真正的幸福感來自於服務他人」。</a:t>
            </a:r>
            <a:endParaRPr kumimoji="1" lang="zh-TW" altLang="en-US" dirty="0"/>
          </a:p>
        </p:txBody>
      </p:sp>
      <p:sp>
        <p:nvSpPr>
          <p:cNvPr id="4" name="投影片編號版面配置區 3"/>
          <p:cNvSpPr>
            <a:spLocks noGrp="1"/>
          </p:cNvSpPr>
          <p:nvPr>
            <p:ph type="sldNum" sz="quarter" idx="5"/>
          </p:nvPr>
        </p:nvSpPr>
        <p:spPr/>
        <p:txBody>
          <a:bodyPr/>
          <a:lstStyle/>
          <a:p>
            <a:fld id="{C3360ED4-14E4-1E45-994E-FE991B21CFBF}" type="slidenum">
              <a:rPr kumimoji="1" lang="zh-TW" altLang="en-US" smtClean="0"/>
              <a:t>1</a:t>
            </a:fld>
            <a:endParaRPr kumimoji="1" lang="zh-TW" altLang="en-US"/>
          </a:p>
        </p:txBody>
      </p:sp>
    </p:spTree>
    <p:extLst>
      <p:ext uri="{BB962C8B-B14F-4D97-AF65-F5344CB8AC3E}">
        <p14:creationId xmlns:p14="http://schemas.microsoft.com/office/powerpoint/2010/main" val="3905704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514188" rtl="0" eaLnBrk="1" fontAlgn="auto" latinLnBrk="0" hangingPunct="1">
              <a:lnSpc>
                <a:spcPct val="100000"/>
              </a:lnSpc>
              <a:spcBef>
                <a:spcPts val="0"/>
              </a:spcBef>
              <a:spcAft>
                <a:spcPts val="0"/>
              </a:spcAft>
              <a:buClrTx/>
              <a:buSzTx/>
              <a:buFontTx/>
              <a:buNone/>
              <a:tabLst/>
              <a:defRPr/>
            </a:pPr>
            <a:r>
              <a:rPr lang="en-US" altLang="zh-TW" sz="1800" dirty="0">
                <a:effectLst/>
                <a:latin typeface="Helvetica" pitchFamily="2" charset="0"/>
              </a:rPr>
              <a:t>(1)</a:t>
            </a:r>
            <a:r>
              <a:rPr lang="zh-TW" altLang="en-US" sz="1800" dirty="0">
                <a:effectLst/>
              </a:rPr>
              <a:t>成長自述、</a:t>
            </a:r>
            <a:r>
              <a:rPr lang="en-US" altLang="zh-TW" sz="1800" dirty="0">
                <a:effectLst/>
                <a:latin typeface="Helvetica" pitchFamily="2" charset="0"/>
              </a:rPr>
              <a:t>(2)</a:t>
            </a:r>
            <a:r>
              <a:rPr lang="zh-TW" altLang="en-US" sz="1800" dirty="0">
                <a:effectLst/>
              </a:rPr>
              <a:t>工作成就與創新、</a:t>
            </a:r>
            <a:r>
              <a:rPr lang="en-US" altLang="zh-TW" sz="1800" dirty="0">
                <a:effectLst/>
                <a:latin typeface="Helvetica" pitchFamily="2" charset="0"/>
              </a:rPr>
              <a:t>(3) </a:t>
            </a:r>
            <a:r>
              <a:rPr lang="zh-TW" altLang="en-US" sz="1800" dirty="0">
                <a:effectLst/>
              </a:rPr>
              <a:t>進修期待與規劃、</a:t>
            </a:r>
            <a:r>
              <a:rPr lang="en-US" altLang="zh-TW" sz="1800" dirty="0">
                <a:effectLst/>
                <a:latin typeface="Helvetica" pitchFamily="2" charset="0"/>
              </a:rPr>
              <a:t>(4)</a:t>
            </a:r>
            <a:r>
              <a:rPr lang="zh-TW" altLang="en-US" sz="1800" dirty="0">
                <a:effectLst/>
              </a:rPr>
              <a:t>未來研究具體計畫 </a:t>
            </a:r>
            <a:endParaRPr lang="zh-TW" altLang="en-US" dirty="0">
              <a:effectLst/>
            </a:endParaRPr>
          </a:p>
          <a:p>
            <a:endParaRPr kumimoji="1" lang="zh-TW" altLang="en-US" dirty="0"/>
          </a:p>
        </p:txBody>
      </p:sp>
      <p:sp>
        <p:nvSpPr>
          <p:cNvPr id="4" name="投影片編號版面配置區 3"/>
          <p:cNvSpPr>
            <a:spLocks noGrp="1"/>
          </p:cNvSpPr>
          <p:nvPr>
            <p:ph type="sldNum" sz="quarter" idx="5"/>
          </p:nvPr>
        </p:nvSpPr>
        <p:spPr/>
        <p:txBody>
          <a:bodyPr/>
          <a:lstStyle/>
          <a:p>
            <a:fld id="{C3360ED4-14E4-1E45-994E-FE991B21CFBF}" type="slidenum">
              <a:rPr kumimoji="1" lang="zh-TW" altLang="en-US" smtClean="0"/>
              <a:t>2</a:t>
            </a:fld>
            <a:endParaRPr kumimoji="1" lang="zh-TW" altLang="en-US"/>
          </a:p>
        </p:txBody>
      </p:sp>
    </p:spTree>
    <p:extLst>
      <p:ext uri="{BB962C8B-B14F-4D97-AF65-F5344CB8AC3E}">
        <p14:creationId xmlns:p14="http://schemas.microsoft.com/office/powerpoint/2010/main" val="3364997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C3360ED4-14E4-1E45-994E-FE991B21CFBF}" type="slidenum">
              <a:rPr kumimoji="1" lang="zh-TW" altLang="en-US" smtClean="0"/>
              <a:t>10</a:t>
            </a:fld>
            <a:endParaRPr kumimoji="1" lang="zh-TW" altLang="en-US"/>
          </a:p>
        </p:txBody>
      </p:sp>
    </p:spTree>
    <p:extLst>
      <p:ext uri="{BB962C8B-B14F-4D97-AF65-F5344CB8AC3E}">
        <p14:creationId xmlns:p14="http://schemas.microsoft.com/office/powerpoint/2010/main" val="2544201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514188" rtl="0" eaLnBrk="1" fontAlgn="auto" latinLnBrk="0" hangingPunct="1">
              <a:lnSpc>
                <a:spcPct val="100000"/>
              </a:lnSpc>
              <a:spcBef>
                <a:spcPts val="0"/>
              </a:spcBef>
              <a:spcAft>
                <a:spcPts val="0"/>
              </a:spcAft>
              <a:buClrTx/>
              <a:buSzTx/>
              <a:buFont typeface="+mj-lt"/>
              <a:buAutoNum type="arabicPeriod"/>
              <a:tabLst/>
              <a:defRPr/>
            </a:pPr>
            <a:r>
              <a:rPr lang="zh-TW" altLang="en-US" sz="9600" b="0" i="0" dirty="0">
                <a:solidFill>
                  <a:srgbClr val="374151"/>
                </a:solidFill>
                <a:effectLst/>
                <a:latin typeface="Söhne"/>
              </a:rPr>
              <a:t>謝堉梅</a:t>
            </a:r>
            <a:r>
              <a:rPr lang="en-US" altLang="zh-TW" sz="9600" b="0" i="0" dirty="0">
                <a:solidFill>
                  <a:srgbClr val="374151"/>
                </a:solidFill>
                <a:effectLst/>
                <a:latin typeface="Söhne"/>
              </a:rPr>
              <a:t>, </a:t>
            </a:r>
            <a:r>
              <a:rPr lang="zh-TW" altLang="en-US" sz="9600" b="0" i="0" dirty="0">
                <a:solidFill>
                  <a:srgbClr val="374151"/>
                </a:solidFill>
                <a:effectLst/>
                <a:latin typeface="Söhne"/>
              </a:rPr>
              <a:t>陳怡惠</a:t>
            </a:r>
            <a:r>
              <a:rPr lang="en-US" altLang="zh-TW" sz="9600" b="0" i="0" dirty="0">
                <a:solidFill>
                  <a:srgbClr val="374151"/>
                </a:solidFill>
                <a:effectLst/>
                <a:latin typeface="Söhne"/>
              </a:rPr>
              <a:t>. (108). </a:t>
            </a:r>
            <a:r>
              <a:rPr lang="zh-TW" altLang="en-US" sz="9600" b="0" i="0" dirty="0">
                <a:solidFill>
                  <a:srgbClr val="374151"/>
                </a:solidFill>
                <a:effectLst/>
                <a:latin typeface="Söhne"/>
              </a:rPr>
              <a:t>聽覺障礙大學生壓力因應歷程之探究</a:t>
            </a:r>
            <a:r>
              <a:rPr lang="en-US" altLang="zh-TW" sz="9600" b="0" i="0" dirty="0">
                <a:solidFill>
                  <a:srgbClr val="374151"/>
                </a:solidFill>
                <a:effectLst/>
                <a:latin typeface="Söhne"/>
              </a:rPr>
              <a:t>. </a:t>
            </a:r>
            <a:r>
              <a:rPr lang="zh-TW" altLang="en-US" sz="9600" b="0" i="0" dirty="0">
                <a:solidFill>
                  <a:srgbClr val="374151"/>
                </a:solidFill>
                <a:effectLst/>
                <a:latin typeface="Söhne"/>
              </a:rPr>
              <a:t>特殊教育發展期刊</a:t>
            </a:r>
            <a:r>
              <a:rPr lang="en-US" altLang="zh-TW" sz="9600" b="0" i="0" dirty="0">
                <a:solidFill>
                  <a:srgbClr val="374151"/>
                </a:solidFill>
                <a:effectLst/>
                <a:latin typeface="Söhne"/>
              </a:rPr>
              <a:t>, 67, 41-56.</a:t>
            </a:r>
            <a:br>
              <a:rPr lang="en-US" altLang="zh-TW" sz="9600" b="0" i="0" dirty="0">
                <a:solidFill>
                  <a:srgbClr val="374151"/>
                </a:solidFill>
                <a:effectLst/>
                <a:latin typeface="Söhne"/>
              </a:rPr>
            </a:br>
            <a:r>
              <a:rPr lang="zh-TW" altLang="en-US" sz="1800" b="0" dirty="0">
                <a:effectLst/>
                <a:latin typeface="DFMingStd"/>
              </a:rPr>
              <a:t>實務方面僅能提供大方向未給予具體建議，顯示聾人在輔諮界仍被低度服務與研究 </a:t>
            </a:r>
            <a:endParaRPr lang="zh-TW" altLang="en-US" sz="9600" b="0" dirty="0"/>
          </a:p>
          <a:p>
            <a:pPr marL="0" marR="0" lvl="0" indent="0" algn="l" defTabSz="514188" rtl="0" eaLnBrk="1" fontAlgn="auto" latinLnBrk="0" hangingPunct="1">
              <a:lnSpc>
                <a:spcPct val="100000"/>
              </a:lnSpc>
              <a:spcBef>
                <a:spcPts val="0"/>
              </a:spcBef>
              <a:spcAft>
                <a:spcPts val="0"/>
              </a:spcAft>
              <a:buClrTx/>
              <a:buSzTx/>
              <a:buFont typeface="+mj-lt"/>
              <a:buAutoNum type="arabicPeriod"/>
              <a:tabLst/>
              <a:defRPr/>
            </a:pPr>
            <a:r>
              <a:rPr lang="zh-TW" altLang="en-US" sz="1800" b="0" dirty="0">
                <a:effectLst/>
                <a:latin typeface="DFKaiShuStd"/>
              </a:rPr>
              <a:t>聽覺障礙者</a:t>
            </a:r>
            <a:r>
              <a:rPr lang="en-US" altLang="zh-TW" sz="1800" b="0" dirty="0">
                <a:effectLst/>
                <a:latin typeface="DFKaiShuStd"/>
              </a:rPr>
              <a:t>/</a:t>
            </a:r>
            <a:r>
              <a:rPr lang="zh-TW" altLang="en-US" sz="1800" b="0" dirty="0">
                <a:effectLst/>
                <a:latin typeface="DFKaiShuStd"/>
              </a:rPr>
              <a:t>聾人的心理諮商翟宗悌 輔導季刊 </a:t>
            </a:r>
            <a:r>
              <a:rPr lang="en-US" altLang="zh-TW" sz="1800" b="0" dirty="0">
                <a:effectLst/>
                <a:latin typeface="TimesNewRomanPSMT"/>
              </a:rPr>
              <a:t>2015</a:t>
            </a:r>
            <a:r>
              <a:rPr lang="zh-TW" altLang="en-US" sz="1800" b="0" dirty="0">
                <a:effectLst/>
                <a:latin typeface="DFKaiShuStd"/>
              </a:rPr>
              <a:t>年</a:t>
            </a:r>
            <a:r>
              <a:rPr lang="en-US" altLang="zh-TW" sz="1800" b="0" dirty="0">
                <a:effectLst/>
                <a:latin typeface="TimesNewRomanPSMT"/>
              </a:rPr>
              <a:t>12</a:t>
            </a:r>
            <a:r>
              <a:rPr lang="zh-TW" altLang="en-US" sz="1800" b="0" dirty="0">
                <a:effectLst/>
                <a:latin typeface="DFKaiShuStd"/>
              </a:rPr>
              <a:t>月 第</a:t>
            </a:r>
            <a:r>
              <a:rPr lang="en-US" altLang="zh-TW" sz="1800" b="0" dirty="0">
                <a:effectLst/>
                <a:latin typeface="TimesNewRomanPSMT"/>
              </a:rPr>
              <a:t>51</a:t>
            </a:r>
            <a:r>
              <a:rPr lang="zh-TW" altLang="en-US" sz="1800" b="0" dirty="0">
                <a:effectLst/>
                <a:latin typeface="DFKaiShuStd"/>
              </a:rPr>
              <a:t>卷 第</a:t>
            </a:r>
            <a:r>
              <a:rPr lang="en-US" altLang="zh-TW" sz="1800" b="0" dirty="0">
                <a:effectLst/>
                <a:latin typeface="TimesNewRomanPSMT"/>
              </a:rPr>
              <a:t>4</a:t>
            </a:r>
            <a:r>
              <a:rPr lang="zh-TW" altLang="en-US" sz="1800" b="0" dirty="0">
                <a:effectLst/>
                <a:latin typeface="DFKaiShuStd"/>
              </a:rPr>
              <a:t>期 第 </a:t>
            </a:r>
            <a:r>
              <a:rPr lang="en-US" altLang="zh-TW" sz="1800" b="0" dirty="0">
                <a:effectLst/>
                <a:latin typeface="TimesNewRomanPSMT"/>
              </a:rPr>
              <a:t>50-60 </a:t>
            </a:r>
            <a:r>
              <a:rPr lang="zh-TW" altLang="en-US" sz="1800" b="0" dirty="0">
                <a:effectLst/>
                <a:latin typeface="DFKaiShuStd"/>
              </a:rPr>
              <a:t>頁 </a:t>
            </a:r>
            <a:endParaRPr lang="zh-TW" altLang="en-US" sz="9600" b="0" dirty="0"/>
          </a:p>
          <a:p>
            <a:pPr algn="l">
              <a:buFont typeface="+mj-lt"/>
              <a:buAutoNum type="arabicPeriod"/>
            </a:pPr>
            <a:r>
              <a:rPr lang="zh-TW" altLang="en-US" sz="9600" b="0" i="0" dirty="0">
                <a:solidFill>
                  <a:srgbClr val="374151"/>
                </a:solidFill>
                <a:effectLst/>
                <a:latin typeface="Söhne"/>
              </a:rPr>
              <a:t>情緒支持對聽覺障礙者情緒健康的正向影響。 預期參與情緒支持能夠幫助他們更好地處理情緒挑戰、參與生涯諮商將對其職業目標設定和自我價值感提供支持。</a:t>
            </a:r>
          </a:p>
          <a:p>
            <a:pPr marL="0" marR="0" lvl="0" indent="0" algn="l" defTabSz="514188" rtl="0" eaLnBrk="1" fontAlgn="auto" latinLnBrk="0" hangingPunct="1">
              <a:lnSpc>
                <a:spcPct val="100000"/>
              </a:lnSpc>
              <a:spcBef>
                <a:spcPts val="0"/>
              </a:spcBef>
              <a:spcAft>
                <a:spcPts val="0"/>
              </a:spcAft>
              <a:buClrTx/>
              <a:buSzTx/>
              <a:buFont typeface="+mj-lt"/>
              <a:buAutoNum type="arabicPeriod"/>
              <a:tabLst/>
              <a:defRPr/>
            </a:pPr>
            <a:endParaRPr lang="zh-TW" altLang="en-US" sz="4800" b="0" i="0" dirty="0">
              <a:solidFill>
                <a:srgbClr val="374151"/>
              </a:solidFill>
              <a:effectLst/>
              <a:latin typeface="Söhne"/>
            </a:endParaRPr>
          </a:p>
        </p:txBody>
      </p:sp>
      <p:sp>
        <p:nvSpPr>
          <p:cNvPr id="4" name="投影片編號版面配置區 3"/>
          <p:cNvSpPr>
            <a:spLocks noGrp="1"/>
          </p:cNvSpPr>
          <p:nvPr>
            <p:ph type="sldNum" sz="quarter" idx="5"/>
          </p:nvPr>
        </p:nvSpPr>
        <p:spPr/>
        <p:txBody>
          <a:bodyPr/>
          <a:lstStyle/>
          <a:p>
            <a:fld id="{C3360ED4-14E4-1E45-994E-FE991B21CFBF}" type="slidenum">
              <a:rPr kumimoji="1" lang="zh-TW" altLang="en-US" smtClean="0"/>
              <a:t>11</a:t>
            </a:fld>
            <a:endParaRPr kumimoji="1" lang="zh-TW" altLang="en-US"/>
          </a:p>
        </p:txBody>
      </p:sp>
    </p:spTree>
    <p:extLst>
      <p:ext uri="{BB962C8B-B14F-4D97-AF65-F5344CB8AC3E}">
        <p14:creationId xmlns:p14="http://schemas.microsoft.com/office/powerpoint/2010/main" val="910305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zh-TW" altLang="en-US"/>
              <a:t>按一下以編輯母片標題樣式</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2142719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1988579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zh-TW" altLang="en-US"/>
              <a:t>按一下以編輯母片標題樣式</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2194385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1380871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4" name="Content Placeholder 3"/>
          <p:cNvSpPr>
            <a:spLocks noGrp="1"/>
          </p:cNvSpPr>
          <p:nvPr>
            <p:ph sz="half" idx="2"/>
          </p:nvPr>
        </p:nvSpPr>
        <p:spPr>
          <a:xfrm>
            <a:off x="472381" y="3618442"/>
            <a:ext cx="2901255" cy="532218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6" name="Content Placeholder 5"/>
          <p:cNvSpPr>
            <a:spLocks noGrp="1"/>
          </p:cNvSpPr>
          <p:nvPr>
            <p:ph sz="quarter" idx="4"/>
          </p:nvPr>
        </p:nvSpPr>
        <p:spPr>
          <a:xfrm>
            <a:off x="3471863" y="3618442"/>
            <a:ext cx="2915543" cy="532218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673146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37087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162588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TW" altLang="en-US"/>
              <a:t>按一下以編輯母片標題樣式</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292806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TW" altLang="en-US"/>
              <a:t>按一下圖示以新增圖片</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415379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1584016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05D9D17-52B0-EE42-96B7-FEC93A08EB74}" type="datetimeFigureOut">
              <a:rPr kumimoji="1" lang="zh-TW" altLang="en-US" smtClean="0"/>
              <a:t>2025/11/27</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4126951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B05D9D17-52B0-EE42-96B7-FEC93A08EB74}" type="datetimeFigureOut">
              <a:rPr kumimoji="1" lang="zh-TW" altLang="en-US" smtClean="0"/>
              <a:t>2025/11/27</a:t>
            </a:fld>
            <a:endParaRPr kumimoji="1" lang="zh-TW"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zh-TW"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65F894E0-F033-4A40-919C-9222C3559EFD}" type="slidenum">
              <a:rPr kumimoji="1" lang="zh-TW" altLang="en-US" smtClean="0"/>
              <a:t>‹#›</a:t>
            </a:fld>
            <a:endParaRPr kumimoji="1" lang="zh-TW" altLang="en-US"/>
          </a:p>
        </p:txBody>
      </p:sp>
    </p:spTree>
    <p:extLst>
      <p:ext uri="{BB962C8B-B14F-4D97-AF65-F5344CB8AC3E}">
        <p14:creationId xmlns:p14="http://schemas.microsoft.com/office/powerpoint/2010/main" val="38778101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圓角矩形 20">
            <a:extLst>
              <a:ext uri="{FF2B5EF4-FFF2-40B4-BE49-F238E27FC236}">
                <a16:creationId xmlns:a16="http://schemas.microsoft.com/office/drawing/2014/main" id="{78FFD5C8-13B6-9ABC-7899-CB355F8A6806}"/>
              </a:ext>
            </a:extLst>
          </p:cNvPr>
          <p:cNvSpPr/>
          <p:nvPr/>
        </p:nvSpPr>
        <p:spPr>
          <a:xfrm>
            <a:off x="776475" y="7788211"/>
            <a:ext cx="5693741" cy="1616162"/>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zh-TW" altLang="en-US" dirty="0"/>
          </a:p>
        </p:txBody>
      </p:sp>
      <p:sp>
        <p:nvSpPr>
          <p:cNvPr id="13" name="圓角矩形 12">
            <a:extLst>
              <a:ext uri="{FF2B5EF4-FFF2-40B4-BE49-F238E27FC236}">
                <a16:creationId xmlns:a16="http://schemas.microsoft.com/office/drawing/2014/main" id="{39025415-CDCD-DA1B-4CF9-B5578F3ADBEE}"/>
              </a:ext>
            </a:extLst>
          </p:cNvPr>
          <p:cNvSpPr/>
          <p:nvPr/>
        </p:nvSpPr>
        <p:spPr>
          <a:xfrm>
            <a:off x="788669" y="1141678"/>
            <a:ext cx="5651567" cy="920776"/>
          </a:xfrm>
          <a:prstGeom prst="round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圓角矩形 10">
            <a:extLst>
              <a:ext uri="{FF2B5EF4-FFF2-40B4-BE49-F238E27FC236}">
                <a16:creationId xmlns:a16="http://schemas.microsoft.com/office/drawing/2014/main" id="{EDBD0759-304D-34DB-37D7-4B639BCFDFD2}"/>
              </a:ext>
            </a:extLst>
          </p:cNvPr>
          <p:cNvSpPr/>
          <p:nvPr/>
        </p:nvSpPr>
        <p:spPr>
          <a:xfrm>
            <a:off x="776475" y="3383281"/>
            <a:ext cx="5651568" cy="1883283"/>
          </a:xfrm>
          <a:prstGeom prst="roundRect">
            <a:avLst/>
          </a:prstGeom>
          <a:solidFill>
            <a:srgbClr val="DAF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6" name="圓角矩形 15">
            <a:extLst>
              <a:ext uri="{FF2B5EF4-FFF2-40B4-BE49-F238E27FC236}">
                <a16:creationId xmlns:a16="http://schemas.microsoft.com/office/drawing/2014/main" id="{3FCCD202-2B25-D715-4E11-B430AE33F552}"/>
              </a:ext>
            </a:extLst>
          </p:cNvPr>
          <p:cNvSpPr/>
          <p:nvPr/>
        </p:nvSpPr>
        <p:spPr>
          <a:xfrm>
            <a:off x="776475" y="5279486"/>
            <a:ext cx="5663762" cy="2538299"/>
          </a:xfrm>
          <a:prstGeom prst="roundRect">
            <a:avLst/>
          </a:prstGeom>
          <a:solidFill>
            <a:srgbClr val="FF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5" name="圓角矩形 14">
            <a:extLst>
              <a:ext uri="{FF2B5EF4-FFF2-40B4-BE49-F238E27FC236}">
                <a16:creationId xmlns:a16="http://schemas.microsoft.com/office/drawing/2014/main" id="{F7B8A312-463F-E1C4-CDCA-01EA85B8533F}"/>
              </a:ext>
            </a:extLst>
          </p:cNvPr>
          <p:cNvSpPr/>
          <p:nvPr/>
        </p:nvSpPr>
        <p:spPr>
          <a:xfrm>
            <a:off x="788669" y="2062455"/>
            <a:ext cx="5639374" cy="1320825"/>
          </a:xfrm>
          <a:prstGeom prst="roundRect">
            <a:avLst/>
          </a:prstGeom>
          <a:solidFill>
            <a:srgbClr val="FFE4CA">
              <a:alpha val="3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4" name="圓角矩形 13">
            <a:extLst>
              <a:ext uri="{FF2B5EF4-FFF2-40B4-BE49-F238E27FC236}">
                <a16:creationId xmlns:a16="http://schemas.microsoft.com/office/drawing/2014/main" id="{2642E44A-6902-3417-8522-3BA8144DCBCD}"/>
              </a:ext>
            </a:extLst>
          </p:cNvPr>
          <p:cNvSpPr/>
          <p:nvPr/>
        </p:nvSpPr>
        <p:spPr>
          <a:xfrm>
            <a:off x="1498899" y="367279"/>
            <a:ext cx="1301451" cy="46180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zh-TW" altLang="en-US" sz="1800" b="1" dirty="0">
                <a:solidFill>
                  <a:schemeClr val="bg1"/>
                </a:solidFill>
                <a:effectLst/>
                <a:latin typeface="PingFang SC" panose="020B0400000000000000" pitchFamily="34" charset="-122"/>
                <a:ea typeface="PingFang SC" panose="020B0400000000000000" pitchFamily="34" charset="-122"/>
              </a:rPr>
              <a:t>成長自述</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sp>
        <p:nvSpPr>
          <p:cNvPr id="18" name="文字方塊 17">
            <a:extLst>
              <a:ext uri="{FF2B5EF4-FFF2-40B4-BE49-F238E27FC236}">
                <a16:creationId xmlns:a16="http://schemas.microsoft.com/office/drawing/2014/main" id="{4CF471A5-7ACB-653D-D463-981CD1CA37F4}"/>
              </a:ext>
            </a:extLst>
          </p:cNvPr>
          <p:cNvSpPr txBox="1"/>
          <p:nvPr/>
        </p:nvSpPr>
        <p:spPr>
          <a:xfrm>
            <a:off x="3031981" y="9624885"/>
            <a:ext cx="886686" cy="261610"/>
          </a:xfrm>
          <a:prstGeom prst="rect">
            <a:avLst/>
          </a:prstGeom>
          <a:noFill/>
        </p:spPr>
        <p:txBody>
          <a:bodyPr wrap="square">
            <a:spAutoFit/>
          </a:bodyPr>
          <a:lstStyle/>
          <a:p>
            <a:r>
              <a:rPr kumimoji="1" lang="zh-TW" altLang="en-US" sz="1100" dirty="0">
                <a:solidFill>
                  <a:schemeClr val="bg1">
                    <a:lumMod val="50000"/>
                  </a:schemeClr>
                </a:solidFill>
                <a:latin typeface="PingFang SC" panose="020B0400000000000000" pitchFamily="34" charset="-122"/>
                <a:ea typeface="PingFang SC" panose="020B0400000000000000" pitchFamily="34" charset="-122"/>
              </a:rPr>
              <a:t>＠陳宛亭</a:t>
            </a:r>
            <a:endParaRPr lang="zh-TW" altLang="en-US" sz="1100" dirty="0">
              <a:solidFill>
                <a:schemeClr val="bg1">
                  <a:lumMod val="50000"/>
                </a:schemeClr>
              </a:solidFill>
            </a:endParaRPr>
          </a:p>
        </p:txBody>
      </p:sp>
      <p:sp>
        <p:nvSpPr>
          <p:cNvPr id="19" name="圓角矩形 18">
            <a:extLst>
              <a:ext uri="{FF2B5EF4-FFF2-40B4-BE49-F238E27FC236}">
                <a16:creationId xmlns:a16="http://schemas.microsoft.com/office/drawing/2014/main" id="{3DB994ED-A9C8-2BB2-7A6F-02A2535F319D}"/>
              </a:ext>
            </a:extLst>
          </p:cNvPr>
          <p:cNvSpPr/>
          <p:nvPr/>
        </p:nvSpPr>
        <p:spPr>
          <a:xfrm>
            <a:off x="506948" y="367279"/>
            <a:ext cx="818932" cy="461801"/>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kumimoji="1" lang="en-US" altLang="zh-TW" b="1" dirty="0">
                <a:solidFill>
                  <a:schemeClr val="bg1"/>
                </a:solidFill>
                <a:latin typeface="PingFang SC" panose="020B0400000000000000" pitchFamily="34" charset="-122"/>
                <a:ea typeface="PingFang SC" panose="020B0400000000000000" pitchFamily="34" charset="-122"/>
              </a:rPr>
              <a:t>01</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pic>
        <p:nvPicPr>
          <p:cNvPr id="2" name="內容版面配置區 4" descr="一張含有 人的臉孔, 人員, 微笑, 嘴唇 的圖片&#10;&#10;自動產生的描述">
            <a:extLst>
              <a:ext uri="{FF2B5EF4-FFF2-40B4-BE49-F238E27FC236}">
                <a16:creationId xmlns:a16="http://schemas.microsoft.com/office/drawing/2014/main" id="{2FC67A78-7C6D-760D-23AE-BD940D7F32CA}"/>
              </a:ext>
            </a:extLst>
          </p:cNvPr>
          <p:cNvPicPr>
            <a:picLocks noGrp="1" noChangeAspect="1"/>
          </p:cNvPicPr>
          <p:nvPr>
            <p:ph idx="1"/>
          </p:nvPr>
        </p:nvPicPr>
        <p:blipFill>
          <a:blip r:embed="rId3"/>
          <a:stretch>
            <a:fillRect/>
          </a:stretch>
        </p:blipFill>
        <p:spPr>
          <a:xfrm>
            <a:off x="5941586" y="82322"/>
            <a:ext cx="818932" cy="1031714"/>
          </a:xfrm>
        </p:spPr>
      </p:pic>
      <p:sp>
        <p:nvSpPr>
          <p:cNvPr id="26" name="文字方塊 25">
            <a:extLst>
              <a:ext uri="{FF2B5EF4-FFF2-40B4-BE49-F238E27FC236}">
                <a16:creationId xmlns:a16="http://schemas.microsoft.com/office/drawing/2014/main" id="{79F6BE10-7A80-97A9-50B5-808F6AB7F2C4}"/>
              </a:ext>
            </a:extLst>
          </p:cNvPr>
          <p:cNvSpPr txBox="1"/>
          <p:nvPr/>
        </p:nvSpPr>
        <p:spPr>
          <a:xfrm>
            <a:off x="242565" y="1265840"/>
            <a:ext cx="558200" cy="246221"/>
          </a:xfrm>
          <a:prstGeom prst="rect">
            <a:avLst/>
          </a:prstGeom>
          <a:noFill/>
        </p:spPr>
        <p:txBody>
          <a:bodyPr wrap="square" rtlCol="0">
            <a:spAutoFit/>
          </a:bodyPr>
          <a:lstStyle/>
          <a:p>
            <a:r>
              <a:rPr lang="zh-TW" altLang="en-US" sz="1000" dirty="0"/>
              <a:t>自述</a:t>
            </a:r>
          </a:p>
        </p:txBody>
      </p:sp>
      <p:sp>
        <p:nvSpPr>
          <p:cNvPr id="27" name="文字方塊 26">
            <a:extLst>
              <a:ext uri="{FF2B5EF4-FFF2-40B4-BE49-F238E27FC236}">
                <a16:creationId xmlns:a16="http://schemas.microsoft.com/office/drawing/2014/main" id="{CE84E000-D08D-75DF-12F6-94E239B44B53}"/>
              </a:ext>
            </a:extLst>
          </p:cNvPr>
          <p:cNvSpPr txBox="1"/>
          <p:nvPr/>
        </p:nvSpPr>
        <p:spPr>
          <a:xfrm>
            <a:off x="231117" y="2176089"/>
            <a:ext cx="558200" cy="246221"/>
          </a:xfrm>
          <a:prstGeom prst="rect">
            <a:avLst/>
          </a:prstGeom>
          <a:noFill/>
        </p:spPr>
        <p:txBody>
          <a:bodyPr wrap="square" rtlCol="0">
            <a:spAutoFit/>
          </a:bodyPr>
          <a:lstStyle/>
          <a:p>
            <a:r>
              <a:rPr lang="zh-TW" altLang="en-US" sz="1000" dirty="0"/>
              <a:t>大學</a:t>
            </a:r>
          </a:p>
        </p:txBody>
      </p:sp>
      <p:sp>
        <p:nvSpPr>
          <p:cNvPr id="28" name="文字方塊 27">
            <a:extLst>
              <a:ext uri="{FF2B5EF4-FFF2-40B4-BE49-F238E27FC236}">
                <a16:creationId xmlns:a16="http://schemas.microsoft.com/office/drawing/2014/main" id="{023CD38C-06C0-3EC6-7116-7023749BBEB6}"/>
              </a:ext>
            </a:extLst>
          </p:cNvPr>
          <p:cNvSpPr txBox="1"/>
          <p:nvPr/>
        </p:nvSpPr>
        <p:spPr>
          <a:xfrm>
            <a:off x="218275" y="3525001"/>
            <a:ext cx="558200" cy="246221"/>
          </a:xfrm>
          <a:prstGeom prst="rect">
            <a:avLst/>
          </a:prstGeom>
          <a:noFill/>
        </p:spPr>
        <p:txBody>
          <a:bodyPr wrap="square" rtlCol="0">
            <a:spAutoFit/>
          </a:bodyPr>
          <a:lstStyle/>
          <a:p>
            <a:r>
              <a:rPr lang="zh-TW" altLang="en-US" sz="1000" dirty="0"/>
              <a:t>職涯</a:t>
            </a:r>
          </a:p>
        </p:txBody>
      </p:sp>
      <p:sp>
        <p:nvSpPr>
          <p:cNvPr id="29" name="文字方塊 28">
            <a:extLst>
              <a:ext uri="{FF2B5EF4-FFF2-40B4-BE49-F238E27FC236}">
                <a16:creationId xmlns:a16="http://schemas.microsoft.com/office/drawing/2014/main" id="{932A7AED-A087-FAD7-50E1-575ED2034EAA}"/>
              </a:ext>
            </a:extLst>
          </p:cNvPr>
          <p:cNvSpPr txBox="1"/>
          <p:nvPr/>
        </p:nvSpPr>
        <p:spPr>
          <a:xfrm>
            <a:off x="304383" y="5208255"/>
            <a:ext cx="558200" cy="246221"/>
          </a:xfrm>
          <a:prstGeom prst="rect">
            <a:avLst/>
          </a:prstGeom>
          <a:noFill/>
        </p:spPr>
        <p:txBody>
          <a:bodyPr wrap="square" rtlCol="0">
            <a:spAutoFit/>
          </a:bodyPr>
          <a:lstStyle/>
          <a:p>
            <a:r>
              <a:rPr lang="zh-TW" altLang="en-US" sz="1000" dirty="0"/>
              <a:t>證照</a:t>
            </a:r>
          </a:p>
        </p:txBody>
      </p:sp>
      <p:sp>
        <p:nvSpPr>
          <p:cNvPr id="31" name="文字方塊 30">
            <a:extLst>
              <a:ext uri="{FF2B5EF4-FFF2-40B4-BE49-F238E27FC236}">
                <a16:creationId xmlns:a16="http://schemas.microsoft.com/office/drawing/2014/main" id="{EEB75459-239C-B502-5B7D-AC3689012E4E}"/>
              </a:ext>
            </a:extLst>
          </p:cNvPr>
          <p:cNvSpPr txBox="1"/>
          <p:nvPr/>
        </p:nvSpPr>
        <p:spPr>
          <a:xfrm>
            <a:off x="242565" y="7884575"/>
            <a:ext cx="558200" cy="246221"/>
          </a:xfrm>
          <a:prstGeom prst="rect">
            <a:avLst/>
          </a:prstGeom>
          <a:noFill/>
        </p:spPr>
        <p:txBody>
          <a:bodyPr wrap="square" rtlCol="0">
            <a:spAutoFit/>
          </a:bodyPr>
          <a:lstStyle/>
          <a:p>
            <a:r>
              <a:rPr lang="zh-TW" altLang="en-US" sz="1000" dirty="0"/>
              <a:t>結語</a:t>
            </a:r>
          </a:p>
        </p:txBody>
      </p:sp>
      <p:cxnSp>
        <p:nvCxnSpPr>
          <p:cNvPr id="37" name="直線接點 36">
            <a:extLst>
              <a:ext uri="{FF2B5EF4-FFF2-40B4-BE49-F238E27FC236}">
                <a16:creationId xmlns:a16="http://schemas.microsoft.com/office/drawing/2014/main" id="{05FBC7F7-24AB-9967-157A-5BE87B5DF5D1}"/>
              </a:ext>
            </a:extLst>
          </p:cNvPr>
          <p:cNvCxnSpPr>
            <a:cxnSpLocks/>
          </p:cNvCxnSpPr>
          <p:nvPr/>
        </p:nvCxnSpPr>
        <p:spPr>
          <a:xfrm>
            <a:off x="227848" y="1317265"/>
            <a:ext cx="0" cy="827794"/>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6E388E84-AF12-A35D-692B-A4D16D5765F8}"/>
              </a:ext>
            </a:extLst>
          </p:cNvPr>
          <p:cNvCxnSpPr>
            <a:cxnSpLocks/>
          </p:cNvCxnSpPr>
          <p:nvPr/>
        </p:nvCxnSpPr>
        <p:spPr>
          <a:xfrm>
            <a:off x="229634" y="2145059"/>
            <a:ext cx="0" cy="1361287"/>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BB5C3A9A-C7E4-5A3C-F88B-1D89A7AD283A}"/>
              </a:ext>
            </a:extLst>
          </p:cNvPr>
          <p:cNvCxnSpPr>
            <a:cxnSpLocks/>
          </p:cNvCxnSpPr>
          <p:nvPr/>
        </p:nvCxnSpPr>
        <p:spPr>
          <a:xfrm flipH="1">
            <a:off x="216775" y="3517031"/>
            <a:ext cx="5222" cy="1763113"/>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F86EEA44-877F-7AB5-D486-251BC376A5E0}"/>
              </a:ext>
            </a:extLst>
          </p:cNvPr>
          <p:cNvCxnSpPr>
            <a:cxnSpLocks/>
            <a:endCxn id="31" idx="1"/>
          </p:cNvCxnSpPr>
          <p:nvPr/>
        </p:nvCxnSpPr>
        <p:spPr>
          <a:xfrm>
            <a:off x="216775" y="5280144"/>
            <a:ext cx="25790" cy="2727542"/>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2" name="直線接點 41">
            <a:extLst>
              <a:ext uri="{FF2B5EF4-FFF2-40B4-BE49-F238E27FC236}">
                <a16:creationId xmlns:a16="http://schemas.microsoft.com/office/drawing/2014/main" id="{2D04DF81-5EA6-E645-6A13-6A475D6F5F62}"/>
              </a:ext>
            </a:extLst>
          </p:cNvPr>
          <p:cNvCxnSpPr>
            <a:cxnSpLocks/>
            <a:stCxn id="31" idx="1"/>
          </p:cNvCxnSpPr>
          <p:nvPr/>
        </p:nvCxnSpPr>
        <p:spPr>
          <a:xfrm>
            <a:off x="242565" y="8007686"/>
            <a:ext cx="0" cy="1292467"/>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 name="內容版面配置區 2">
            <a:extLst>
              <a:ext uri="{FF2B5EF4-FFF2-40B4-BE49-F238E27FC236}">
                <a16:creationId xmlns:a16="http://schemas.microsoft.com/office/drawing/2014/main" id="{4170C2C1-2917-E9E7-8376-6F64C468063A}"/>
              </a:ext>
            </a:extLst>
          </p:cNvPr>
          <p:cNvSpPr txBox="1">
            <a:spLocks/>
          </p:cNvSpPr>
          <p:nvPr/>
        </p:nvSpPr>
        <p:spPr>
          <a:xfrm>
            <a:off x="948690" y="1185333"/>
            <a:ext cx="5479353" cy="8439552"/>
          </a:xfrm>
          <a:prstGeom prst="rect">
            <a:avLst/>
          </a:prstGeom>
          <a:ln>
            <a:noFill/>
          </a:ln>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zh-TW" altLang="en-US" sz="1400" kern="100" dirty="0">
                <a:effectLst/>
                <a:ea typeface="Arial Unicode MS"/>
                <a:cs typeface="Arial Unicode MS"/>
              </a:rPr>
              <a:t>您好，我的名字</a:t>
            </a:r>
            <a:r>
              <a:rPr lang="zh-TW" altLang="zh-TW" sz="1400" kern="100" dirty="0">
                <a:effectLst/>
                <a:ea typeface="Arial Unicode MS"/>
                <a:cs typeface="Arial Unicode MS"/>
              </a:rPr>
              <a:t>是</a:t>
            </a:r>
            <a:r>
              <a:rPr lang="zh-TW" altLang="en-US" sz="1400" kern="100" dirty="0">
                <a:effectLst/>
                <a:ea typeface="Arial Unicode MS"/>
                <a:cs typeface="Arial Unicode MS"/>
              </a:rPr>
              <a:t>陳</a:t>
            </a:r>
            <a:r>
              <a:rPr lang="zh-TW" altLang="zh-TW" sz="1400" kern="100" dirty="0">
                <a:effectLst/>
                <a:ea typeface="Arial Unicode MS"/>
                <a:cs typeface="Arial Unicode MS"/>
              </a:rPr>
              <a:t>宛亭，畢業於</a:t>
            </a:r>
            <a:r>
              <a:rPr lang="zh-TW" altLang="zh-TW" sz="1400" b="1" kern="100" dirty="0">
                <a:effectLst/>
                <a:ea typeface="Arial Unicode MS"/>
                <a:cs typeface="Arial Unicode MS"/>
              </a:rPr>
              <a:t>淡江大學統計系</a:t>
            </a:r>
            <a:r>
              <a:rPr lang="zh-TW" altLang="zh-TW" sz="1400" kern="100" dirty="0">
                <a:effectLst/>
                <a:ea typeface="Arial Unicode MS"/>
                <a:cs typeface="Arial Unicode MS"/>
              </a:rPr>
              <a:t>，</a:t>
            </a:r>
            <a:endParaRPr lang="en-US" altLang="zh-TW" sz="1400" kern="100" dirty="0">
              <a:ea typeface="Arial Unicode MS"/>
              <a:cs typeface="Arial Unicode MS"/>
            </a:endParaRPr>
          </a:p>
          <a:p>
            <a:pPr marL="0" indent="0">
              <a:lnSpc>
                <a:spcPct val="150000"/>
              </a:lnSpc>
              <a:buNone/>
            </a:pPr>
            <a:r>
              <a:rPr lang="en-US" altLang="zh-TW" sz="1400" kern="100" dirty="0">
                <a:effectLst/>
                <a:ea typeface="Arial Unicode MS"/>
                <a:cs typeface="Arial Unicode MS"/>
              </a:rPr>
              <a:t>     </a:t>
            </a:r>
            <a:r>
              <a:rPr lang="zh-TW" altLang="zh-TW" sz="1400" kern="100" dirty="0">
                <a:effectLst/>
                <a:ea typeface="Arial Unicode MS"/>
                <a:cs typeface="Arial Unicode MS"/>
              </a:rPr>
              <a:t>工作年資</a:t>
            </a:r>
            <a:r>
              <a:rPr lang="en-US" altLang="zh-TW" sz="1400" kern="100" dirty="0">
                <a:effectLst/>
                <a:ea typeface="Arial Unicode MS"/>
                <a:cs typeface="Arial Unicode MS"/>
              </a:rPr>
              <a:t>19</a:t>
            </a:r>
            <a:r>
              <a:rPr lang="zh-TW" altLang="zh-TW" sz="1400" kern="100" dirty="0">
                <a:effectLst/>
                <a:ea typeface="Arial Unicode MS"/>
                <a:cs typeface="Arial Unicode MS"/>
              </a:rPr>
              <a:t>年。</a:t>
            </a:r>
            <a:r>
              <a:rPr lang="zh-TW" altLang="en-US" sz="1400" kern="100" dirty="0">
                <a:ea typeface="Arial Unicode MS"/>
                <a:cs typeface="Arial Unicode MS"/>
              </a:rPr>
              <a:t>最喜歡的休閒活動是閱讀</a:t>
            </a:r>
            <a:r>
              <a:rPr lang="zh-TW" altLang="zh-TW" sz="1400" kern="100" dirty="0">
                <a:effectLst/>
                <a:latin typeface="Times New Roman" panose="02020603050405020304" pitchFamily="18" charset="0"/>
                <a:ea typeface="Arial Unicode MS"/>
                <a:cs typeface="Arial Unicode MS"/>
              </a:rPr>
              <a:t>、</a:t>
            </a:r>
            <a:r>
              <a:rPr lang="zh-TW" altLang="en-US" sz="1400" kern="100" dirty="0">
                <a:ea typeface="Arial Unicode MS"/>
                <a:cs typeface="Arial Unicode MS"/>
              </a:rPr>
              <a:t>旅行及瑜珈</a:t>
            </a:r>
            <a:r>
              <a:rPr lang="zh-TW" altLang="zh-TW" sz="1400" kern="100" dirty="0">
                <a:effectLst/>
                <a:ea typeface="Arial Unicode MS"/>
                <a:cs typeface="Arial Unicode MS"/>
              </a:rPr>
              <a:t>。</a:t>
            </a:r>
            <a:endParaRPr lang="en-US" altLang="zh-TW" sz="1400" kern="100" dirty="0">
              <a:ea typeface="Arial Unicode MS"/>
              <a:cs typeface="Arial Unicode MS"/>
            </a:endParaRPr>
          </a:p>
          <a:p>
            <a:pPr>
              <a:lnSpc>
                <a:spcPct val="150000"/>
              </a:lnSpc>
            </a:pPr>
            <a:r>
              <a:rPr lang="zh-TW" altLang="zh-TW" sz="1400" kern="100" dirty="0">
                <a:effectLst/>
                <a:latin typeface="Times New Roman" panose="02020603050405020304" pitchFamily="18" charset="0"/>
                <a:ea typeface="Arial Unicode MS"/>
                <a:cs typeface="Arial Unicode MS"/>
              </a:rPr>
              <a:t>大學求學過程中，專業科目為數理統計、迴歸分析、實驗設計、可靠度分析、品質管理、抽樣調查、線性代數、作業研究、</a:t>
            </a:r>
            <a:r>
              <a:rPr lang="en-US" altLang="zh-TW" sz="1400" kern="100" dirty="0">
                <a:effectLst/>
                <a:latin typeface="Times New Roman" panose="02020603050405020304" pitchFamily="18" charset="0"/>
                <a:ea typeface="Arial Unicode MS"/>
                <a:cs typeface="Arial Unicode MS"/>
              </a:rPr>
              <a:t>SAS</a:t>
            </a:r>
            <a:r>
              <a:rPr lang="zh-TW" altLang="zh-TW" sz="1400" kern="100" dirty="0">
                <a:effectLst/>
                <a:latin typeface="Times New Roman" panose="02020603050405020304" pitchFamily="18" charset="0"/>
                <a:ea typeface="Arial Unicode MS"/>
                <a:cs typeface="Arial Unicode MS"/>
              </a:rPr>
              <a:t>；大一時曾利用暑假期間到加拿大的語言學校</a:t>
            </a:r>
            <a:r>
              <a:rPr lang="en-US" altLang="zh-TW" sz="1400" kern="100" dirty="0">
                <a:effectLst/>
                <a:latin typeface="Times New Roman" panose="02020603050405020304" pitchFamily="18" charset="0"/>
                <a:ea typeface="Arial Unicode MS"/>
                <a:cs typeface="Arial Unicode MS"/>
              </a:rPr>
              <a:t>(ESL)</a:t>
            </a:r>
            <a:r>
              <a:rPr lang="zh-TW" altLang="zh-TW" sz="1400" kern="100" dirty="0">
                <a:effectLst/>
                <a:latin typeface="Times New Roman" panose="02020603050405020304" pitchFamily="18" charset="0"/>
                <a:ea typeface="Arial Unicode MS"/>
                <a:cs typeface="Arial Unicode MS"/>
              </a:rPr>
              <a:t>學習英文，讓我獲益良多。</a:t>
            </a:r>
            <a:r>
              <a:rPr lang="zh-TW" altLang="en-US" sz="1400" kern="100" dirty="0">
                <a:effectLst/>
                <a:latin typeface="Times New Roman" panose="02020603050405020304" pitchFamily="18" charset="0"/>
                <a:ea typeface="Arial Unicode MS"/>
                <a:cs typeface="Arial Unicode MS"/>
              </a:rPr>
              <a:t> </a:t>
            </a:r>
            <a:r>
              <a:rPr lang="en-US" altLang="zh-TW" sz="1400" kern="100" dirty="0">
                <a:effectLst/>
                <a:latin typeface="Times New Roman" panose="02020603050405020304" pitchFamily="18" charset="0"/>
                <a:ea typeface="Arial Unicode MS"/>
                <a:cs typeface="Arial Unicode MS"/>
              </a:rPr>
              <a:t>  </a:t>
            </a:r>
            <a:endParaRPr kumimoji="1" lang="en-US" altLang="zh-TW" sz="1400" kern="100" dirty="0">
              <a:latin typeface="Arial Unicode MS"/>
              <a:ea typeface="PingFang SC Light" panose="020B0300000000000000" pitchFamily="34" charset="-122"/>
            </a:endParaRPr>
          </a:p>
          <a:p>
            <a:pPr>
              <a:lnSpc>
                <a:spcPct val="150000"/>
              </a:lnSpc>
            </a:pPr>
            <a:r>
              <a:rPr lang="zh-TW" altLang="en-US" sz="1400" kern="100" dirty="0"/>
              <a:t>宛亭目前任職於</a:t>
            </a:r>
            <a:r>
              <a:rPr lang="zh-TW" altLang="en-US" sz="1400" b="1" kern="100" dirty="0"/>
              <a:t>聯發科技製造部－擔任封裝工程師</a:t>
            </a:r>
            <a:r>
              <a:rPr lang="zh-TW" altLang="en-US" sz="1400" kern="100" dirty="0"/>
              <a:t>一職，暑期曾輔導小學生</a:t>
            </a:r>
            <a:r>
              <a:rPr lang="en-US" altLang="zh-TW" sz="1400" b="1" kern="100" dirty="0"/>
              <a:t>Scratch</a:t>
            </a:r>
            <a:r>
              <a:rPr lang="zh-TW" altLang="en-US" sz="1400" b="1" kern="100" dirty="0"/>
              <a:t>程式教學</a:t>
            </a:r>
            <a:r>
              <a:rPr lang="zh-TW" altLang="zh-TW" sz="1400" kern="100" dirty="0">
                <a:effectLst/>
                <a:ea typeface="Arial Unicode MS"/>
                <a:cs typeface="Arial Unicode MS"/>
              </a:rPr>
              <a:t>。</a:t>
            </a:r>
            <a:r>
              <a:rPr lang="zh-TW" altLang="en-US" sz="1400" kern="100" dirty="0">
                <a:effectLst/>
                <a:ea typeface="Arial Unicode MS"/>
                <a:cs typeface="Arial Unicode MS"/>
              </a:rPr>
              <a:t> 職涯前</a:t>
            </a:r>
            <a:r>
              <a:rPr lang="en-US" altLang="zh-TW" sz="1400" kern="100" dirty="0">
                <a:effectLst/>
                <a:ea typeface="Arial Unicode MS"/>
                <a:cs typeface="Arial Unicode MS"/>
              </a:rPr>
              <a:t>10</a:t>
            </a:r>
            <a:r>
              <a:rPr lang="zh-TW" altLang="en-US" sz="1400" kern="100" dirty="0">
                <a:effectLst/>
                <a:ea typeface="Arial Unicode MS"/>
                <a:cs typeface="Arial Unicode MS"/>
              </a:rPr>
              <a:t>年擔任</a:t>
            </a:r>
            <a:r>
              <a:rPr lang="zh-TW" altLang="en-US" sz="1400" b="1" kern="100" dirty="0">
                <a:effectLst/>
                <a:ea typeface="Arial Unicode MS"/>
                <a:cs typeface="Arial Unicode MS"/>
              </a:rPr>
              <a:t>晶圓廠業務</a:t>
            </a:r>
            <a:r>
              <a:rPr lang="zh-TW" altLang="en-US" sz="1400" kern="100" dirty="0">
                <a:effectLst/>
                <a:ea typeface="Arial Unicode MS"/>
                <a:cs typeface="Arial Unicode MS"/>
              </a:rPr>
              <a:t>，之後轉職至聯發科技</a:t>
            </a:r>
            <a:r>
              <a:rPr lang="zh-TW" altLang="zh-TW" sz="1400" kern="100" dirty="0">
                <a:effectLst/>
                <a:ea typeface="Arial Unicode MS"/>
                <a:cs typeface="Arial Unicode MS"/>
              </a:rPr>
              <a:t>。</a:t>
            </a:r>
            <a:r>
              <a:rPr lang="zh-TW" altLang="en-US" sz="1400" kern="100" dirty="0">
                <a:effectLst/>
                <a:ea typeface="Arial Unicode MS"/>
                <a:cs typeface="Arial Unicode MS"/>
              </a:rPr>
              <a:t>轉職前</a:t>
            </a:r>
            <a:r>
              <a:rPr lang="zh-TW" altLang="en-US" sz="1400" kern="100" dirty="0">
                <a:ea typeface="Arial Unicode MS"/>
                <a:cs typeface="Arial Unicode MS"/>
              </a:rPr>
              <a:t>，宛亭曾</a:t>
            </a:r>
            <a:r>
              <a:rPr lang="zh-TW" altLang="zh-TW" sz="1400" kern="100" dirty="0">
                <a:effectLst/>
                <a:ea typeface="Arial Unicode MS"/>
                <a:cs typeface="Arial Unicode MS"/>
              </a:rPr>
              <a:t>至菲律賓語言學校</a:t>
            </a:r>
            <a:r>
              <a:rPr lang="en-US" altLang="zh-TW" sz="1400" kern="100" dirty="0">
                <a:effectLst/>
                <a:ea typeface="Arial Unicode MS"/>
                <a:cs typeface="Arial Unicode MS"/>
              </a:rPr>
              <a:t>(ESL)</a:t>
            </a:r>
            <a:r>
              <a:rPr lang="zh-TW" altLang="zh-TW" sz="1400" kern="100" dirty="0">
                <a:effectLst/>
                <a:ea typeface="Arial Unicode MS"/>
                <a:cs typeface="Arial Unicode MS"/>
              </a:rPr>
              <a:t>進修英文</a:t>
            </a:r>
            <a:r>
              <a:rPr lang="zh-TW" altLang="en-US" sz="1400" kern="100" dirty="0">
                <a:effectLst/>
                <a:ea typeface="Arial Unicode MS"/>
                <a:cs typeface="Arial Unicode MS"/>
              </a:rPr>
              <a:t>，</a:t>
            </a:r>
            <a:r>
              <a:rPr lang="zh-TW" altLang="zh-TW" sz="1400" kern="100" dirty="0">
                <a:effectLst/>
                <a:ea typeface="Arial Unicode MS"/>
                <a:cs typeface="Arial Unicode MS"/>
              </a:rPr>
              <a:t>求學過程結交韓國、日本、越南、菲律賓朋友，深刻了解東南亞經濟市場起飛，也學習到各國不同文化，開拓了世界觀。</a:t>
            </a:r>
            <a:r>
              <a:rPr lang="en-US" altLang="zh-TW" sz="1400" kern="100" dirty="0">
                <a:effectLst/>
                <a:ea typeface="Arial Unicode MS"/>
                <a:cs typeface="Arial Unicode MS"/>
              </a:rPr>
              <a:t> </a:t>
            </a:r>
          </a:p>
          <a:p>
            <a:pPr marL="0" indent="0">
              <a:lnSpc>
                <a:spcPct val="150000"/>
              </a:lnSpc>
              <a:buNone/>
            </a:pPr>
            <a:endParaRPr lang="en-US" altLang="zh-TW" sz="500" kern="100" dirty="0">
              <a:effectLst/>
              <a:latin typeface="Arial Unicode MS"/>
              <a:ea typeface="Arial Unicode MS"/>
              <a:cs typeface="Arial Unicode MS"/>
            </a:endParaRPr>
          </a:p>
          <a:p>
            <a:pPr>
              <a:lnSpc>
                <a:spcPct val="150000"/>
              </a:lnSpc>
            </a:pPr>
            <a:r>
              <a:rPr lang="en-US" altLang="zh-TW" sz="1400" kern="100" dirty="0" err="1">
                <a:effectLst/>
                <a:latin typeface="Arial Unicode MS"/>
                <a:ea typeface="Arial Unicode MS"/>
                <a:cs typeface="Arial Unicode MS"/>
              </a:rPr>
              <a:t>我的個性積極、随和；工作態度認真負責</a:t>
            </a:r>
            <a:r>
              <a:rPr lang="en-US" altLang="zh-TW" sz="1400" kern="100" dirty="0">
                <a:effectLst/>
                <a:latin typeface="Arial Unicode MS"/>
                <a:ea typeface="Arial Unicode MS"/>
                <a:cs typeface="Arial Unicode MS"/>
              </a:rPr>
              <a:t>，</a:t>
            </a:r>
            <a:r>
              <a:rPr lang="zh-TW" altLang="en-US" sz="1400" kern="100" dirty="0">
                <a:effectLst/>
                <a:latin typeface="Arial Unicode MS"/>
                <a:ea typeface="Arial Unicode MS"/>
                <a:cs typeface="Arial Unicode MS"/>
              </a:rPr>
              <a:t>有著積極好學的心</a:t>
            </a:r>
            <a:r>
              <a:rPr lang="zh-TW" altLang="zh-TW" sz="1400" kern="100" dirty="0">
                <a:effectLst/>
                <a:latin typeface="Times New Roman" panose="02020603050405020304" pitchFamily="18" charset="0"/>
                <a:ea typeface="Arial Unicode MS"/>
                <a:cs typeface="Arial Unicode MS"/>
              </a:rPr>
              <a:t>。 </a:t>
            </a:r>
            <a:r>
              <a:rPr lang="zh-TW" altLang="en-US" sz="1400" kern="100" dirty="0">
                <a:latin typeface="Times New Roman" panose="02020603050405020304" pitchFamily="18" charset="0"/>
                <a:ea typeface="Arial Unicode MS"/>
                <a:cs typeface="Arial Unicode MS"/>
              </a:rPr>
              <a:t>   </a:t>
            </a:r>
            <a:r>
              <a:rPr lang="zh-TW" altLang="en-US" sz="1400" kern="100" dirty="0">
                <a:effectLst/>
                <a:latin typeface="Arial Unicode MS"/>
                <a:ea typeface="Arial Unicode MS"/>
                <a:cs typeface="Arial Unicode MS"/>
              </a:rPr>
              <a:t>畢業後， 宛亭不停學習新知，無論與工作相關或興趣，都希望能盡力做到最好，也考取了</a:t>
            </a:r>
            <a:r>
              <a:rPr lang="zh-TW" altLang="en-US" sz="1400" b="1" kern="100" dirty="0">
                <a:effectLst/>
                <a:latin typeface="Arial Unicode MS"/>
                <a:ea typeface="Arial Unicode MS"/>
                <a:cs typeface="Arial Unicode MS"/>
              </a:rPr>
              <a:t>三張國家證照</a:t>
            </a:r>
            <a:r>
              <a:rPr lang="zh-TW" altLang="zh-TW" sz="1400" kern="100" dirty="0">
                <a:effectLst/>
                <a:latin typeface="Times New Roman" panose="02020603050405020304" pitchFamily="18" charset="0"/>
                <a:ea typeface="Arial Unicode MS"/>
                <a:cs typeface="Arial Unicode MS"/>
              </a:rPr>
              <a:t>。</a:t>
            </a:r>
            <a:r>
              <a:rPr lang="zh-TW" altLang="en-US" sz="1400" kern="100" dirty="0">
                <a:effectLst/>
                <a:latin typeface="Times New Roman" panose="02020603050405020304" pitchFamily="18" charset="0"/>
                <a:ea typeface="Arial Unicode MS"/>
                <a:cs typeface="Arial Unicode MS"/>
              </a:rPr>
              <a:t>宛亭認為</a:t>
            </a:r>
            <a:r>
              <a:rPr lang="en-US" altLang="zh-TW" sz="1400" b="1" kern="100" dirty="0" err="1">
                <a:effectLst/>
                <a:latin typeface="Arial Unicode MS"/>
                <a:ea typeface="Arial Unicode MS"/>
                <a:cs typeface="Arial Unicode MS"/>
              </a:rPr>
              <a:t>責任</a:t>
            </a:r>
            <a:r>
              <a:rPr lang="zh-TW" altLang="en-US" sz="1400" b="1" kern="100" dirty="0">
                <a:latin typeface="Arial Unicode MS"/>
                <a:ea typeface="Arial Unicode MS"/>
                <a:cs typeface="Arial Unicode MS"/>
              </a:rPr>
              <a:t>感</a:t>
            </a:r>
            <a:r>
              <a:rPr lang="zh-TW" altLang="en-US" sz="1400" kern="100" dirty="0">
                <a:latin typeface="Arial Unicode MS"/>
                <a:ea typeface="Arial Unicode MS"/>
                <a:cs typeface="Arial Unicode MS"/>
              </a:rPr>
              <a:t>是</a:t>
            </a:r>
            <a:r>
              <a:rPr lang="en-US" altLang="zh-TW" sz="1400" kern="100" dirty="0" err="1">
                <a:effectLst/>
                <a:latin typeface="Arial Unicode MS"/>
                <a:ea typeface="Arial Unicode MS"/>
                <a:cs typeface="Arial Unicode MS"/>
              </a:rPr>
              <a:t>促使</a:t>
            </a:r>
            <a:r>
              <a:rPr lang="zh-TW" altLang="en-US" sz="1400" kern="100" dirty="0">
                <a:effectLst/>
                <a:latin typeface="Arial Unicode MS"/>
                <a:ea typeface="Arial Unicode MS"/>
                <a:cs typeface="Arial Unicode MS"/>
              </a:rPr>
              <a:t>自己</a:t>
            </a:r>
            <a:r>
              <a:rPr lang="en-US" altLang="zh-TW" sz="1400" kern="100" dirty="0" err="1">
                <a:effectLst/>
                <a:latin typeface="Arial Unicode MS"/>
                <a:ea typeface="Arial Unicode MS"/>
                <a:cs typeface="Arial Unicode MS"/>
              </a:rPr>
              <a:t>不斷成長學習</a:t>
            </a:r>
            <a:r>
              <a:rPr lang="zh-TW" altLang="en-US" sz="1400" kern="100" dirty="0">
                <a:effectLst/>
                <a:latin typeface="Arial Unicode MS"/>
                <a:ea typeface="Arial Unicode MS"/>
                <a:cs typeface="Arial Unicode MS"/>
              </a:rPr>
              <a:t>的最大動力，因為工作上希望能做得更好，會自我進修加強，</a:t>
            </a:r>
            <a:r>
              <a:rPr lang="en-US" altLang="zh-TW" sz="1400" kern="100" dirty="0" err="1">
                <a:effectLst/>
                <a:latin typeface="Arial Unicode MS"/>
                <a:ea typeface="Arial Unicode MS"/>
                <a:cs typeface="Arial Unicode MS"/>
              </a:rPr>
              <a:t>由於客戶中有日本人</a:t>
            </a:r>
            <a:r>
              <a:rPr lang="en-US" altLang="zh-TW" sz="1400" kern="100" dirty="0">
                <a:effectLst/>
                <a:latin typeface="Arial Unicode MS"/>
                <a:ea typeface="Arial Unicode MS"/>
                <a:cs typeface="Arial Unicode MS"/>
              </a:rPr>
              <a:t>，</a:t>
            </a:r>
            <a:r>
              <a:rPr lang="zh-TW" altLang="en-US" sz="1400" kern="100" dirty="0">
                <a:effectLst/>
                <a:latin typeface="Arial Unicode MS"/>
                <a:ea typeface="Arial Unicode MS"/>
                <a:cs typeface="Arial Unicode MS"/>
              </a:rPr>
              <a:t>也</a:t>
            </a:r>
            <a:r>
              <a:rPr lang="en-US" altLang="zh-TW" sz="1400" kern="100" dirty="0" err="1">
                <a:effectLst/>
                <a:latin typeface="Arial Unicode MS"/>
                <a:ea typeface="Arial Unicode MS"/>
                <a:cs typeface="Arial Unicode MS"/>
              </a:rPr>
              <a:t>因此開始學習日文</a:t>
            </a:r>
            <a:r>
              <a:rPr lang="en-US" altLang="zh-TW" sz="1400" kern="100" dirty="0">
                <a:effectLst/>
                <a:latin typeface="Arial Unicode MS"/>
                <a:ea typeface="Arial Unicode MS"/>
                <a:cs typeface="Arial Unicode MS"/>
              </a:rPr>
              <a:t>，</a:t>
            </a:r>
            <a:r>
              <a:rPr lang="zh-TW" altLang="en-US" sz="1400" kern="100" dirty="0">
                <a:effectLst/>
                <a:latin typeface="Arial Unicode MS"/>
                <a:ea typeface="Arial Unicode MS"/>
                <a:cs typeface="Arial Unicode MS"/>
              </a:rPr>
              <a:t>並</a:t>
            </a:r>
            <a:r>
              <a:rPr lang="en-US" altLang="zh-TW" sz="1400" b="1" kern="100" dirty="0">
                <a:effectLst/>
                <a:latin typeface="Arial Unicode MS"/>
                <a:ea typeface="Arial Unicode MS"/>
                <a:cs typeface="Arial Unicode MS"/>
              </a:rPr>
              <a:t>考取N5證照</a:t>
            </a:r>
            <a:r>
              <a:rPr lang="zh-TW" altLang="zh-TW" sz="1600" b="1" kern="100" dirty="0">
                <a:effectLst/>
                <a:latin typeface="Times New Roman" panose="02020603050405020304" pitchFamily="18" charset="0"/>
                <a:ea typeface="Arial Unicode MS"/>
                <a:cs typeface="Arial Unicode MS"/>
              </a:rPr>
              <a:t> </a:t>
            </a:r>
            <a:r>
              <a:rPr lang="zh-TW" altLang="zh-TW" sz="1600" kern="100" dirty="0">
                <a:effectLst/>
                <a:latin typeface="Times New Roman" panose="02020603050405020304" pitchFamily="18" charset="0"/>
                <a:ea typeface="Arial Unicode MS"/>
                <a:cs typeface="Arial Unicode MS"/>
              </a:rPr>
              <a:t>。</a:t>
            </a:r>
            <a:r>
              <a:rPr lang="zh-TW" altLang="en-US" sz="1400" kern="100" dirty="0">
                <a:latin typeface="Times New Roman" panose="02020603050405020304" pitchFamily="18" charset="0"/>
                <a:ea typeface="新細明體" panose="02020500000000000000" pitchFamily="18" charset="-120"/>
              </a:rPr>
              <a:t>宛亭喜歡嘗試各種領域並全力以赴</a:t>
            </a:r>
            <a:r>
              <a:rPr lang="zh-TW" altLang="en-US" sz="1400" kern="100" dirty="0">
                <a:effectLst/>
                <a:latin typeface="Times New Roman" panose="02020603050405020304" pitchFamily="18" charset="0"/>
                <a:ea typeface="新細明體" panose="02020500000000000000" pitchFamily="18" charset="-120"/>
              </a:rPr>
              <a:t>，目前已取</a:t>
            </a:r>
            <a:r>
              <a:rPr lang="zh-TW" altLang="en-US" sz="1400" kern="100" dirty="0">
                <a:latin typeface="Times New Roman" panose="02020603050405020304" pitchFamily="18" charset="0"/>
                <a:ea typeface="新細明體" panose="02020500000000000000" pitchFamily="18" charset="-120"/>
              </a:rPr>
              <a:t>得</a:t>
            </a:r>
            <a:r>
              <a:rPr lang="zh-TW" altLang="en-US" sz="1400" b="1" kern="100" dirty="0">
                <a:effectLst/>
                <a:latin typeface="Times New Roman" panose="02020603050405020304" pitchFamily="18" charset="0"/>
                <a:ea typeface="新細明體" panose="02020500000000000000" pitchFamily="18" charset="-120"/>
              </a:rPr>
              <a:t>國家乙級美容證照</a:t>
            </a:r>
            <a:r>
              <a:rPr lang="zh-TW" altLang="en-US" sz="1400" b="1" kern="100" dirty="0">
                <a:effectLst/>
                <a:latin typeface="Poiret One" panose="00000500000000000000" pitchFamily="2" charset="0"/>
                <a:ea typeface="新細明體" panose="02020500000000000000" pitchFamily="18" charset="-120"/>
              </a:rPr>
              <a:t>、國家丙級烘焙證照</a:t>
            </a:r>
            <a:r>
              <a:rPr lang="zh-TW" altLang="zh-TW" sz="1400" b="1" kern="100" dirty="0">
                <a:effectLst/>
                <a:latin typeface="Times New Roman" panose="02020603050405020304" pitchFamily="18" charset="0"/>
                <a:ea typeface="Arial Unicode MS"/>
                <a:cs typeface="Arial Unicode MS"/>
              </a:rPr>
              <a:t>。</a:t>
            </a:r>
            <a:endParaRPr lang="en-US" altLang="zh-TW" sz="1400" kern="100" dirty="0">
              <a:latin typeface="Times New Roman" panose="02020603050405020304" pitchFamily="18" charset="0"/>
              <a:ea typeface="新細明體" panose="02020500000000000000" pitchFamily="18" charset="-120"/>
            </a:endParaRPr>
          </a:p>
          <a:p>
            <a:pPr>
              <a:lnSpc>
                <a:spcPct val="150000"/>
              </a:lnSpc>
              <a:spcBef>
                <a:spcPts val="1850"/>
              </a:spcBef>
            </a:pPr>
            <a:r>
              <a:rPr lang="zh-TW" altLang="en-US" sz="1400" kern="100" dirty="0">
                <a:latin typeface="Times New Roman" panose="02020603050405020304" pitchFamily="18" charset="0"/>
                <a:ea typeface="新細明體" panose="02020500000000000000" pitchFamily="18" charset="-120"/>
              </a:rPr>
              <a:t>外婆家經營</a:t>
            </a:r>
            <a:r>
              <a:rPr lang="zh-TW" altLang="en-US" sz="1400" kern="100" dirty="0">
                <a:effectLst/>
                <a:latin typeface="Times New Roman" panose="02020603050405020304" pitchFamily="18" charset="0"/>
                <a:ea typeface="新細明體" panose="02020500000000000000" pitchFamily="18" charset="-120"/>
              </a:rPr>
              <a:t>新竹西市汕頭館，因此宛亭從小個性熱情助人</a:t>
            </a:r>
            <a:r>
              <a:rPr lang="zh-TW" altLang="zh-TW" sz="1400" kern="100" dirty="0">
                <a:effectLst/>
                <a:ea typeface="Arial Unicode MS"/>
                <a:cs typeface="Arial Unicode MS"/>
              </a:rPr>
              <a:t>、</a:t>
            </a:r>
            <a:r>
              <a:rPr lang="zh-TW" altLang="en-US" sz="1400" kern="100" dirty="0">
                <a:effectLst/>
                <a:latin typeface="Times New Roman" panose="02020603050405020304" pitchFamily="18" charset="0"/>
                <a:ea typeface="新細明體" panose="02020500000000000000" pitchFamily="18" charset="-120"/>
              </a:rPr>
              <a:t>正向積極</a:t>
            </a:r>
            <a:r>
              <a:rPr lang="zh-TW" altLang="zh-TW" sz="1400" kern="100" dirty="0">
                <a:effectLst/>
                <a:ea typeface="Arial Unicode MS"/>
                <a:cs typeface="Arial Unicode MS"/>
              </a:rPr>
              <a:t>、</a:t>
            </a:r>
            <a:r>
              <a:rPr lang="zh-TW" altLang="en-US" sz="1400" kern="100" dirty="0">
                <a:effectLst/>
                <a:latin typeface="Times New Roman" panose="02020603050405020304" pitchFamily="18" charset="0"/>
                <a:ea typeface="新細明體" panose="02020500000000000000" pitchFamily="18" charset="-120"/>
              </a:rPr>
              <a:t>主動自發，除了擔任志工</a:t>
            </a:r>
            <a:r>
              <a:rPr lang="en-US" altLang="zh-TW" sz="1400" kern="100" dirty="0">
                <a:effectLst/>
                <a:latin typeface="Times New Roman" panose="02020603050405020304" pitchFamily="18" charset="0"/>
                <a:ea typeface="新細明體" panose="02020500000000000000" pitchFamily="18" charset="-120"/>
              </a:rPr>
              <a:t>(</a:t>
            </a:r>
            <a:r>
              <a:rPr lang="zh-TW" altLang="en-US" sz="1400" kern="100" dirty="0">
                <a:effectLst/>
                <a:latin typeface="Times New Roman" panose="02020603050405020304" pitchFamily="18" charset="0"/>
                <a:ea typeface="新細明體" panose="02020500000000000000" pitchFamily="18" charset="-120"/>
              </a:rPr>
              <a:t>長照機構</a:t>
            </a:r>
            <a:r>
              <a:rPr lang="en-US" altLang="zh-TW" sz="1400" kern="100" dirty="0">
                <a:latin typeface="Times New Roman" panose="02020603050405020304" pitchFamily="18" charset="0"/>
                <a:ea typeface="新細明體" panose="02020500000000000000" pitchFamily="18" charset="-120"/>
              </a:rPr>
              <a:t>)</a:t>
            </a:r>
            <a:r>
              <a:rPr lang="zh-TW" altLang="en-US" sz="1400" kern="100" dirty="0">
                <a:latin typeface="Times New Roman" panose="02020603050405020304" pitchFamily="18" charset="0"/>
                <a:ea typeface="新細明體" panose="02020500000000000000" pitchFamily="18" charset="-120"/>
              </a:rPr>
              <a:t>，也協助籌辦公司許多活動，</a:t>
            </a:r>
            <a:r>
              <a:rPr lang="zh-TW" altLang="en-US" sz="1400" kern="100" dirty="0">
                <a:effectLst/>
                <a:latin typeface="Times New Roman" panose="02020603050405020304" pitchFamily="18" charset="0"/>
                <a:ea typeface="新細明體" panose="02020500000000000000" pitchFamily="18" charset="-120"/>
              </a:rPr>
              <a:t>非常</a:t>
            </a:r>
            <a:r>
              <a:rPr lang="zh-TW" altLang="en-US" sz="1400" kern="100" dirty="0">
                <a:effectLst/>
                <a:ea typeface="Arial Unicode MS"/>
                <a:cs typeface="Arial Unicode MS"/>
              </a:rPr>
              <a:t>期待能進入貴校，跟隨老師們</a:t>
            </a:r>
            <a:r>
              <a:rPr lang="zh-TW" altLang="zh-TW" sz="1400" kern="100" dirty="0">
                <a:effectLst/>
                <a:ea typeface="Arial Unicode MS"/>
                <a:cs typeface="Arial Unicode MS"/>
              </a:rPr>
              <a:t>的</a:t>
            </a:r>
            <a:r>
              <a:rPr lang="zh-TW" altLang="en-US" sz="1400" kern="100" dirty="0">
                <a:effectLst/>
                <a:ea typeface="Arial Unicode MS"/>
                <a:cs typeface="Arial Unicode MS"/>
              </a:rPr>
              <a:t>指教</a:t>
            </a:r>
            <a:r>
              <a:rPr lang="zh-TW" altLang="zh-TW" sz="1400" kern="100" dirty="0">
                <a:effectLst/>
                <a:ea typeface="Arial Unicode MS"/>
                <a:cs typeface="Arial Unicode MS"/>
              </a:rPr>
              <a:t>，</a:t>
            </a:r>
            <a:r>
              <a:rPr lang="zh-TW" altLang="en-US" sz="1400" kern="100" dirty="0">
                <a:ea typeface="Arial Unicode MS"/>
                <a:cs typeface="Arial Unicode MS"/>
              </a:rPr>
              <a:t>讓宛亭</a:t>
            </a:r>
            <a:r>
              <a:rPr lang="zh-TW" altLang="en-US" sz="1400" kern="100" dirty="0">
                <a:effectLst/>
                <a:ea typeface="Arial Unicode MS"/>
                <a:cs typeface="Arial Unicode MS"/>
              </a:rPr>
              <a:t>在知識領域</a:t>
            </a:r>
            <a:r>
              <a:rPr lang="zh-TW" altLang="en-US" sz="1400" kern="100" dirty="0">
                <a:ea typeface="Arial Unicode MS"/>
                <a:cs typeface="Arial Unicode MS"/>
              </a:rPr>
              <a:t>上，能獲得更紮實的能力與研究基礎</a:t>
            </a:r>
            <a:r>
              <a:rPr lang="zh-TW" altLang="en-US" sz="1400" kern="100" dirty="0">
                <a:effectLst/>
                <a:ea typeface="Arial Unicode MS"/>
                <a:cs typeface="Arial Unicode MS"/>
              </a:rPr>
              <a:t>，達成重要的里程碑</a:t>
            </a:r>
            <a:r>
              <a:rPr lang="zh-TW" altLang="zh-TW" sz="1400" kern="100" dirty="0">
                <a:effectLst/>
                <a:ea typeface="Arial Unicode MS"/>
                <a:cs typeface="Arial Unicode MS"/>
              </a:rPr>
              <a:t>。</a:t>
            </a:r>
            <a:endParaRPr lang="zh-TW" altLang="zh-TW" sz="1400" kern="100" dirty="0">
              <a:effectLst/>
              <a:latin typeface="Times New Roman" panose="02020603050405020304" pitchFamily="18" charset="0"/>
              <a:ea typeface="新細明體" panose="02020500000000000000" pitchFamily="18" charset="-120"/>
            </a:endParaRPr>
          </a:p>
        </p:txBody>
      </p:sp>
    </p:spTree>
    <p:extLst>
      <p:ext uri="{BB962C8B-B14F-4D97-AF65-F5344CB8AC3E}">
        <p14:creationId xmlns:p14="http://schemas.microsoft.com/office/powerpoint/2010/main" val="1650662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圓角矩形 12">
                <a:extLst>
                  <a:ext uri="{FF2B5EF4-FFF2-40B4-BE49-F238E27FC236}">
                    <a16:creationId xmlns:a16="http://schemas.microsoft.com/office/drawing/2014/main" id="{39025415-CDCD-DA1B-4CF9-B5578F3ADBEE}"/>
                  </a:ext>
                </a:extLst>
              </p:cNvPr>
              <p:cNvSpPr/>
              <p:nvPr/>
            </p:nvSpPr>
            <p:spPr>
              <a:xfrm>
                <a:off x="728770" y="1513469"/>
                <a:ext cx="5781290" cy="1908334"/>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聯發科技工程品至量產品－開發進度整合與供應鏈管理</a:t>
                </a:r>
                <a:endParaRPr lang="en-US" altLang="zh-TW" sz="1400" dirty="0">
                  <a:solidFill>
                    <a:srgbClr val="000000"/>
                  </a:solidFill>
                </a:endParaRPr>
              </a:p>
              <a:p>
                <a:pPr marL="285750" indent="-285750" algn="l">
                  <a:lnSpc>
                    <a:spcPts val="2420"/>
                  </a:lnSpc>
                  <a:buFont typeface="Wingdings" pitchFamily="2" charset="2"/>
                  <a:buChar char="Ø"/>
                </a:pPr>
                <a:r>
                  <a:rPr lang="zh-TW" altLang="en-US" sz="1400" dirty="0">
                    <a:solidFill>
                      <a:srgbClr val="000000"/>
                    </a:solidFill>
                  </a:rPr>
                  <a:t>各種產品類型之封裝設計及規畫</a:t>
                </a:r>
                <a:endParaRPr lang="en-US" altLang="zh-TW" sz="1400" dirty="0">
                  <a:solidFill>
                    <a:srgbClr val="000000"/>
                  </a:solidFill>
                  <a:ea typeface="PingFang SC" panose="020B0400000000000000" pitchFamily="34" charset="-122"/>
                </a:endParaRPr>
              </a:p>
              <a:p>
                <a:pPr marL="285750" indent="-285750" algn="l">
                  <a:lnSpc>
                    <a:spcPts val="2420"/>
                  </a:lnSpc>
                  <a:buFont typeface="Wingdings" pitchFamily="2" charset="2"/>
                  <a:buChar char="Ø"/>
                </a:pPr>
                <a:r>
                  <a:rPr lang="zh-TW" altLang="en-US" sz="1400" b="0" i="0" dirty="0">
                    <a:solidFill>
                      <a:srgbClr val="474747"/>
                    </a:solidFill>
                    <a:effectLst/>
                    <a:latin typeface="Arial" panose="020B0604020202020204" pitchFamily="34" charset="0"/>
                  </a:rPr>
                  <a:t>與封裝廠合作，完成封裝圖面設計</a:t>
                </a:r>
                <a:endParaRPr lang="en-US" altLang="zh-TW" sz="1400" b="0" i="0" dirty="0">
                  <a:solidFill>
                    <a:srgbClr val="474747"/>
                  </a:solidFill>
                  <a:effectLst/>
                  <a:latin typeface="Arial" panose="020B0604020202020204" pitchFamily="34" charset="0"/>
                </a:endParaRPr>
              </a:p>
              <a:p>
                <a:pPr marL="285750" indent="-285750">
                  <a:lnSpc>
                    <a:spcPts val="2420"/>
                  </a:lnSpc>
                  <a:buFont typeface="Wingdings" pitchFamily="2" charset="2"/>
                  <a:buChar char="Ø"/>
                </a:pPr>
                <a:r>
                  <a:rPr lang="zh-TW" altLang="en-US" sz="1400" dirty="0">
                    <a:solidFill>
                      <a:srgbClr val="000000"/>
                    </a:solidFill>
                  </a:rPr>
                  <a:t>封裝設計開發進度專案之系統導入</a:t>
                </a:r>
                <a:endParaRPr lang="en-US" altLang="zh-TW" sz="1400" dirty="0">
                  <a:solidFill>
                    <a:srgbClr val="000000"/>
                  </a:solidFill>
                  <a:ea typeface="PingFang SC" panose="020B0400000000000000" pitchFamily="34" charset="-122"/>
                </a:endParaRPr>
              </a:p>
              <a:p>
                <a:pPr marL="285750" indent="-285750">
                  <a:lnSpc>
                    <a:spcPts val="2420"/>
                  </a:lnSpc>
                  <a:buFont typeface="Wingdings" pitchFamily="2" charset="2"/>
                  <a:buChar char="Ø"/>
                </a:pPr>
                <a:r>
                  <a:rPr lang="zh-TW" altLang="en-US" sz="1400" b="0" i="0" dirty="0">
                    <a:solidFill>
                      <a:srgbClr val="474747"/>
                    </a:solidFill>
                    <a:effectLst/>
                    <a:latin typeface="Arial" panose="020B0604020202020204" pitchFamily="34" charset="0"/>
                  </a:rPr>
                  <a:t>封裝技術開發</a:t>
                </a:r>
                <a14:m>
                  <m:oMath xmlns:m="http://schemas.openxmlformats.org/officeDocument/2006/math">
                    <m:r>
                      <a:rPr lang="zh-TW" altLang="en-US" sz="1400" b="0" i="1" smtClean="0">
                        <a:solidFill>
                          <a:srgbClr val="474747"/>
                        </a:solidFill>
                        <a:effectLst/>
                        <a:latin typeface="Cambria Math" panose="02040503050406030204" pitchFamily="18" charset="0"/>
                      </a:rPr>
                      <m:t>、</m:t>
                    </m:r>
                  </m:oMath>
                </a14:m>
                <a:r>
                  <a:rPr lang="zh-TW" altLang="en-US" sz="1400" b="0" i="0" dirty="0">
                    <a:solidFill>
                      <a:srgbClr val="474747"/>
                    </a:solidFill>
                    <a:effectLst/>
                    <a:latin typeface="Arial" panose="020B0604020202020204" pitchFamily="34" charset="0"/>
                  </a:rPr>
                  <a:t>驗證與生產良率管理</a:t>
                </a:r>
                <a:endParaRPr lang="en-US" altLang="zh-TW" sz="1400" b="0" i="0" dirty="0">
                  <a:solidFill>
                    <a:srgbClr val="474747"/>
                  </a:solidFill>
                  <a:effectLst/>
                  <a:latin typeface="Arial" panose="020B0604020202020204" pitchFamily="34" charset="0"/>
                </a:endParaRPr>
              </a:p>
            </p:txBody>
          </p:sp>
        </mc:Choice>
        <mc:Fallback xmlns="">
          <p:sp>
            <p:nvSpPr>
              <p:cNvPr id="13" name="圓角矩形 12">
                <a:extLst>
                  <a:ext uri="{FF2B5EF4-FFF2-40B4-BE49-F238E27FC236}">
                    <a16:creationId xmlns:a16="http://schemas.microsoft.com/office/drawing/2014/main" id="{39025415-CDCD-DA1B-4CF9-B5578F3ADBEE}"/>
                  </a:ext>
                </a:extLst>
              </p:cNvPr>
              <p:cNvSpPr>
                <a:spLocks noRot="1" noChangeAspect="1" noMove="1" noResize="1" noEditPoints="1" noAdjustHandles="1" noChangeArrowheads="1" noChangeShapeType="1" noTextEdit="1"/>
              </p:cNvSpPr>
              <p:nvPr/>
            </p:nvSpPr>
            <p:spPr>
              <a:xfrm>
                <a:off x="728770" y="1513469"/>
                <a:ext cx="5781290" cy="1908334"/>
              </a:xfrm>
              <a:prstGeom prst="roundRect">
                <a:avLst/>
              </a:prstGeom>
              <a:blipFill>
                <a:blip r:embed="rId3"/>
                <a:stretch>
                  <a:fillRect/>
                </a:stretch>
              </a:blipFill>
              <a:ln>
                <a:noFill/>
              </a:ln>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FDF72722-8F94-F4C0-896D-1E485D251259}"/>
              </a:ext>
            </a:extLst>
          </p:cNvPr>
          <p:cNvSpPr txBox="1"/>
          <p:nvPr/>
        </p:nvSpPr>
        <p:spPr>
          <a:xfrm>
            <a:off x="803318" y="1098389"/>
            <a:ext cx="5906865" cy="353943"/>
          </a:xfrm>
          <a:prstGeom prst="rect">
            <a:avLst/>
          </a:prstGeom>
          <a:noFill/>
        </p:spPr>
        <p:txBody>
          <a:bodyPr wrap="square">
            <a:spAutoFit/>
          </a:bodyPr>
          <a:lstStyle/>
          <a:p>
            <a:r>
              <a:rPr kumimoji="1" lang="zh-TW" altLang="en-US" sz="1700" b="1" dirty="0">
                <a:solidFill>
                  <a:schemeClr val="tx1"/>
                </a:solidFill>
                <a:latin typeface="PingFang SC" panose="020B0400000000000000" pitchFamily="34" charset="-122"/>
                <a:ea typeface="PingFang SC" panose="020B0400000000000000" pitchFamily="34" charset="-122"/>
              </a:rPr>
              <a:t>聯發科技</a:t>
            </a:r>
            <a:r>
              <a:rPr kumimoji="1" lang="zh-TW" altLang="en-US" sz="1700" b="1" dirty="0">
                <a:latin typeface="PingFang SC" panose="020B0400000000000000" pitchFamily="34" charset="-122"/>
                <a:ea typeface="PingFang SC" panose="020B0400000000000000" pitchFamily="34" charset="-122"/>
              </a:rPr>
              <a:t>股份有限公司</a:t>
            </a:r>
            <a:r>
              <a:rPr kumimoji="1" lang="en-US" altLang="zh-TW" sz="1700" b="1" dirty="0">
                <a:latin typeface="PingFang SC" panose="020B0400000000000000" pitchFamily="34" charset="-122"/>
                <a:ea typeface="PingFang SC" panose="020B0400000000000000" pitchFamily="34" charset="-122"/>
              </a:rPr>
              <a:t>, </a:t>
            </a:r>
            <a:r>
              <a:rPr kumimoji="1" lang="zh-TW" altLang="en-US" sz="1700" b="1" dirty="0">
                <a:latin typeface="PingFang SC" panose="020B0400000000000000" pitchFamily="34" charset="-122"/>
                <a:ea typeface="PingFang SC" panose="020B0400000000000000" pitchFamily="34" charset="-122"/>
              </a:rPr>
              <a:t>封裝工程師</a:t>
            </a:r>
            <a:r>
              <a:rPr kumimoji="1" lang="en-US" altLang="zh-TW" sz="1700" b="1" dirty="0">
                <a:latin typeface="PingFang SC" panose="020B0400000000000000" pitchFamily="34" charset="-122"/>
                <a:ea typeface="PingFang SC" panose="020B0400000000000000" pitchFamily="34" charset="-122"/>
              </a:rPr>
              <a:t>, </a:t>
            </a:r>
            <a:r>
              <a:rPr kumimoji="1" lang="zh-TW" altLang="en-US" sz="1700" b="1" dirty="0">
                <a:latin typeface="PingFang SC" panose="020B0400000000000000" pitchFamily="34" charset="-122"/>
                <a:ea typeface="PingFang SC" panose="020B0400000000000000" pitchFamily="34" charset="-122"/>
              </a:rPr>
              <a:t> </a:t>
            </a:r>
            <a:r>
              <a:rPr kumimoji="1" lang="en-US" altLang="zh-TW" sz="1200" dirty="0">
                <a:latin typeface="PingFang SC" panose="020B0400000000000000" pitchFamily="34" charset="-122"/>
                <a:ea typeface="PingFang SC" panose="020B0400000000000000" pitchFamily="34" charset="-122"/>
              </a:rPr>
              <a:t>2017.03~Now</a:t>
            </a:r>
            <a:endParaRPr kumimoji="1" lang="en-US" altLang="zh-TW" sz="1700" dirty="0">
              <a:solidFill>
                <a:schemeClr val="tx1"/>
              </a:solidFill>
              <a:latin typeface="PingFang SC" panose="020B0400000000000000" pitchFamily="34" charset="-122"/>
              <a:ea typeface="PingFang SC" panose="020B0400000000000000" pitchFamily="34" charset="-122"/>
            </a:endParaRPr>
          </a:p>
        </p:txBody>
      </p:sp>
      <p:sp>
        <p:nvSpPr>
          <p:cNvPr id="17" name="五邊形 16">
            <a:extLst>
              <a:ext uri="{FF2B5EF4-FFF2-40B4-BE49-F238E27FC236}">
                <a16:creationId xmlns:a16="http://schemas.microsoft.com/office/drawing/2014/main" id="{E9ADD3FC-AED3-733E-A97D-85FE61E15EC3}"/>
              </a:ext>
            </a:extLst>
          </p:cNvPr>
          <p:cNvSpPr/>
          <p:nvPr/>
        </p:nvSpPr>
        <p:spPr>
          <a:xfrm>
            <a:off x="522188" y="1153669"/>
            <a:ext cx="324000" cy="216000"/>
          </a:xfrm>
          <a:prstGeom prst="homePlat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五邊形 21">
            <a:extLst>
              <a:ext uri="{FF2B5EF4-FFF2-40B4-BE49-F238E27FC236}">
                <a16:creationId xmlns:a16="http://schemas.microsoft.com/office/drawing/2014/main" id="{4F503AFF-38DE-D119-24DF-89B952CDAE62}"/>
              </a:ext>
            </a:extLst>
          </p:cNvPr>
          <p:cNvSpPr/>
          <p:nvPr/>
        </p:nvSpPr>
        <p:spPr>
          <a:xfrm>
            <a:off x="538991" y="3965138"/>
            <a:ext cx="324000" cy="216000"/>
          </a:xfrm>
          <a:prstGeom prst="homePlate">
            <a:avLst/>
          </a:prstGeom>
          <a:solidFill>
            <a:srgbClr val="FFF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文字方塊 2">
            <a:extLst>
              <a:ext uri="{FF2B5EF4-FFF2-40B4-BE49-F238E27FC236}">
                <a16:creationId xmlns:a16="http://schemas.microsoft.com/office/drawing/2014/main" id="{F1F8A8DA-581F-520C-402D-7C6E10FCBE98}"/>
              </a:ext>
            </a:extLst>
          </p:cNvPr>
          <p:cNvSpPr txBox="1"/>
          <p:nvPr/>
        </p:nvSpPr>
        <p:spPr>
          <a:xfrm>
            <a:off x="3031981" y="9624885"/>
            <a:ext cx="886686" cy="261610"/>
          </a:xfrm>
          <a:prstGeom prst="rect">
            <a:avLst/>
          </a:prstGeom>
          <a:noFill/>
        </p:spPr>
        <p:txBody>
          <a:bodyPr wrap="square">
            <a:spAutoFit/>
          </a:bodyPr>
          <a:lstStyle/>
          <a:p>
            <a:r>
              <a:rPr kumimoji="1" lang="zh-TW" altLang="en-US" sz="1100" dirty="0">
                <a:solidFill>
                  <a:schemeClr val="bg1">
                    <a:lumMod val="50000"/>
                  </a:schemeClr>
                </a:solidFill>
                <a:latin typeface="PingFang SC" panose="020B0400000000000000" pitchFamily="34" charset="-122"/>
                <a:ea typeface="PingFang SC" panose="020B0400000000000000" pitchFamily="34" charset="-122"/>
              </a:rPr>
              <a:t>＠陳宛亭</a:t>
            </a:r>
            <a:endParaRPr lang="zh-TW" altLang="en-US" sz="1100" dirty="0">
              <a:solidFill>
                <a:schemeClr val="bg1">
                  <a:lumMod val="50000"/>
                </a:schemeClr>
              </a:solidFill>
            </a:endParaRPr>
          </a:p>
        </p:txBody>
      </p:sp>
      <p:sp>
        <p:nvSpPr>
          <p:cNvPr id="4" name="圓角矩形 13">
            <a:extLst>
              <a:ext uri="{FF2B5EF4-FFF2-40B4-BE49-F238E27FC236}">
                <a16:creationId xmlns:a16="http://schemas.microsoft.com/office/drawing/2014/main" id="{357E4EBB-EF55-083B-5B93-256CB52AD227}"/>
              </a:ext>
            </a:extLst>
          </p:cNvPr>
          <p:cNvSpPr/>
          <p:nvPr/>
        </p:nvSpPr>
        <p:spPr>
          <a:xfrm>
            <a:off x="1498899" y="367279"/>
            <a:ext cx="1301451" cy="46180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kumimoji="1" lang="zh-TW" altLang="en-US" sz="1800" b="1" dirty="0">
                <a:solidFill>
                  <a:schemeClr val="bg1"/>
                </a:solidFill>
                <a:latin typeface="PingFang SC" panose="020B0400000000000000" pitchFamily="34" charset="-122"/>
                <a:ea typeface="PingFang SC" panose="020B0400000000000000" pitchFamily="34" charset="-122"/>
              </a:rPr>
              <a:t>工作經歷</a:t>
            </a:r>
          </a:p>
        </p:txBody>
      </p:sp>
      <p:sp>
        <p:nvSpPr>
          <p:cNvPr id="7" name="圓角矩形 18">
            <a:extLst>
              <a:ext uri="{FF2B5EF4-FFF2-40B4-BE49-F238E27FC236}">
                <a16:creationId xmlns:a16="http://schemas.microsoft.com/office/drawing/2014/main" id="{DA7CBD88-FFD8-227C-6F2B-72455FE718B3}"/>
              </a:ext>
            </a:extLst>
          </p:cNvPr>
          <p:cNvSpPr/>
          <p:nvPr/>
        </p:nvSpPr>
        <p:spPr>
          <a:xfrm>
            <a:off x="506948" y="367279"/>
            <a:ext cx="818932" cy="461801"/>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kumimoji="1" lang="en-US" altLang="zh-TW" b="1" dirty="0">
                <a:solidFill>
                  <a:schemeClr val="bg1"/>
                </a:solidFill>
                <a:latin typeface="PingFang SC" panose="020B0400000000000000" pitchFamily="34" charset="-122"/>
                <a:ea typeface="PingFang SC" panose="020B0400000000000000" pitchFamily="34" charset="-122"/>
              </a:rPr>
              <a:t>02</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sp>
        <p:nvSpPr>
          <p:cNvPr id="11" name="文字方塊 10">
            <a:extLst>
              <a:ext uri="{FF2B5EF4-FFF2-40B4-BE49-F238E27FC236}">
                <a16:creationId xmlns:a16="http://schemas.microsoft.com/office/drawing/2014/main" id="{DBD98D48-BBB9-610D-8E81-0265A98CD6DB}"/>
              </a:ext>
            </a:extLst>
          </p:cNvPr>
          <p:cNvSpPr txBox="1"/>
          <p:nvPr/>
        </p:nvSpPr>
        <p:spPr>
          <a:xfrm>
            <a:off x="872087" y="3896166"/>
            <a:ext cx="5906865" cy="353943"/>
          </a:xfrm>
          <a:prstGeom prst="rect">
            <a:avLst/>
          </a:prstGeom>
          <a:noFill/>
        </p:spPr>
        <p:txBody>
          <a:bodyPr wrap="square">
            <a:spAutoFit/>
          </a:bodyPr>
          <a:lstStyle/>
          <a:p>
            <a:r>
              <a:rPr kumimoji="1" lang="zh-TW" altLang="en-US" sz="1700" b="1" dirty="0">
                <a:solidFill>
                  <a:schemeClr val="tx1"/>
                </a:solidFill>
                <a:latin typeface="PingFang SC" panose="020B0400000000000000" pitchFamily="34" charset="-122"/>
                <a:ea typeface="PingFang SC" panose="020B0400000000000000" pitchFamily="34" charset="-122"/>
              </a:rPr>
              <a:t>台星科</a:t>
            </a:r>
            <a:r>
              <a:rPr kumimoji="1" lang="zh-TW" altLang="en-US" sz="1700" b="1" dirty="0">
                <a:latin typeface="PingFang SC" panose="020B0400000000000000" pitchFamily="34" charset="-122"/>
                <a:ea typeface="PingFang SC" panose="020B0400000000000000" pitchFamily="34" charset="-122"/>
              </a:rPr>
              <a:t>股份有限公司</a:t>
            </a:r>
            <a:r>
              <a:rPr kumimoji="1" lang="en-US" altLang="zh-TW" sz="1700" b="1" dirty="0">
                <a:latin typeface="PingFang SC" panose="020B0400000000000000" pitchFamily="34" charset="-122"/>
                <a:ea typeface="PingFang SC" panose="020B0400000000000000" pitchFamily="34" charset="-122"/>
              </a:rPr>
              <a:t>, </a:t>
            </a:r>
            <a:r>
              <a:rPr kumimoji="1" lang="zh-TW" altLang="en-US" sz="1700" b="1" dirty="0">
                <a:latin typeface="PingFang SC" panose="020B0400000000000000" pitchFamily="34" charset="-122"/>
                <a:ea typeface="PingFang SC" panose="020B0400000000000000" pitchFamily="34" charset="-122"/>
              </a:rPr>
              <a:t>業務副理</a:t>
            </a:r>
            <a:r>
              <a:rPr kumimoji="1" lang="en-US" altLang="zh-TW" sz="1700" b="1" dirty="0">
                <a:latin typeface="PingFang SC" panose="020B0400000000000000" pitchFamily="34" charset="-122"/>
                <a:ea typeface="PingFang SC" panose="020B0400000000000000" pitchFamily="34" charset="-122"/>
              </a:rPr>
              <a:t>, </a:t>
            </a:r>
            <a:r>
              <a:rPr kumimoji="1" lang="zh-TW" altLang="en-US" sz="1700" b="1" dirty="0">
                <a:latin typeface="PingFang SC" panose="020B0400000000000000" pitchFamily="34" charset="-122"/>
                <a:ea typeface="PingFang SC" panose="020B0400000000000000" pitchFamily="34" charset="-122"/>
              </a:rPr>
              <a:t> </a:t>
            </a:r>
            <a:r>
              <a:rPr kumimoji="1" lang="en-US" altLang="zh-TW" sz="1200" dirty="0">
                <a:latin typeface="PingFang SC" panose="020B0400000000000000" pitchFamily="34" charset="-122"/>
                <a:ea typeface="PingFang SC" panose="020B0400000000000000" pitchFamily="34" charset="-122"/>
              </a:rPr>
              <a:t>2016.06 ~2017.03</a:t>
            </a:r>
            <a:endParaRPr kumimoji="1" lang="en-US" altLang="zh-TW" sz="1700" dirty="0">
              <a:solidFill>
                <a:schemeClr val="tx1"/>
              </a:solidFill>
              <a:latin typeface="PingFang SC" panose="020B0400000000000000" pitchFamily="34" charset="-122"/>
              <a:ea typeface="PingFang SC" panose="020B0400000000000000" pitchFamily="34" charset="-122"/>
            </a:endParaRPr>
          </a:p>
        </p:txBody>
      </p:sp>
      <p:sp>
        <p:nvSpPr>
          <p:cNvPr id="16" name="文字方塊 15">
            <a:extLst>
              <a:ext uri="{FF2B5EF4-FFF2-40B4-BE49-F238E27FC236}">
                <a16:creationId xmlns:a16="http://schemas.microsoft.com/office/drawing/2014/main" id="{CDA9F7F5-45DB-AD6F-9A1F-B8D0C8ECA164}"/>
              </a:ext>
            </a:extLst>
          </p:cNvPr>
          <p:cNvSpPr txBox="1"/>
          <p:nvPr/>
        </p:nvSpPr>
        <p:spPr>
          <a:xfrm>
            <a:off x="820121" y="6776607"/>
            <a:ext cx="6126864" cy="353943"/>
          </a:xfrm>
          <a:prstGeom prst="rect">
            <a:avLst/>
          </a:prstGeom>
          <a:noFill/>
        </p:spPr>
        <p:txBody>
          <a:bodyPr wrap="square">
            <a:spAutoFit/>
          </a:bodyPr>
          <a:lstStyle/>
          <a:p>
            <a:r>
              <a:rPr kumimoji="1" lang="zh-TW" altLang="en-US" sz="1700" b="1" dirty="0">
                <a:solidFill>
                  <a:schemeClr val="tx1"/>
                </a:solidFill>
                <a:latin typeface="PingFang SC" panose="020B0400000000000000" pitchFamily="34" charset="-122"/>
                <a:ea typeface="PingFang SC" panose="020B0400000000000000" pitchFamily="34" charset="-122"/>
              </a:rPr>
              <a:t>力晶積成電子製造股份有限公司</a:t>
            </a:r>
            <a:r>
              <a:rPr kumimoji="1" lang="en-US" altLang="zh-TW" sz="1700" b="1" dirty="0">
                <a:latin typeface="PingFang SC" panose="020B0400000000000000" pitchFamily="34" charset="-122"/>
                <a:ea typeface="PingFang SC" panose="020B0400000000000000" pitchFamily="34" charset="-122"/>
              </a:rPr>
              <a:t>,</a:t>
            </a:r>
            <a:r>
              <a:rPr kumimoji="1" lang="zh-TW" altLang="en-US" sz="1700" b="1" dirty="0">
                <a:latin typeface="PingFang SC" panose="020B0400000000000000" pitchFamily="34" charset="-122"/>
                <a:ea typeface="PingFang SC" panose="020B0400000000000000" pitchFamily="34" charset="-122"/>
              </a:rPr>
              <a:t> 行銷業務</a:t>
            </a:r>
            <a:r>
              <a:rPr kumimoji="1" lang="en-US" altLang="zh-TW" sz="1700" b="1" dirty="0">
                <a:latin typeface="PingFang SC" panose="020B0400000000000000" pitchFamily="34" charset="-122"/>
                <a:ea typeface="PingFang SC" panose="020B0400000000000000" pitchFamily="34" charset="-122"/>
              </a:rPr>
              <a:t>, </a:t>
            </a:r>
            <a:r>
              <a:rPr kumimoji="1" lang="zh-TW" altLang="en-US" sz="1700" b="1" dirty="0">
                <a:latin typeface="PingFang SC" panose="020B0400000000000000" pitchFamily="34" charset="-122"/>
                <a:ea typeface="PingFang SC" panose="020B0400000000000000" pitchFamily="34" charset="-122"/>
              </a:rPr>
              <a:t> </a:t>
            </a:r>
            <a:r>
              <a:rPr kumimoji="1" lang="en-US" altLang="zh-TW" sz="1200" dirty="0">
                <a:latin typeface="PingFang SC" panose="020B0400000000000000" pitchFamily="34" charset="-122"/>
                <a:ea typeface="PingFang SC" panose="020B0400000000000000" pitchFamily="34" charset="-122"/>
              </a:rPr>
              <a:t>2007.01 ~2016.06</a:t>
            </a:r>
            <a:r>
              <a:rPr kumimoji="1" lang="zh-TW" altLang="en-US" sz="1200" b="1" dirty="0">
                <a:latin typeface="PingFang SC" panose="020B0400000000000000" pitchFamily="34" charset="-122"/>
                <a:ea typeface="PingFang SC" panose="020B0400000000000000" pitchFamily="34" charset="-122"/>
              </a:rPr>
              <a:t> </a:t>
            </a:r>
            <a:endParaRPr kumimoji="1" lang="en-US" altLang="zh-TW" sz="1200" b="1" dirty="0">
              <a:solidFill>
                <a:schemeClr val="tx1"/>
              </a:solidFill>
              <a:latin typeface="PingFang SC" panose="020B0400000000000000" pitchFamily="34" charset="-122"/>
              <a:ea typeface="PingFang SC" panose="020B0400000000000000" pitchFamily="34" charset="-122"/>
            </a:endParaRPr>
          </a:p>
        </p:txBody>
      </p:sp>
      <p:sp>
        <p:nvSpPr>
          <p:cNvPr id="18" name="五邊形 23">
            <a:extLst>
              <a:ext uri="{FF2B5EF4-FFF2-40B4-BE49-F238E27FC236}">
                <a16:creationId xmlns:a16="http://schemas.microsoft.com/office/drawing/2014/main" id="{8A63343D-54AB-7B92-CD01-99B145CF71B4}"/>
              </a:ext>
            </a:extLst>
          </p:cNvPr>
          <p:cNvSpPr/>
          <p:nvPr/>
        </p:nvSpPr>
        <p:spPr>
          <a:xfrm>
            <a:off x="538991" y="6831887"/>
            <a:ext cx="324000" cy="216000"/>
          </a:xfrm>
          <a:prstGeom prst="homePlate">
            <a:avLst/>
          </a:prstGeom>
          <a:solidFill>
            <a:srgbClr val="DEEB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9" name="圓角矩形 8">
                <a:extLst>
                  <a:ext uri="{FF2B5EF4-FFF2-40B4-BE49-F238E27FC236}">
                    <a16:creationId xmlns:a16="http://schemas.microsoft.com/office/drawing/2014/main" id="{1828AAE4-5E11-0C05-BF98-7FB097D391A7}"/>
                  </a:ext>
                </a:extLst>
              </p:cNvPr>
              <p:cNvSpPr/>
              <p:nvPr/>
            </p:nvSpPr>
            <p:spPr>
              <a:xfrm>
                <a:off x="728770" y="4348795"/>
                <a:ext cx="5781290" cy="193571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維護客戶關係</a:t>
                </a:r>
                <a14:m>
                  <m:oMath xmlns:m="http://schemas.openxmlformats.org/officeDocument/2006/math">
                    <m:r>
                      <a:rPr lang="zh-TW" altLang="en-US" sz="1400" b="0" i="1" smtClean="0">
                        <a:solidFill>
                          <a:srgbClr val="474747"/>
                        </a:solidFill>
                        <a:effectLst/>
                        <a:latin typeface="Cambria Math" panose="02040503050406030204" pitchFamily="18" charset="0"/>
                      </a:rPr>
                      <m:t>，</m:t>
                    </m:r>
                  </m:oMath>
                </a14:m>
                <a:r>
                  <a:rPr lang="zh-TW" altLang="en-US" sz="1400" dirty="0">
                    <a:solidFill>
                      <a:srgbClr val="000000"/>
                    </a:solidFill>
                    <a:latin typeface="PingFang SC" panose="020B0400000000000000" pitchFamily="34" charset="-122"/>
                    <a:ea typeface="PingFang SC" panose="020B0400000000000000" pitchFamily="34" charset="-122"/>
                  </a:rPr>
                  <a:t>積極開發新客戶</a:t>
                </a: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推廣新產品及製程技術</a:t>
                </a: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公司營收狀況概估及營運規畫</a:t>
                </a: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了解競爭對手動態及客戶反饋</a:t>
                </a:r>
                <a:endParaRPr lang="en-US" altLang="zh-TW" sz="1400" dirty="0">
                  <a:solidFill>
                    <a:srgbClr val="000000"/>
                  </a:solidFill>
                  <a:latin typeface="PingFang SC" panose="020B0400000000000000" pitchFamily="34" charset="-122"/>
                  <a:ea typeface="PingFang SC" panose="020B0400000000000000" pitchFamily="34" charset="-122"/>
                </a:endParaRP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預測市場淺力</a:t>
                </a:r>
                <a:r>
                  <a:rPr lang="zh-TW" altLang="en-US" sz="1400" dirty="0">
                    <a:solidFill>
                      <a:srgbClr val="000000"/>
                    </a:solidFill>
                    <a:latin typeface="PMingLiU" panose="02020500000000000000" pitchFamily="18" charset="-120"/>
                    <a:ea typeface="PMingLiU" panose="02020500000000000000" pitchFamily="18" charset="-120"/>
                  </a:rPr>
                  <a:t>、</a:t>
                </a:r>
                <a:r>
                  <a:rPr lang="zh-TW" altLang="en-US" sz="1400" dirty="0">
                    <a:solidFill>
                      <a:srgbClr val="000000"/>
                    </a:solidFill>
                    <a:latin typeface="PingFang SC" panose="020B0400000000000000" pitchFamily="34" charset="-122"/>
                    <a:ea typeface="PingFang SC" panose="020B0400000000000000" pitchFamily="34" charset="-122"/>
                  </a:rPr>
                  <a:t>研究市場情報</a:t>
                </a:r>
                <a:endParaRPr lang="en-US" altLang="zh-TW" sz="1400" dirty="0">
                  <a:solidFill>
                    <a:srgbClr val="000000"/>
                  </a:solidFill>
                  <a:latin typeface="PingFang SC" panose="020B0400000000000000" pitchFamily="34" charset="-122"/>
                  <a:ea typeface="PingFang SC" panose="020B0400000000000000" pitchFamily="34" charset="-122"/>
                </a:endParaRPr>
              </a:p>
              <a:p>
                <a:pPr marL="285750" indent="-285750">
                  <a:lnSpc>
                    <a:spcPts val="2420"/>
                  </a:lnSpc>
                  <a:buFont typeface="Wingdings" pitchFamily="2" charset="2"/>
                  <a:buChar char="Ø"/>
                </a:pPr>
                <a:endParaRPr lang="zh-TW" altLang="en-US" sz="1400" dirty="0">
                  <a:solidFill>
                    <a:srgbClr val="000000"/>
                  </a:solidFill>
                  <a:latin typeface="PingFang SC" panose="020B0400000000000000" pitchFamily="34" charset="-122"/>
                  <a:ea typeface="PingFang SC" panose="020B0400000000000000" pitchFamily="34" charset="-122"/>
                </a:endParaRPr>
              </a:p>
            </p:txBody>
          </p:sp>
        </mc:Choice>
        <mc:Fallback xmlns="">
          <p:sp>
            <p:nvSpPr>
              <p:cNvPr id="9" name="圓角矩形 8">
                <a:extLst>
                  <a:ext uri="{FF2B5EF4-FFF2-40B4-BE49-F238E27FC236}">
                    <a16:creationId xmlns:a16="http://schemas.microsoft.com/office/drawing/2014/main" id="{1828AAE4-5E11-0C05-BF98-7FB097D391A7}"/>
                  </a:ext>
                </a:extLst>
              </p:cNvPr>
              <p:cNvSpPr>
                <a:spLocks noRot="1" noChangeAspect="1" noMove="1" noResize="1" noEditPoints="1" noAdjustHandles="1" noChangeArrowheads="1" noChangeShapeType="1" noTextEdit="1"/>
              </p:cNvSpPr>
              <p:nvPr/>
            </p:nvSpPr>
            <p:spPr>
              <a:xfrm>
                <a:off x="728770" y="4348795"/>
                <a:ext cx="5781290" cy="1935716"/>
              </a:xfrm>
              <a:prstGeom prst="roundRect">
                <a:avLst/>
              </a:prstGeom>
              <a:blipFill>
                <a:blip r:embed="rId4"/>
                <a:stretch>
                  <a:fillRect/>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圓角矩形 9">
                <a:extLst>
                  <a:ext uri="{FF2B5EF4-FFF2-40B4-BE49-F238E27FC236}">
                    <a16:creationId xmlns:a16="http://schemas.microsoft.com/office/drawing/2014/main" id="{21B405A4-F5E1-F52C-ADF5-074450CB2507}"/>
                  </a:ext>
                </a:extLst>
              </p:cNvPr>
              <p:cNvSpPr/>
              <p:nvPr/>
            </p:nvSpPr>
            <p:spPr>
              <a:xfrm>
                <a:off x="728770" y="7230074"/>
                <a:ext cx="5996652" cy="2134675"/>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客戶產品交期確認</a:t>
                </a:r>
                <a14:m>
                  <m:oMath xmlns:m="http://schemas.openxmlformats.org/officeDocument/2006/math">
                    <m:r>
                      <a:rPr lang="zh-TW" altLang="en-US" sz="1400" b="0" i="1" smtClean="0">
                        <a:solidFill>
                          <a:srgbClr val="474747"/>
                        </a:solidFill>
                        <a:effectLst/>
                        <a:latin typeface="Cambria Math" panose="02040503050406030204" pitchFamily="18" charset="0"/>
                      </a:rPr>
                      <m:t>，</m:t>
                    </m:r>
                  </m:oMath>
                </a14:m>
                <a:r>
                  <a:rPr lang="zh-TW" altLang="en-US" sz="1400" dirty="0">
                    <a:solidFill>
                      <a:srgbClr val="000000"/>
                    </a:solidFill>
                    <a:latin typeface="PingFang SC" panose="020B0400000000000000" pitchFamily="34" charset="-122"/>
                    <a:ea typeface="PingFang SC" panose="020B0400000000000000" pitchFamily="34" charset="-122"/>
                  </a:rPr>
                  <a:t>包含貨運</a:t>
                </a:r>
                <a:r>
                  <a:rPr lang="zh-TW" altLang="en-US" sz="1400" dirty="0">
                    <a:solidFill>
                      <a:srgbClr val="000000"/>
                    </a:solidFill>
                    <a:latin typeface="PMingLiU" panose="02020500000000000000" pitchFamily="18" charset="-120"/>
                    <a:ea typeface="PMingLiU" panose="02020500000000000000" pitchFamily="18" charset="-120"/>
                  </a:rPr>
                  <a:t>、</a:t>
                </a:r>
                <a:r>
                  <a:rPr lang="zh-TW" altLang="en-US" sz="1400" dirty="0">
                    <a:solidFill>
                      <a:srgbClr val="000000"/>
                    </a:solidFill>
                    <a:latin typeface="PingFang SC" panose="020B0400000000000000" pitchFamily="34" charset="-122"/>
                    <a:ea typeface="PingFang SC" panose="020B0400000000000000" pitchFamily="34" charset="-122"/>
                  </a:rPr>
                  <a:t>發票及進出口</a:t>
                </a: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客戶</a:t>
                </a:r>
                <a:r>
                  <a:rPr lang="en-US" altLang="zh-TW" sz="1400" dirty="0">
                    <a:solidFill>
                      <a:srgbClr val="000000"/>
                    </a:solidFill>
                    <a:latin typeface="PingFang SC" panose="020B0400000000000000" pitchFamily="34" charset="-122"/>
                    <a:ea typeface="PingFang SC" panose="020B0400000000000000" pitchFamily="34" charset="-122"/>
                  </a:rPr>
                  <a:t>ISO</a:t>
                </a:r>
                <a:r>
                  <a:rPr lang="zh-TW" altLang="en-US" sz="1400" dirty="0">
                    <a:solidFill>
                      <a:srgbClr val="000000"/>
                    </a:solidFill>
                    <a:latin typeface="PingFang SC" panose="020B0400000000000000" pitchFamily="34" charset="-122"/>
                    <a:ea typeface="PingFang SC" panose="020B0400000000000000" pitchFamily="34" charset="-122"/>
                  </a:rPr>
                  <a:t>稽核及文件管理</a:t>
                </a:r>
                <a:endParaRPr lang="en-US" altLang="zh-TW" sz="1400" dirty="0">
                  <a:solidFill>
                    <a:srgbClr val="000000"/>
                  </a:solidFill>
                  <a:latin typeface="PingFang SC" panose="020B0400000000000000" pitchFamily="34" charset="-122"/>
                  <a:ea typeface="PingFang SC" panose="020B0400000000000000" pitchFamily="34" charset="-122"/>
                </a:endParaRP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產能分配與溝通協調</a:t>
                </a: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客戶產品異常</a:t>
                </a:r>
                <a:r>
                  <a:rPr lang="zh-TW" altLang="en-US" sz="1400" dirty="0">
                    <a:solidFill>
                      <a:srgbClr val="000000"/>
                    </a:solidFill>
                    <a:latin typeface="PMingLiU" panose="02020500000000000000" pitchFamily="18" charset="-120"/>
                    <a:ea typeface="PMingLiU" panose="02020500000000000000" pitchFamily="18" charset="-120"/>
                  </a:rPr>
                  <a:t>、</a:t>
                </a:r>
                <a:r>
                  <a:rPr lang="zh-TW" altLang="en-US" sz="1400" dirty="0">
                    <a:solidFill>
                      <a:srgbClr val="000000"/>
                    </a:solidFill>
                    <a:latin typeface="PingFang SC" panose="020B0400000000000000" pitchFamily="34" charset="-122"/>
                    <a:ea typeface="PingFang SC" panose="020B0400000000000000" pitchFamily="34" charset="-122"/>
                  </a:rPr>
                  <a:t>賠償及</a:t>
                </a:r>
                <a:r>
                  <a:rPr lang="en-US" altLang="zh-TW" sz="1400" dirty="0">
                    <a:solidFill>
                      <a:srgbClr val="000000"/>
                    </a:solidFill>
                    <a:latin typeface="PingFang SC" panose="020B0400000000000000" pitchFamily="34" charset="-122"/>
                    <a:ea typeface="PingFang SC" panose="020B0400000000000000" pitchFamily="34" charset="-122"/>
                  </a:rPr>
                  <a:t>RMA</a:t>
                </a:r>
                <a:r>
                  <a:rPr lang="zh-TW" altLang="en-US" sz="1400" dirty="0">
                    <a:solidFill>
                      <a:srgbClr val="000000"/>
                    </a:solidFill>
                    <a:latin typeface="PingFang SC" panose="020B0400000000000000" pitchFamily="34" charset="-122"/>
                    <a:ea typeface="PingFang SC" panose="020B0400000000000000" pitchFamily="34" charset="-122"/>
                  </a:rPr>
                  <a:t>案件處置</a:t>
                </a: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應收帳款</a:t>
                </a:r>
                <a:r>
                  <a:rPr lang="zh-TW" altLang="en-US" sz="1400" dirty="0">
                    <a:solidFill>
                      <a:srgbClr val="000000"/>
                    </a:solidFill>
                    <a:latin typeface="PMingLiU" panose="02020500000000000000" pitchFamily="18" charset="-120"/>
                    <a:ea typeface="PMingLiU" panose="02020500000000000000" pitchFamily="18" charset="-120"/>
                  </a:rPr>
                  <a:t>、</a:t>
                </a:r>
                <a:r>
                  <a:rPr lang="zh-TW" altLang="en-US" sz="1400" dirty="0">
                    <a:solidFill>
                      <a:srgbClr val="000000"/>
                    </a:solidFill>
                    <a:latin typeface="PingFang SC" panose="020B0400000000000000" pitchFamily="34" charset="-122"/>
                    <a:ea typeface="PingFang SC" panose="020B0400000000000000" pitchFamily="34" charset="-122"/>
                  </a:rPr>
                  <a:t>殘材處理</a:t>
                </a:r>
                <a:endParaRPr lang="en-US" altLang="zh-TW" sz="1400" dirty="0">
                  <a:solidFill>
                    <a:srgbClr val="000000"/>
                  </a:solidFill>
                  <a:latin typeface="PMingLiU" panose="02020500000000000000" pitchFamily="18" charset="-120"/>
                  <a:ea typeface="PMingLiU" panose="02020500000000000000" pitchFamily="18" charset="-120"/>
                </a:endParaRPr>
              </a:p>
              <a:p>
                <a:pPr marL="285750" indent="-285750">
                  <a:lnSpc>
                    <a:spcPts val="2420"/>
                  </a:lnSpc>
                  <a:buFont typeface="Wingdings" pitchFamily="2" charset="2"/>
                  <a:buChar char="Ø"/>
                </a:pPr>
                <a:r>
                  <a:rPr lang="zh-TW" altLang="en-US" sz="1400" dirty="0">
                    <a:solidFill>
                      <a:srgbClr val="000000"/>
                    </a:solidFill>
                    <a:latin typeface="PingFang SC" panose="020B0400000000000000" pitchFamily="34" charset="-122"/>
                    <a:ea typeface="PingFang SC" panose="020B0400000000000000" pitchFamily="34" charset="-122"/>
                  </a:rPr>
                  <a:t>庫存盤點</a:t>
                </a:r>
                <a:r>
                  <a:rPr lang="zh-TW" altLang="en-US" sz="1400" dirty="0">
                    <a:solidFill>
                      <a:srgbClr val="000000"/>
                    </a:solidFill>
                    <a:latin typeface="PMingLiU" panose="02020500000000000000" pitchFamily="18" charset="-120"/>
                    <a:ea typeface="PMingLiU" panose="02020500000000000000" pitchFamily="18" charset="-120"/>
                  </a:rPr>
                  <a:t>、</a:t>
                </a:r>
                <a:r>
                  <a:rPr lang="en-US" altLang="zh-TW" sz="1400" dirty="0">
                    <a:solidFill>
                      <a:srgbClr val="000000"/>
                    </a:solidFill>
                    <a:latin typeface="PingFang SC" panose="020B0400000000000000" pitchFamily="34" charset="-122"/>
                    <a:ea typeface="PingFang SC" panose="020B0400000000000000" pitchFamily="34" charset="-122"/>
                  </a:rPr>
                  <a:t>EOL</a:t>
                </a:r>
                <a:r>
                  <a:rPr lang="zh-TW" altLang="en-US" sz="1400" dirty="0">
                    <a:solidFill>
                      <a:srgbClr val="000000"/>
                    </a:solidFill>
                    <a:latin typeface="PingFang SC" panose="020B0400000000000000" pitchFamily="34" charset="-122"/>
                    <a:ea typeface="PingFang SC" panose="020B0400000000000000" pitchFamily="34" charset="-122"/>
                  </a:rPr>
                  <a:t>產品管理</a:t>
                </a:r>
                <a:endParaRPr lang="zh-TW" altLang="en-US" sz="1400" dirty="0">
                  <a:solidFill>
                    <a:srgbClr val="000000"/>
                  </a:solidFill>
                </a:endParaRPr>
              </a:p>
            </p:txBody>
          </p:sp>
        </mc:Choice>
        <mc:Fallback xmlns="">
          <p:sp>
            <p:nvSpPr>
              <p:cNvPr id="26" name="圓角矩形 9">
                <a:extLst>
                  <a:ext uri="{FF2B5EF4-FFF2-40B4-BE49-F238E27FC236}">
                    <a16:creationId xmlns:a16="http://schemas.microsoft.com/office/drawing/2014/main" id="{21B405A4-F5E1-F52C-ADF5-074450CB2507}"/>
                  </a:ext>
                </a:extLst>
              </p:cNvPr>
              <p:cNvSpPr>
                <a:spLocks noRot="1" noChangeAspect="1" noMove="1" noResize="1" noEditPoints="1" noAdjustHandles="1" noChangeArrowheads="1" noChangeShapeType="1" noTextEdit="1"/>
              </p:cNvSpPr>
              <p:nvPr/>
            </p:nvSpPr>
            <p:spPr>
              <a:xfrm>
                <a:off x="728770" y="7230074"/>
                <a:ext cx="5996652" cy="2134675"/>
              </a:xfrm>
              <a:prstGeom prst="roundRect">
                <a:avLst/>
              </a:prstGeom>
              <a:blipFill>
                <a:blip r:embed="rId5"/>
                <a:stretch>
                  <a:fillRect/>
                </a:stretch>
              </a:blipFill>
              <a:ln>
                <a:noFill/>
              </a:ln>
            </p:spPr>
            <p:txBody>
              <a:bodyPr/>
              <a:lstStyle/>
              <a:p>
                <a:r>
                  <a:rPr lang="zh-TW" altLang="en-US">
                    <a:noFill/>
                  </a:rPr>
                  <a:t> </a:t>
                </a:r>
              </a:p>
            </p:txBody>
          </p:sp>
        </mc:Fallback>
      </mc:AlternateContent>
    </p:spTree>
    <p:extLst>
      <p:ext uri="{BB962C8B-B14F-4D97-AF65-F5344CB8AC3E}">
        <p14:creationId xmlns:p14="http://schemas.microsoft.com/office/powerpoint/2010/main" val="420721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13">
            <a:extLst>
              <a:ext uri="{FF2B5EF4-FFF2-40B4-BE49-F238E27FC236}">
                <a16:creationId xmlns:a16="http://schemas.microsoft.com/office/drawing/2014/main" id="{DF0E127A-F956-7604-C18D-62F3A1907D91}"/>
              </a:ext>
            </a:extLst>
          </p:cNvPr>
          <p:cNvSpPr/>
          <p:nvPr/>
        </p:nvSpPr>
        <p:spPr>
          <a:xfrm>
            <a:off x="1498899" y="367279"/>
            <a:ext cx="1271802" cy="46180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kumimoji="1" lang="zh-TW" altLang="en-US" b="1" dirty="0">
                <a:solidFill>
                  <a:schemeClr val="bg1"/>
                </a:solidFill>
                <a:latin typeface="PingFang SC" panose="020B0400000000000000" pitchFamily="34" charset="-122"/>
                <a:ea typeface="PingFang SC" panose="020B0400000000000000" pitchFamily="34" charset="-122"/>
              </a:rPr>
              <a:t>報考動機</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sp>
        <p:nvSpPr>
          <p:cNvPr id="5" name="圓角矩形 18">
            <a:extLst>
              <a:ext uri="{FF2B5EF4-FFF2-40B4-BE49-F238E27FC236}">
                <a16:creationId xmlns:a16="http://schemas.microsoft.com/office/drawing/2014/main" id="{8DFE2094-51CE-9EF8-009D-14D981CA150E}"/>
              </a:ext>
            </a:extLst>
          </p:cNvPr>
          <p:cNvSpPr/>
          <p:nvPr/>
        </p:nvSpPr>
        <p:spPr>
          <a:xfrm>
            <a:off x="506948" y="367279"/>
            <a:ext cx="818932" cy="461801"/>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kumimoji="1" lang="en-US" altLang="zh-TW" b="1" dirty="0">
                <a:solidFill>
                  <a:schemeClr val="bg1"/>
                </a:solidFill>
                <a:latin typeface="PingFang SC" panose="020B0400000000000000" pitchFamily="34" charset="-122"/>
                <a:ea typeface="PingFang SC" panose="020B0400000000000000" pitchFamily="34" charset="-122"/>
              </a:rPr>
              <a:t>03</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sp>
        <p:nvSpPr>
          <p:cNvPr id="6" name="圓角矩形 13">
            <a:extLst>
              <a:ext uri="{FF2B5EF4-FFF2-40B4-BE49-F238E27FC236}">
                <a16:creationId xmlns:a16="http://schemas.microsoft.com/office/drawing/2014/main" id="{FE2AC102-FD2C-4EA7-A27D-5B04D5D6A04B}"/>
              </a:ext>
            </a:extLst>
          </p:cNvPr>
          <p:cNvSpPr/>
          <p:nvPr/>
        </p:nvSpPr>
        <p:spPr>
          <a:xfrm>
            <a:off x="1561921" y="3338506"/>
            <a:ext cx="1271802" cy="46180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kumimoji="1" lang="zh-TW" altLang="en-US" b="1" dirty="0">
                <a:solidFill>
                  <a:schemeClr val="bg1"/>
                </a:solidFill>
                <a:latin typeface="PingFang SC" panose="020B0400000000000000" pitchFamily="34" charset="-122"/>
                <a:ea typeface="PingFang SC" panose="020B0400000000000000" pitchFamily="34" charset="-122"/>
              </a:rPr>
              <a:t>研究計劃</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sp>
        <p:nvSpPr>
          <p:cNvPr id="7" name="圓角矩形 18">
            <a:extLst>
              <a:ext uri="{FF2B5EF4-FFF2-40B4-BE49-F238E27FC236}">
                <a16:creationId xmlns:a16="http://schemas.microsoft.com/office/drawing/2014/main" id="{4041F6A3-EB9A-ABFC-FC0B-F8F6748A7429}"/>
              </a:ext>
            </a:extLst>
          </p:cNvPr>
          <p:cNvSpPr/>
          <p:nvPr/>
        </p:nvSpPr>
        <p:spPr>
          <a:xfrm>
            <a:off x="569970" y="3338506"/>
            <a:ext cx="818932" cy="461801"/>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kumimoji="1" lang="en-US" altLang="zh-TW" b="1" dirty="0">
                <a:solidFill>
                  <a:schemeClr val="bg1"/>
                </a:solidFill>
                <a:latin typeface="PingFang SC" panose="020B0400000000000000" pitchFamily="34" charset="-122"/>
                <a:ea typeface="PingFang SC" panose="020B0400000000000000" pitchFamily="34" charset="-122"/>
              </a:rPr>
              <a:t>04</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graphicFrame>
        <p:nvGraphicFramePr>
          <p:cNvPr id="10" name="表格 9">
            <a:extLst>
              <a:ext uri="{FF2B5EF4-FFF2-40B4-BE49-F238E27FC236}">
                <a16:creationId xmlns:a16="http://schemas.microsoft.com/office/drawing/2014/main" id="{47F542D6-9A3C-17C7-33E6-1CA998443E23}"/>
              </a:ext>
            </a:extLst>
          </p:cNvPr>
          <p:cNvGraphicFramePr>
            <a:graphicFrameLocks noGrp="1"/>
          </p:cNvGraphicFramePr>
          <p:nvPr>
            <p:extLst>
              <p:ext uri="{D42A27DB-BD31-4B8C-83A1-F6EECF244321}">
                <p14:modId xmlns:p14="http://schemas.microsoft.com/office/powerpoint/2010/main" val="3915740405"/>
              </p:ext>
            </p:extLst>
          </p:nvPr>
        </p:nvGraphicFramePr>
        <p:xfrm>
          <a:off x="979435" y="4185690"/>
          <a:ext cx="5276986" cy="4380795"/>
        </p:xfrm>
        <a:graphic>
          <a:graphicData uri="http://schemas.openxmlformats.org/drawingml/2006/table">
            <a:tbl>
              <a:tblPr firstRow="1" bandRow="1">
                <a:tableStyleId>{5C22544A-7EE6-4342-B048-85BDC9FD1C3A}</a:tableStyleId>
              </a:tblPr>
              <a:tblGrid>
                <a:gridCol w="1811891">
                  <a:extLst>
                    <a:ext uri="{9D8B030D-6E8A-4147-A177-3AD203B41FA5}">
                      <a16:colId xmlns:a16="http://schemas.microsoft.com/office/drawing/2014/main" val="4232419386"/>
                    </a:ext>
                  </a:extLst>
                </a:gridCol>
                <a:gridCol w="3465095">
                  <a:extLst>
                    <a:ext uri="{9D8B030D-6E8A-4147-A177-3AD203B41FA5}">
                      <a16:colId xmlns:a16="http://schemas.microsoft.com/office/drawing/2014/main" val="391464811"/>
                    </a:ext>
                  </a:extLst>
                </a:gridCol>
              </a:tblGrid>
              <a:tr h="402261">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TW" altLang="en-US" sz="1300" dirty="0"/>
                        <a:t>學期</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TW" altLang="en-US" sz="1300" dirty="0"/>
                        <a:t>課程與活動</a:t>
                      </a:r>
                    </a:p>
                  </a:txBody>
                  <a:tcPr/>
                </a:tc>
                <a:extLst>
                  <a:ext uri="{0D108BD9-81ED-4DB2-BD59-A6C34878D82A}">
                    <a16:rowId xmlns:a16="http://schemas.microsoft.com/office/drawing/2014/main" val="4230725160"/>
                  </a:ext>
                </a:extLst>
              </a:tr>
              <a:tr h="5290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b="1" dirty="0"/>
                        <a:t>第一學年</a:t>
                      </a:r>
                    </a:p>
                    <a:p>
                      <a:pPr marL="0" marR="0" lvl="0" indent="0" algn="l" defTabSz="685800" rtl="0" eaLnBrk="1" fontAlgn="auto" latinLnBrk="0" hangingPunct="1">
                        <a:lnSpc>
                          <a:spcPct val="100000"/>
                        </a:lnSpc>
                        <a:spcBef>
                          <a:spcPts val="0"/>
                        </a:spcBef>
                        <a:spcAft>
                          <a:spcPts val="0"/>
                        </a:spcAft>
                        <a:buClrTx/>
                        <a:buSzTx/>
                        <a:buFontTx/>
                        <a:buNone/>
                        <a:tabLst/>
                        <a:defRPr/>
                      </a:pPr>
                      <a:endParaRPr lang="zh-TW" altLang="en-US" sz="1300" dirty="0"/>
                    </a:p>
                  </a:txBody>
                  <a:tcPr/>
                </a:tc>
                <a:tc>
                  <a:txBody>
                    <a:bodyPr/>
                    <a:lstStyle/>
                    <a:p>
                      <a:endParaRPr lang="zh-TW" altLang="en-US" sz="1300" dirty="0"/>
                    </a:p>
                  </a:txBody>
                  <a:tcPr/>
                </a:tc>
                <a:extLst>
                  <a:ext uri="{0D108BD9-81ED-4DB2-BD59-A6C34878D82A}">
                    <a16:rowId xmlns:a16="http://schemas.microsoft.com/office/drawing/2014/main" val="1782072776"/>
                  </a:ext>
                </a:extLst>
              </a:tr>
              <a:tr h="5290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     第一學期</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先修課程：統計學、經濟學、企業管理</a:t>
                      </a:r>
                      <a:r>
                        <a:rPr lang="en-US" altLang="zh-TW" sz="1300" dirty="0"/>
                        <a:t>/</a:t>
                      </a:r>
                      <a:r>
                        <a:rPr lang="zh-TW" altLang="en-US" sz="1300" dirty="0"/>
                        <a:t>管理學、會計學</a:t>
                      </a:r>
                    </a:p>
                  </a:txBody>
                  <a:tcPr/>
                </a:tc>
                <a:extLst>
                  <a:ext uri="{0D108BD9-81ED-4DB2-BD59-A6C34878D82A}">
                    <a16:rowId xmlns:a16="http://schemas.microsoft.com/office/drawing/2014/main" val="2309711301"/>
                  </a:ext>
                </a:extLst>
              </a:tr>
              <a:tr h="402261">
                <a:tc>
                  <a:txBody>
                    <a:bodyPr/>
                    <a:lstStyle/>
                    <a:p>
                      <a:endParaRPr lang="zh-TW" altLang="en-US" sz="13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必修課程：國際行銷</a:t>
                      </a:r>
                    </a:p>
                  </a:txBody>
                  <a:tcPr/>
                </a:tc>
                <a:extLst>
                  <a:ext uri="{0D108BD9-81ED-4DB2-BD59-A6C34878D82A}">
                    <a16:rowId xmlns:a16="http://schemas.microsoft.com/office/drawing/2014/main" val="2721119123"/>
                  </a:ext>
                </a:extLst>
              </a:tr>
              <a:tr h="5290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     第二學期</a:t>
                      </a:r>
                    </a:p>
                    <a:p>
                      <a:endParaRPr lang="zh-TW" altLang="en-US" sz="1300" dirty="0"/>
                    </a:p>
                  </a:txBody>
                  <a:tcPr/>
                </a:tc>
                <a:tc>
                  <a:txBody>
                    <a:bodyPr/>
                    <a:lstStyle/>
                    <a:p>
                      <a:r>
                        <a:rPr lang="zh-TW" altLang="en-US" sz="1300" dirty="0"/>
                        <a:t>必修課程：產業分析與創新、企業經營與倫理專題講座、研究方法課程</a:t>
                      </a:r>
                    </a:p>
                  </a:txBody>
                  <a:tcPr/>
                </a:tc>
                <a:extLst>
                  <a:ext uri="{0D108BD9-81ED-4DB2-BD59-A6C34878D82A}">
                    <a16:rowId xmlns:a16="http://schemas.microsoft.com/office/drawing/2014/main" val="1163301975"/>
                  </a:ext>
                </a:extLst>
              </a:tr>
              <a:tr h="40226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b="1" dirty="0"/>
                        <a:t>第二學年</a:t>
                      </a:r>
                    </a:p>
                  </a:txBody>
                  <a:tcPr/>
                </a:tc>
                <a:tc>
                  <a:txBody>
                    <a:bodyPr/>
                    <a:lstStyle/>
                    <a:p>
                      <a:endParaRPr lang="zh-TW" altLang="en-US" sz="1300" dirty="0"/>
                    </a:p>
                  </a:txBody>
                  <a:tcPr/>
                </a:tc>
                <a:extLst>
                  <a:ext uri="{0D108BD9-81ED-4DB2-BD59-A6C34878D82A}">
                    <a16:rowId xmlns:a16="http://schemas.microsoft.com/office/drawing/2014/main" val="2401148144"/>
                  </a:ext>
                </a:extLst>
              </a:tr>
              <a:tr h="5290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     第一學期</a:t>
                      </a:r>
                    </a:p>
                    <a:p>
                      <a:endParaRPr lang="zh-TW" altLang="en-US" sz="13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必修課程：碩士論文研究、企業政策與策略管理</a:t>
                      </a:r>
                    </a:p>
                  </a:txBody>
                  <a:tcPr/>
                </a:tc>
                <a:extLst>
                  <a:ext uri="{0D108BD9-81ED-4DB2-BD59-A6C34878D82A}">
                    <a16:rowId xmlns:a16="http://schemas.microsoft.com/office/drawing/2014/main" val="3760222577"/>
                  </a:ext>
                </a:extLst>
              </a:tr>
              <a:tr h="529002">
                <a:tc>
                  <a:txBody>
                    <a:bodyPr/>
                    <a:lstStyle/>
                    <a:p>
                      <a:endParaRPr lang="zh-TW" altLang="en-US" sz="130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論文準備：題目確定、文獻回顧、資料收集、研究方法設計</a:t>
                      </a:r>
                    </a:p>
                  </a:txBody>
                  <a:tcPr/>
                </a:tc>
                <a:extLst>
                  <a:ext uri="{0D108BD9-81ED-4DB2-BD59-A6C34878D82A}">
                    <a16:rowId xmlns:a16="http://schemas.microsoft.com/office/drawing/2014/main" val="502336184"/>
                  </a:ext>
                </a:extLst>
              </a:tr>
              <a:tr h="52900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     第二學期</a:t>
                      </a:r>
                    </a:p>
                    <a:p>
                      <a:endParaRPr lang="zh-TW" altLang="en-US" sz="13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TW" altLang="en-US" sz="1300" dirty="0"/>
                        <a:t>論文準備：資料分析、結果討論、論文撰寫、初稿完成、修改定稿、口試準備</a:t>
                      </a:r>
                    </a:p>
                  </a:txBody>
                  <a:tcPr/>
                </a:tc>
                <a:extLst>
                  <a:ext uri="{0D108BD9-81ED-4DB2-BD59-A6C34878D82A}">
                    <a16:rowId xmlns:a16="http://schemas.microsoft.com/office/drawing/2014/main" val="2378483332"/>
                  </a:ext>
                </a:extLst>
              </a:tr>
            </a:tbl>
          </a:graphicData>
        </a:graphic>
      </p:graphicFrame>
    </p:spTree>
    <p:extLst>
      <p:ext uri="{BB962C8B-B14F-4D97-AF65-F5344CB8AC3E}">
        <p14:creationId xmlns:p14="http://schemas.microsoft.com/office/powerpoint/2010/main" val="92893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C3BBD63B-77BA-CA3A-51F7-EA9761742F51}"/>
              </a:ext>
            </a:extLst>
          </p:cNvPr>
          <p:cNvSpPr>
            <a:spLocks noGrp="1"/>
          </p:cNvSpPr>
          <p:nvPr>
            <p:ph idx="1"/>
          </p:nvPr>
        </p:nvSpPr>
        <p:spPr>
          <a:xfrm>
            <a:off x="471488" y="75627"/>
            <a:ext cx="5915025" cy="8846653"/>
          </a:xfrm>
        </p:spPr>
        <p:txBody>
          <a:bodyPr>
            <a:normAutofit/>
          </a:bodyPr>
          <a:lstStyle/>
          <a:p>
            <a:r>
              <a:rPr lang="en-US" altLang="zh-TW" sz="1050" b="0" i="0" dirty="0">
                <a:solidFill>
                  <a:srgbClr val="474747"/>
                </a:solidFill>
                <a:effectLst/>
                <a:latin typeface="Arial" panose="020B0604020202020204" pitchFamily="34" charset="0"/>
              </a:rPr>
              <a:t>【</a:t>
            </a:r>
            <a:r>
              <a:rPr lang="zh-TW" altLang="en-US" sz="1050" b="0" i="0" dirty="0">
                <a:solidFill>
                  <a:srgbClr val="474747"/>
                </a:solidFill>
                <a:effectLst/>
                <a:latin typeface="Arial" panose="020B0604020202020204" pitchFamily="34" charset="0"/>
              </a:rPr>
              <a:t>工作內容</a:t>
            </a:r>
            <a:r>
              <a:rPr lang="en-US" altLang="zh-TW" sz="1050" b="0" i="0" dirty="0">
                <a:solidFill>
                  <a:srgbClr val="474747"/>
                </a:solidFill>
                <a:effectLst/>
                <a:latin typeface="Arial" panose="020B0604020202020204" pitchFamily="34" charset="0"/>
              </a:rPr>
              <a:t>】</a:t>
            </a:r>
            <a:br>
              <a:rPr lang="zh-TW" altLang="en-US" sz="1050" dirty="0"/>
            </a:br>
            <a:r>
              <a:rPr lang="zh-TW" altLang="en-US" sz="1050" b="0" i="0" dirty="0">
                <a:solidFill>
                  <a:srgbClr val="474747"/>
                </a:solidFill>
                <a:effectLst/>
                <a:latin typeface="Arial" panose="020B0604020202020204" pitchFamily="34" charset="0"/>
              </a:rPr>
              <a:t>　</a:t>
            </a:r>
            <a:r>
              <a:rPr lang="en-US" altLang="zh-TW" sz="1050" b="0" i="0" dirty="0">
                <a:solidFill>
                  <a:srgbClr val="474747"/>
                </a:solidFill>
                <a:effectLst/>
                <a:latin typeface="Arial" panose="020B0604020202020204" pitchFamily="34" charset="0"/>
              </a:rPr>
              <a:t>1. </a:t>
            </a:r>
            <a:r>
              <a:rPr lang="zh-TW" altLang="en-US" sz="1050" b="0" i="0" dirty="0">
                <a:solidFill>
                  <a:srgbClr val="474747"/>
                </a:solidFill>
                <a:effectLst/>
                <a:latin typeface="Arial" panose="020B0604020202020204" pitchFamily="34" charset="0"/>
              </a:rPr>
              <a:t>各種產品類型之封裝設計及規畫。</a:t>
            </a:r>
            <a:br>
              <a:rPr lang="zh-TW" altLang="en-US" sz="1050" dirty="0"/>
            </a:br>
            <a:r>
              <a:rPr lang="zh-TW" altLang="en-US" sz="1050" b="0" i="0" dirty="0">
                <a:solidFill>
                  <a:srgbClr val="474747"/>
                </a:solidFill>
                <a:effectLst/>
                <a:latin typeface="Arial" panose="020B0604020202020204" pitchFamily="34" charset="0"/>
              </a:rPr>
              <a:t>　</a:t>
            </a:r>
            <a:r>
              <a:rPr lang="en-US" altLang="zh-TW" sz="1050" b="0" i="0" dirty="0">
                <a:solidFill>
                  <a:srgbClr val="474747"/>
                </a:solidFill>
                <a:effectLst/>
                <a:latin typeface="Arial" panose="020B0604020202020204" pitchFamily="34" charset="0"/>
              </a:rPr>
              <a:t>2. BGA substrate</a:t>
            </a:r>
            <a:r>
              <a:rPr lang="zh-TW" altLang="en-US" sz="1050" b="0" i="0" dirty="0">
                <a:solidFill>
                  <a:srgbClr val="474747"/>
                </a:solidFill>
                <a:effectLst/>
                <a:latin typeface="Arial" panose="020B0604020202020204" pitchFamily="34" charset="0"/>
              </a:rPr>
              <a:t>設計及佈局。</a:t>
            </a:r>
            <a:br>
              <a:rPr lang="zh-TW" altLang="en-US" sz="1050" dirty="0"/>
            </a:br>
            <a:r>
              <a:rPr lang="zh-TW" altLang="en-US" sz="1050" b="0" i="0" dirty="0">
                <a:solidFill>
                  <a:srgbClr val="474747"/>
                </a:solidFill>
                <a:effectLst/>
                <a:latin typeface="Arial" panose="020B0604020202020204" pitchFamily="34" charset="0"/>
              </a:rPr>
              <a:t>　</a:t>
            </a:r>
            <a:r>
              <a:rPr lang="en-US" altLang="zh-TW" sz="1050" b="0" i="0" dirty="0">
                <a:solidFill>
                  <a:srgbClr val="474747"/>
                </a:solidFill>
                <a:effectLst/>
                <a:latin typeface="Arial" panose="020B0604020202020204" pitchFamily="34" charset="0"/>
              </a:rPr>
              <a:t>3. </a:t>
            </a:r>
            <a:r>
              <a:rPr lang="zh-TW" altLang="en-US" sz="1050" b="0" i="0" dirty="0">
                <a:solidFill>
                  <a:srgbClr val="474747"/>
                </a:solidFill>
                <a:effectLst/>
                <a:latin typeface="Arial" panose="020B0604020202020204" pitchFamily="34" charset="0"/>
              </a:rPr>
              <a:t>與封裝廠合作，完成封裝圖面設計。</a:t>
            </a:r>
            <a:br>
              <a:rPr lang="zh-TW" altLang="en-US" sz="1050" dirty="0"/>
            </a:br>
            <a:r>
              <a:rPr lang="zh-TW" altLang="en-US" sz="1050" b="0" i="0" dirty="0">
                <a:solidFill>
                  <a:srgbClr val="474747"/>
                </a:solidFill>
                <a:effectLst/>
                <a:latin typeface="Arial" panose="020B0604020202020204" pitchFamily="34" charset="0"/>
              </a:rPr>
              <a:t>　</a:t>
            </a:r>
            <a:r>
              <a:rPr lang="en-US" altLang="zh-TW" sz="1050" b="0" i="0" dirty="0">
                <a:solidFill>
                  <a:srgbClr val="474747"/>
                </a:solidFill>
                <a:effectLst/>
                <a:latin typeface="Arial" panose="020B0604020202020204" pitchFamily="34" charset="0"/>
              </a:rPr>
              <a:t>4. </a:t>
            </a:r>
            <a:r>
              <a:rPr lang="zh-TW" altLang="en-US" sz="1050" b="0" i="0" dirty="0">
                <a:solidFill>
                  <a:srgbClr val="474747"/>
                </a:solidFill>
                <a:effectLst/>
                <a:latin typeface="Arial" panose="020B0604020202020204" pitchFamily="34" charset="0"/>
              </a:rPr>
              <a:t>先進封裝技術之開發。</a:t>
            </a:r>
            <a:br>
              <a:rPr lang="zh-TW" altLang="en-US" sz="1050" dirty="0"/>
            </a:br>
            <a:r>
              <a:rPr lang="zh-TW" altLang="en-US" sz="1050" b="0" i="0" dirty="0">
                <a:solidFill>
                  <a:srgbClr val="474747"/>
                </a:solidFill>
                <a:effectLst/>
                <a:latin typeface="Arial" panose="020B0604020202020204" pitchFamily="34" charset="0"/>
              </a:rPr>
              <a:t>　</a:t>
            </a:r>
            <a:r>
              <a:rPr lang="en-US" altLang="zh-TW" sz="1050" b="0" i="0" dirty="0">
                <a:solidFill>
                  <a:srgbClr val="474747"/>
                </a:solidFill>
                <a:effectLst/>
                <a:latin typeface="Arial" panose="020B0604020202020204" pitchFamily="34" charset="0"/>
              </a:rPr>
              <a:t>5. </a:t>
            </a:r>
            <a:r>
              <a:rPr lang="zh-TW" altLang="en-US" sz="1050" b="0" i="0" dirty="0">
                <a:solidFill>
                  <a:srgbClr val="474747"/>
                </a:solidFill>
                <a:effectLst/>
                <a:latin typeface="Arial" panose="020B0604020202020204" pitchFamily="34" charset="0"/>
              </a:rPr>
              <a:t>封裝設計平台之開發。</a:t>
            </a:r>
            <a:endParaRPr lang="en-US" altLang="zh-TW" sz="1050" b="0" i="0" dirty="0">
              <a:solidFill>
                <a:srgbClr val="474747"/>
              </a:solidFill>
              <a:effectLst/>
              <a:latin typeface="Arial" panose="020B0604020202020204" pitchFamily="34" charset="0"/>
            </a:endParaRPr>
          </a:p>
          <a:p>
            <a:r>
              <a:rPr lang="en-US" altLang="zh-TW" sz="900" b="0" i="0" dirty="0">
                <a:solidFill>
                  <a:srgbClr val="474747"/>
                </a:solidFill>
                <a:effectLst/>
                <a:latin typeface="Arial" panose="020B0604020202020204" pitchFamily="34" charset="0"/>
              </a:rPr>
              <a:t>【</a:t>
            </a:r>
            <a:r>
              <a:rPr lang="zh-TW" altLang="en-US" sz="900" b="0" i="0" dirty="0">
                <a:solidFill>
                  <a:srgbClr val="474747"/>
                </a:solidFill>
                <a:effectLst/>
                <a:latin typeface="Arial" panose="020B0604020202020204" pitchFamily="34" charset="0"/>
              </a:rPr>
              <a:t>工作內容</a:t>
            </a:r>
            <a:r>
              <a:rPr lang="en-US" altLang="zh-TW" sz="900" b="0" i="0" dirty="0">
                <a:solidFill>
                  <a:srgbClr val="474747"/>
                </a:solidFill>
                <a:effectLst/>
                <a:latin typeface="Arial" panose="020B0604020202020204" pitchFamily="34" charset="0"/>
              </a:rPr>
              <a:t>】</a:t>
            </a:r>
            <a:br>
              <a:rPr lang="zh-TW" altLang="en-US" sz="900" dirty="0"/>
            </a:br>
            <a:r>
              <a:rPr lang="zh-TW" altLang="en-US" sz="900" b="0" i="0" dirty="0">
                <a:solidFill>
                  <a:srgbClr val="474747"/>
                </a:solidFill>
                <a:effectLst/>
                <a:latin typeface="Arial" panose="020B0604020202020204" pitchFamily="34" charset="0"/>
              </a:rPr>
              <a:t>　</a:t>
            </a:r>
            <a:r>
              <a:rPr lang="en-US" altLang="zh-TW" sz="900" b="0" i="0" dirty="0">
                <a:solidFill>
                  <a:srgbClr val="474747"/>
                </a:solidFill>
                <a:effectLst/>
                <a:latin typeface="Arial" panose="020B0604020202020204" pitchFamily="34" charset="0"/>
              </a:rPr>
              <a:t>1. IC</a:t>
            </a:r>
            <a:r>
              <a:rPr lang="zh-TW" altLang="en-US" sz="900" b="0" i="0" dirty="0">
                <a:solidFill>
                  <a:srgbClr val="474747"/>
                </a:solidFill>
                <a:effectLst/>
                <a:latin typeface="Arial" panose="020B0604020202020204" pitchFamily="34" charset="0"/>
              </a:rPr>
              <a:t>封裝</a:t>
            </a:r>
            <a:r>
              <a:rPr lang="en-US" altLang="zh-TW" sz="900" b="0" i="0" dirty="0">
                <a:solidFill>
                  <a:srgbClr val="474747"/>
                </a:solidFill>
                <a:effectLst/>
                <a:latin typeface="Arial" panose="020B0604020202020204" pitchFamily="34" charset="0"/>
              </a:rPr>
              <a:t>/</a:t>
            </a:r>
            <a:r>
              <a:rPr lang="zh-TW" altLang="en-US" sz="900" b="0" i="0" dirty="0">
                <a:solidFill>
                  <a:srgbClr val="474747"/>
                </a:solidFill>
                <a:effectLst/>
                <a:latin typeface="Arial" panose="020B0604020202020204" pitchFamily="34" charset="0"/>
              </a:rPr>
              <a:t>晶圓凸塊技術開發與管理</a:t>
            </a:r>
            <a:br>
              <a:rPr lang="zh-TW" altLang="en-US" sz="900" dirty="0"/>
            </a:br>
            <a:r>
              <a:rPr lang="zh-TW" altLang="en-US" sz="900" b="0" i="0" dirty="0">
                <a:solidFill>
                  <a:srgbClr val="474747"/>
                </a:solidFill>
                <a:effectLst/>
                <a:latin typeface="Arial" panose="020B0604020202020204" pitchFamily="34" charset="0"/>
              </a:rPr>
              <a:t>　</a:t>
            </a:r>
            <a:r>
              <a:rPr lang="en-US" altLang="zh-TW" sz="900" b="0" i="0" dirty="0">
                <a:solidFill>
                  <a:srgbClr val="474747"/>
                </a:solidFill>
                <a:effectLst/>
                <a:latin typeface="Arial" panose="020B0604020202020204" pitchFamily="34" charset="0"/>
              </a:rPr>
              <a:t>2. </a:t>
            </a:r>
            <a:r>
              <a:rPr lang="zh-TW" altLang="en-US" sz="900" b="0" i="0" dirty="0">
                <a:solidFill>
                  <a:srgbClr val="474747"/>
                </a:solidFill>
                <a:effectLst/>
                <a:latin typeface="Arial" panose="020B0604020202020204" pitchFamily="34" charset="0"/>
              </a:rPr>
              <a:t>與封裝廠合作完成規劃之技術開發</a:t>
            </a:r>
            <a:br>
              <a:rPr lang="zh-TW" altLang="en-US" sz="900" dirty="0"/>
            </a:br>
            <a:r>
              <a:rPr lang="zh-TW" altLang="en-US" sz="900" b="0" i="0" dirty="0">
                <a:solidFill>
                  <a:srgbClr val="474747"/>
                </a:solidFill>
                <a:effectLst/>
                <a:latin typeface="Arial" panose="020B0604020202020204" pitchFamily="34" charset="0"/>
              </a:rPr>
              <a:t>　</a:t>
            </a:r>
            <a:r>
              <a:rPr lang="en-US" altLang="zh-TW" sz="900" b="0" i="0" dirty="0">
                <a:solidFill>
                  <a:srgbClr val="474747"/>
                </a:solidFill>
                <a:effectLst/>
                <a:latin typeface="Arial" panose="020B0604020202020204" pitchFamily="34" charset="0"/>
              </a:rPr>
              <a:t>3. </a:t>
            </a:r>
            <a:r>
              <a:rPr lang="zh-TW" altLang="en-US" sz="900" b="0" i="0" dirty="0">
                <a:solidFill>
                  <a:srgbClr val="474747"/>
                </a:solidFill>
                <a:effectLst/>
                <a:latin typeface="Arial" panose="020B0604020202020204" pitchFamily="34" charset="0"/>
              </a:rPr>
              <a:t>先進封裝技術開發</a:t>
            </a:r>
            <a:r>
              <a:rPr lang="en-US" altLang="zh-TW" sz="900" b="0" i="0" dirty="0">
                <a:solidFill>
                  <a:srgbClr val="474747"/>
                </a:solidFill>
                <a:effectLst/>
                <a:latin typeface="Arial" panose="020B0604020202020204" pitchFamily="34" charset="0"/>
              </a:rPr>
              <a:t>,</a:t>
            </a:r>
            <a:r>
              <a:rPr lang="zh-TW" altLang="en-US" sz="900" b="0" i="0" dirty="0">
                <a:solidFill>
                  <a:srgbClr val="474747"/>
                </a:solidFill>
                <a:effectLst/>
                <a:latin typeface="Arial" panose="020B0604020202020204" pitchFamily="34" charset="0"/>
              </a:rPr>
              <a:t>驗證與生產良率管理</a:t>
            </a:r>
            <a:br>
              <a:rPr lang="zh-TW" altLang="en-US" sz="900" dirty="0"/>
            </a:br>
            <a:r>
              <a:rPr lang="zh-TW" altLang="en-US" sz="900" b="0" i="0" dirty="0">
                <a:solidFill>
                  <a:srgbClr val="474747"/>
                </a:solidFill>
                <a:effectLst/>
                <a:latin typeface="Arial" panose="020B0604020202020204" pitchFamily="34" charset="0"/>
              </a:rPr>
              <a:t>　</a:t>
            </a:r>
            <a:r>
              <a:rPr lang="en-US" altLang="zh-TW" sz="900" b="0" i="0" dirty="0">
                <a:solidFill>
                  <a:srgbClr val="474747"/>
                </a:solidFill>
                <a:effectLst/>
                <a:latin typeface="Arial" panose="020B0604020202020204" pitchFamily="34" charset="0"/>
              </a:rPr>
              <a:t>4. </a:t>
            </a:r>
            <a:r>
              <a:rPr lang="zh-TW" altLang="en-US" sz="900" b="0" i="0" dirty="0">
                <a:solidFill>
                  <a:srgbClr val="474747"/>
                </a:solidFill>
                <a:effectLst/>
                <a:latin typeface="Arial" panose="020B0604020202020204" pitchFamily="34" charset="0"/>
              </a:rPr>
              <a:t>定期與不定期執行</a:t>
            </a:r>
            <a:r>
              <a:rPr lang="en-US" altLang="zh-TW" sz="900" b="0" i="0" dirty="0">
                <a:solidFill>
                  <a:srgbClr val="474747"/>
                </a:solidFill>
                <a:effectLst/>
                <a:latin typeface="Arial" panose="020B0604020202020204" pitchFamily="34" charset="0"/>
              </a:rPr>
              <a:t>bumping/fan-out/WLCSP</a:t>
            </a:r>
            <a:r>
              <a:rPr lang="zh-TW" altLang="en-US" sz="900" b="0" i="0" dirty="0">
                <a:solidFill>
                  <a:srgbClr val="474747"/>
                </a:solidFill>
                <a:effectLst/>
                <a:latin typeface="Arial" panose="020B0604020202020204" pitchFamily="34" charset="0"/>
              </a:rPr>
              <a:t>廠品質稽核</a:t>
            </a:r>
            <a:endParaRPr lang="en-US" altLang="zh-TW" sz="1050" dirty="0">
              <a:solidFill>
                <a:srgbClr val="474747"/>
              </a:solidFill>
              <a:latin typeface="Arial" panose="020B0604020202020204" pitchFamily="34" charset="0"/>
            </a:endParaRPr>
          </a:p>
        </p:txBody>
      </p:sp>
      <p:pic>
        <p:nvPicPr>
          <p:cNvPr id="4" name="圖片 3">
            <a:extLst>
              <a:ext uri="{FF2B5EF4-FFF2-40B4-BE49-F238E27FC236}">
                <a16:creationId xmlns:a16="http://schemas.microsoft.com/office/drawing/2014/main" id="{446C3E20-2C32-6545-BFF0-2F9AB838184F}"/>
              </a:ext>
            </a:extLst>
          </p:cNvPr>
          <p:cNvPicPr>
            <a:picLocks noChangeAspect="1"/>
          </p:cNvPicPr>
          <p:nvPr/>
        </p:nvPicPr>
        <p:blipFill>
          <a:blip r:embed="rId2"/>
          <a:stretch>
            <a:fillRect/>
          </a:stretch>
        </p:blipFill>
        <p:spPr>
          <a:xfrm>
            <a:off x="602456" y="2017804"/>
            <a:ext cx="3714286" cy="2419048"/>
          </a:xfrm>
          <a:prstGeom prst="rect">
            <a:avLst/>
          </a:prstGeom>
        </p:spPr>
      </p:pic>
      <p:sp>
        <p:nvSpPr>
          <p:cNvPr id="7" name="Rectangle 2">
            <a:extLst>
              <a:ext uri="{FF2B5EF4-FFF2-40B4-BE49-F238E27FC236}">
                <a16:creationId xmlns:a16="http://schemas.microsoft.com/office/drawing/2014/main" id="{FF6CF202-DE5C-ABD8-6797-653B6EC21EE4}"/>
              </a:ext>
            </a:extLst>
          </p:cNvPr>
          <p:cNvSpPr>
            <a:spLocks noChangeArrowheads="1"/>
          </p:cNvSpPr>
          <p:nvPr/>
        </p:nvSpPr>
        <p:spPr bwMode="auto">
          <a:xfrm>
            <a:off x="405636" y="4478508"/>
            <a:ext cx="5424524"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[2009~2015]--</a:t>
            </a: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國內</a:t>
            </a:r>
            <a:r>
              <a:rPr kumimoji="0" lang="en-US" altLang="zh-TW"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a:t>
            </a: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國外業務</a:t>
            </a:r>
            <a:br>
              <a:rPr kumimoji="0" lang="zh-TW" altLang="en-US" sz="900" b="0" i="0" u="none" strike="noStrike" cap="none" normalizeH="0" baseline="0" dirty="0">
                <a:ln>
                  <a:noFill/>
                </a:ln>
                <a:solidFill>
                  <a:srgbClr val="333333"/>
                </a:solidFill>
                <a:effectLst/>
                <a:ea typeface="Arial" panose="020B0604020202020204" pitchFamily="34" charset="0"/>
              </a:rPr>
            </a:b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主要負責客戶關係維護、新產品導入、掌握產品設計製程及產量狀況、蒐集業界市場資訊、訂單處理、交期確認、產能配置協調、客戶資訊調查、搜集市場資訊、分析市場情報、</a:t>
            </a:r>
            <a:r>
              <a:rPr kumimoji="0" lang="en-US" altLang="zh-TW"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ISO</a:t>
            </a: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稽核、產品異常處置協調．</a:t>
            </a:r>
            <a:br>
              <a:rPr kumimoji="0" lang="zh-TW" altLang="en-US" sz="900" b="0" i="0" u="none" strike="noStrike" cap="none" normalizeH="0" baseline="0" dirty="0">
                <a:ln>
                  <a:noFill/>
                </a:ln>
                <a:solidFill>
                  <a:srgbClr val="333333"/>
                </a:solidFill>
                <a:effectLst/>
                <a:ea typeface="Arial" panose="020B0604020202020204" pitchFamily="34" charset="0"/>
              </a:rPr>
            </a:br>
            <a:r>
              <a:rPr kumimoji="0" lang="en-US" altLang="zh-TW"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[2007~2008]-</a:t>
            </a: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秘書</a:t>
            </a:r>
            <a:br>
              <a:rPr kumimoji="0" lang="zh-TW" altLang="en-US" sz="900" b="0" i="0" u="none" strike="noStrike" cap="none" normalizeH="0" baseline="0" dirty="0">
                <a:ln>
                  <a:noFill/>
                </a:ln>
                <a:solidFill>
                  <a:srgbClr val="333333"/>
                </a:solidFill>
                <a:effectLst/>
                <a:ea typeface="Arial" panose="020B0604020202020204" pitchFamily="34" charset="0"/>
              </a:rPr>
            </a:b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主管交辦事務、接待外賓、同仁差旅代辦、部門預算編制、部門尾牙籌劃表演、製作部門自檢表、</a:t>
            </a:r>
            <a:r>
              <a:rPr kumimoji="0" lang="en-US" altLang="zh-TW"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invoice</a:t>
            </a: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處理、國內參展接待人員、環安衛及</a:t>
            </a:r>
            <a:r>
              <a:rPr kumimoji="0" lang="en-US" altLang="zh-TW"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ISO</a:t>
            </a:r>
            <a:r>
              <a:rPr kumimoji="0" lang="zh-TW" altLang="en-US" sz="900" b="0" i="0" u="none" strike="noStrike" cap="none" normalizeH="0" baseline="0" dirty="0">
                <a:ln>
                  <a:noFill/>
                </a:ln>
                <a:solidFill>
                  <a:srgbClr val="333333"/>
                </a:solidFill>
                <a:effectLst/>
                <a:latin typeface="Times New Roman" panose="02020603050405020304" pitchFamily="18" charset="0"/>
                <a:ea typeface="Arial Unicode MS"/>
                <a:cs typeface="Arial Unicode MS"/>
              </a:rPr>
              <a:t>文件之修訂、外部勞氏稽核</a:t>
            </a:r>
            <a:br>
              <a:rPr kumimoji="0" lang="zh-TW" altLang="en-US" sz="900" b="0" i="0" u="none" strike="noStrike" cap="none" normalizeH="0" baseline="0" dirty="0">
                <a:ln>
                  <a:noFill/>
                </a:ln>
                <a:solidFill>
                  <a:srgbClr val="333333"/>
                </a:solidFill>
                <a:effectLst/>
                <a:ea typeface="Arial" panose="020B0604020202020204" pitchFamily="34" charset="0"/>
              </a:rPr>
            </a:br>
            <a:r>
              <a:rPr kumimoji="0" lang="zh-TW" altLang="en-US"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a:t>
            </a:r>
            <a:br>
              <a:rPr kumimoji="0" lang="zh-TW" altLang="en-US"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[2013Y~2015Y ]—Foundry sales</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Work contents :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1. Customer’s relationships.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2. New product introduction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3. New product type out plan</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4. Research and analyze related industry market data</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5. Order confirmation</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6. Delivery arrangement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7. Capacity allocation and coordination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8. RMA service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9. Customer ISO audits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[2009Y ]—Sales (Japan)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Since </a:t>
            </a:r>
            <a:r>
              <a:rPr kumimoji="0" lang="en-US" altLang="zh-TW" sz="900" b="0" i="0" u="none" strike="noStrike" cap="none" normalizeH="0" baseline="0" dirty="0" err="1">
                <a:ln>
                  <a:noFill/>
                </a:ln>
                <a:solidFill>
                  <a:srgbClr val="333333"/>
                </a:solidFill>
                <a:effectLst/>
                <a:latin typeface="Arial" panose="020B0604020202020204" pitchFamily="34" charset="0"/>
                <a:ea typeface="Arial" panose="020B0604020202020204" pitchFamily="34" charset="0"/>
              </a:rPr>
              <a:t>Elpida</a:t>
            </a: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 is a major customer of </a:t>
            </a:r>
            <a:r>
              <a:rPr kumimoji="0" lang="en-US" altLang="zh-TW" sz="900" b="0" i="0" u="none" strike="noStrike" cap="none" normalizeH="0" baseline="0" dirty="0" err="1">
                <a:ln>
                  <a:noFill/>
                </a:ln>
                <a:solidFill>
                  <a:srgbClr val="333333"/>
                </a:solidFill>
                <a:effectLst/>
                <a:latin typeface="Arial" panose="020B0604020202020204" pitchFamily="34" charset="0"/>
                <a:ea typeface="Arial" panose="020B0604020202020204" pitchFamily="34" charset="0"/>
              </a:rPr>
              <a:t>Powerchip</a:t>
            </a: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 supervisor asked me to responsible for </a:t>
            </a:r>
            <a:r>
              <a:rPr kumimoji="0" lang="en-US" altLang="zh-TW" sz="900" b="0" i="0" u="none" strike="noStrike" cap="none" normalizeH="0" baseline="0" dirty="0" err="1">
                <a:ln>
                  <a:noFill/>
                </a:ln>
                <a:solidFill>
                  <a:srgbClr val="333333"/>
                </a:solidFill>
                <a:effectLst/>
                <a:latin typeface="Arial" panose="020B0604020202020204" pitchFamily="34" charset="0"/>
                <a:ea typeface="Arial" panose="020B0604020202020204" pitchFamily="34" charset="0"/>
              </a:rPr>
              <a:t>Powerchip</a:t>
            </a: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 /</a:t>
            </a:r>
            <a:r>
              <a:rPr kumimoji="0" lang="en-US" altLang="zh-TW" sz="900" b="0" i="0" u="none" strike="noStrike" cap="none" normalizeH="0" baseline="0" dirty="0" err="1">
                <a:ln>
                  <a:noFill/>
                </a:ln>
                <a:solidFill>
                  <a:srgbClr val="333333"/>
                </a:solidFill>
                <a:effectLst/>
                <a:latin typeface="Arial" panose="020B0604020202020204" pitchFamily="34" charset="0"/>
                <a:ea typeface="Arial" panose="020B0604020202020204" pitchFamily="34" charset="0"/>
              </a:rPr>
              <a:t>Elpida</a:t>
            </a: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 </a:t>
            </a:r>
            <a:r>
              <a:rPr kumimoji="0" lang="en-US" altLang="zh-TW" sz="900" b="0" i="0" u="none" strike="noStrike" cap="none" normalizeH="0" baseline="0" dirty="0" err="1">
                <a:ln>
                  <a:noFill/>
                </a:ln>
                <a:solidFill>
                  <a:srgbClr val="333333"/>
                </a:solidFill>
                <a:effectLst/>
                <a:latin typeface="Arial" panose="020B0604020202020204" pitchFamily="34" charset="0"/>
                <a:ea typeface="Arial" panose="020B0604020202020204" pitchFamily="34" charset="0"/>
              </a:rPr>
              <a:t>Rexchip</a:t>
            </a: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 business. </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t>*</a:t>
            </a: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br>
              <a:rPr kumimoji="0" lang="en-US" altLang="zh-TW" sz="900" b="0" i="0" u="none" strike="noStrike" cap="none" normalizeH="0" baseline="0" dirty="0">
                <a:ln>
                  <a:noFill/>
                </a:ln>
                <a:solidFill>
                  <a:srgbClr val="333333"/>
                </a:solidFill>
                <a:effectLst/>
                <a:latin typeface="Arial" panose="020B0604020202020204" pitchFamily="34" charset="0"/>
                <a:ea typeface="Arial" panose="020B0604020202020204" pitchFamily="34" charset="0"/>
              </a:rPr>
            </a:br>
            <a:endParaRPr kumimoji="0" lang="en-US" altLang="zh-TW"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2905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2117-AEA1-C65D-5220-CADC471484EC}"/>
            </a:ext>
          </a:extLst>
        </p:cNvPr>
        <p:cNvGrpSpPr/>
        <p:nvPr/>
      </p:nvGrpSpPr>
      <p:grpSpPr>
        <a:xfrm>
          <a:off x="0" y="0"/>
          <a:ext cx="0" cy="0"/>
          <a:chOff x="0" y="0"/>
          <a:chExt cx="0" cy="0"/>
        </a:xfrm>
      </p:grpSpPr>
      <p:sp>
        <p:nvSpPr>
          <p:cNvPr id="7" name="文字方塊 6">
            <a:extLst>
              <a:ext uri="{FF2B5EF4-FFF2-40B4-BE49-F238E27FC236}">
                <a16:creationId xmlns:a16="http://schemas.microsoft.com/office/drawing/2014/main" id="{81619B3E-5A3E-10FE-1833-3787EE484F3F}"/>
              </a:ext>
            </a:extLst>
          </p:cNvPr>
          <p:cNvSpPr txBox="1"/>
          <p:nvPr/>
        </p:nvSpPr>
        <p:spPr>
          <a:xfrm>
            <a:off x="433656" y="492721"/>
            <a:ext cx="4336145" cy="1743747"/>
          </a:xfrm>
          <a:prstGeom prst="rect">
            <a:avLst/>
          </a:prstGeom>
          <a:noFill/>
        </p:spPr>
        <p:txBody>
          <a:bodyPr wrap="square">
            <a:spAutoFit/>
          </a:bodyPr>
          <a:lstStyle/>
          <a:p>
            <a:pPr algn="ctr">
              <a:lnSpc>
                <a:spcPct val="166000"/>
              </a:lnSpc>
              <a:spcAft>
                <a:spcPts val="1000"/>
              </a:spcAft>
            </a:pPr>
            <a:r>
              <a:rPr lang="zh-TW" altLang="en-US" sz="3200" b="1" dirty="0">
                <a:effectLst/>
                <a:latin typeface="Calibri" panose="020F0502020204030204" pitchFamily="34" charset="0"/>
                <a:ea typeface="新細明體" panose="02020500000000000000" pitchFamily="18" charset="-120"/>
              </a:rPr>
              <a:t>陳 宛 亭</a:t>
            </a:r>
            <a:r>
              <a:rPr lang="en-US" altLang="zh-TW" sz="3200" b="1" dirty="0">
                <a:effectLst/>
                <a:latin typeface="Calibri" panose="020F0502020204030204" pitchFamily="34" charset="0"/>
                <a:ea typeface="新細明體" panose="02020500000000000000" pitchFamily="18" charset="-120"/>
              </a:rPr>
              <a:t> (Donna)</a:t>
            </a:r>
            <a:endParaRPr lang="en-US" altLang="zh-TW" sz="1800" dirty="0">
              <a:effectLst/>
              <a:latin typeface="Calibri" panose="020F0502020204030204" pitchFamily="34" charset="0"/>
              <a:ea typeface="新細明體" panose="02020500000000000000" pitchFamily="18" charset="-120"/>
            </a:endParaRPr>
          </a:p>
          <a:p>
            <a:pPr algn="ctr">
              <a:lnSpc>
                <a:spcPct val="133000"/>
              </a:lnSpc>
              <a:spcAft>
                <a:spcPts val="1000"/>
              </a:spcAft>
            </a:pPr>
            <a:r>
              <a:rPr lang="en-US" altLang="zh-TW" sz="1800" dirty="0">
                <a:effectLst/>
                <a:latin typeface="Calibri" panose="020F0502020204030204" pitchFamily="34" charset="0"/>
                <a:ea typeface="新細明體" panose="02020500000000000000" pitchFamily="18" charset="-120"/>
              </a:rPr>
              <a:t>donna10241208@gmail.com</a:t>
            </a:r>
            <a:br>
              <a:rPr lang="en-US" altLang="zh-TW" sz="1800" dirty="0">
                <a:effectLst/>
                <a:latin typeface="Calibri" panose="020F0502020204030204" pitchFamily="34" charset="0"/>
                <a:ea typeface="新細明體" panose="02020500000000000000" pitchFamily="18" charset="-120"/>
              </a:rPr>
            </a:br>
            <a:r>
              <a:rPr lang="en-US" altLang="zh-TW" sz="1800" dirty="0">
                <a:effectLst/>
                <a:highlight>
                  <a:srgbClr val="FFFFFF"/>
                </a:highlight>
                <a:latin typeface="Calibri" panose="020F0502020204030204" pitchFamily="34" charset="0"/>
                <a:ea typeface="新細明體" panose="02020500000000000000" pitchFamily="18" charset="-120"/>
              </a:rPr>
              <a:t>TEL: +886-921-321167</a:t>
            </a:r>
            <a:endParaRPr lang="zh-TW" altLang="zh-TW" sz="1600" dirty="0">
              <a:effectLst/>
              <a:latin typeface="Calibri" panose="020F0502020204030204" pitchFamily="34" charset="0"/>
              <a:ea typeface="新細明體" panose="02020500000000000000" pitchFamily="18" charset="-120"/>
            </a:endParaRPr>
          </a:p>
        </p:txBody>
      </p:sp>
      <p:sp>
        <p:nvSpPr>
          <p:cNvPr id="2" name="文字方塊 1">
            <a:extLst>
              <a:ext uri="{FF2B5EF4-FFF2-40B4-BE49-F238E27FC236}">
                <a16:creationId xmlns:a16="http://schemas.microsoft.com/office/drawing/2014/main" id="{71EF91F0-6A85-3AE3-D1FD-C3C61B6EF93D}"/>
              </a:ext>
            </a:extLst>
          </p:cNvPr>
          <p:cNvSpPr txBox="1"/>
          <p:nvPr/>
        </p:nvSpPr>
        <p:spPr>
          <a:xfrm>
            <a:off x="531563" y="2390660"/>
            <a:ext cx="5794873" cy="6447919"/>
          </a:xfrm>
          <a:prstGeom prst="rect">
            <a:avLst/>
          </a:prstGeom>
          <a:noFill/>
        </p:spPr>
        <p:txBody>
          <a:bodyPr wrap="square" rtlCol="0">
            <a:spAutoFit/>
          </a:bodyPr>
          <a:lstStyle/>
          <a:p>
            <a:r>
              <a:rPr lang="zh-TW" altLang="en-US" sz="1400" kern="100" dirty="0">
                <a:effectLst/>
                <a:ea typeface="Arial Unicode MS"/>
                <a:cs typeface="Arial Unicode MS"/>
              </a:rPr>
              <a:t>您好，我的名字</a:t>
            </a:r>
            <a:r>
              <a:rPr lang="zh-TW" altLang="zh-TW" sz="1400" kern="100" dirty="0">
                <a:effectLst/>
                <a:ea typeface="Arial Unicode MS"/>
                <a:cs typeface="Arial Unicode MS"/>
              </a:rPr>
              <a:t>是</a:t>
            </a:r>
            <a:r>
              <a:rPr lang="zh-TW" altLang="en-US" sz="1400" kern="100" dirty="0">
                <a:effectLst/>
                <a:ea typeface="Arial Unicode MS"/>
                <a:cs typeface="Arial Unicode MS"/>
              </a:rPr>
              <a:t>陳</a:t>
            </a:r>
            <a:r>
              <a:rPr lang="zh-TW" altLang="zh-TW" sz="1400" kern="100" dirty="0">
                <a:effectLst/>
                <a:ea typeface="Arial Unicode MS"/>
                <a:cs typeface="Arial Unicode MS"/>
              </a:rPr>
              <a:t>宛亭，畢業於淡江大學</a:t>
            </a:r>
            <a:r>
              <a:rPr lang="zh-TW" altLang="zh-TW" sz="1400" b="1" kern="100" dirty="0">
                <a:effectLst/>
                <a:ea typeface="Arial Unicode MS"/>
                <a:cs typeface="Arial Unicode MS"/>
              </a:rPr>
              <a:t>統計系</a:t>
            </a:r>
            <a:r>
              <a:rPr lang="zh-TW" altLang="zh-TW" sz="1400" kern="100" dirty="0">
                <a:effectLst/>
                <a:ea typeface="Arial Unicode MS"/>
                <a:cs typeface="Arial Unicode MS"/>
              </a:rPr>
              <a:t>，工作年資</a:t>
            </a:r>
            <a:r>
              <a:rPr lang="en-US" altLang="zh-TW" sz="1400" kern="100" dirty="0">
                <a:effectLst/>
                <a:ea typeface="Arial Unicode MS"/>
                <a:cs typeface="Arial Unicode MS"/>
              </a:rPr>
              <a:t>19</a:t>
            </a:r>
            <a:r>
              <a:rPr lang="zh-TW" altLang="zh-TW" sz="1400" kern="100" dirty="0">
                <a:effectLst/>
                <a:ea typeface="Arial Unicode MS"/>
                <a:cs typeface="Arial Unicode MS"/>
              </a:rPr>
              <a:t>年。</a:t>
            </a:r>
            <a:r>
              <a:rPr lang="zh-TW" altLang="en-US" sz="1400" kern="100" dirty="0">
                <a:ea typeface="Arial Unicode MS"/>
                <a:cs typeface="Arial Unicode MS"/>
              </a:rPr>
              <a:t>最喜歡的休閒活動是旅行及瑜珈</a:t>
            </a:r>
            <a:r>
              <a:rPr lang="zh-TW" altLang="zh-TW" sz="1800" kern="100" dirty="0">
                <a:effectLst/>
                <a:ea typeface="Arial Unicode MS"/>
                <a:cs typeface="Arial Unicode MS"/>
              </a:rPr>
              <a:t>。</a:t>
            </a:r>
            <a:endParaRPr lang="en-US" altLang="zh-TW" sz="1800" kern="100" dirty="0">
              <a:effectLst/>
              <a:ea typeface="Arial Unicode MS"/>
              <a:cs typeface="Arial Unicode MS"/>
            </a:endParaRPr>
          </a:p>
          <a:p>
            <a:endParaRPr lang="en-US" altLang="zh-TW" kern="100" dirty="0"/>
          </a:p>
          <a:p>
            <a:r>
              <a:rPr lang="zh-TW" altLang="en-US" sz="1400" kern="100" dirty="0"/>
              <a:t>目前任職於</a:t>
            </a:r>
            <a:r>
              <a:rPr lang="zh-TW" altLang="en-US" sz="1400" b="1" kern="100" dirty="0"/>
              <a:t>聯發科技製造部－擔任封裝部門工程師</a:t>
            </a:r>
            <a:r>
              <a:rPr lang="zh-TW" altLang="en-US" sz="1400" kern="100" dirty="0"/>
              <a:t>一職，</a:t>
            </a:r>
            <a:endParaRPr lang="en-US" altLang="zh-TW" sz="1400" kern="100" dirty="0"/>
          </a:p>
          <a:p>
            <a:endParaRPr lang="en-US" altLang="zh-TW" sz="1400" kern="100" dirty="0"/>
          </a:p>
          <a:p>
            <a:r>
              <a:rPr lang="zh-TW" altLang="en-US" sz="1400" kern="100" dirty="0">
                <a:effectLst/>
                <a:ea typeface="Arial Unicode MS"/>
                <a:cs typeface="Arial Unicode MS"/>
              </a:rPr>
              <a:t>於聯發科技報到前</a:t>
            </a:r>
            <a:r>
              <a:rPr lang="zh-TW" altLang="en-US" sz="1400" kern="100" dirty="0">
                <a:ea typeface="Arial Unicode MS"/>
                <a:cs typeface="Arial Unicode MS"/>
              </a:rPr>
              <a:t>，宛亭曾</a:t>
            </a:r>
            <a:r>
              <a:rPr lang="zh-TW" altLang="zh-TW" sz="1400" kern="100" dirty="0">
                <a:effectLst/>
                <a:ea typeface="Arial Unicode MS"/>
                <a:cs typeface="Arial Unicode MS"/>
              </a:rPr>
              <a:t>至菲律賓語言學校</a:t>
            </a:r>
            <a:r>
              <a:rPr lang="en-US" altLang="zh-TW" sz="1400" kern="100" dirty="0">
                <a:effectLst/>
                <a:ea typeface="Arial Unicode MS"/>
                <a:cs typeface="Arial Unicode MS"/>
              </a:rPr>
              <a:t>(ESL)</a:t>
            </a:r>
            <a:r>
              <a:rPr lang="zh-TW" altLang="zh-TW" sz="1400" kern="100" dirty="0">
                <a:effectLst/>
                <a:ea typeface="Arial Unicode MS"/>
                <a:cs typeface="Arial Unicode MS"/>
              </a:rPr>
              <a:t>進修英文</a:t>
            </a:r>
            <a:r>
              <a:rPr lang="zh-TW" altLang="en-US" sz="1400" kern="100" dirty="0">
                <a:effectLst/>
                <a:ea typeface="Arial Unicode MS"/>
                <a:cs typeface="Arial Unicode MS"/>
              </a:rPr>
              <a:t>，</a:t>
            </a:r>
            <a:r>
              <a:rPr lang="zh-TW" altLang="zh-TW" sz="1400" kern="100" dirty="0">
                <a:effectLst/>
                <a:ea typeface="Arial Unicode MS"/>
                <a:cs typeface="Arial Unicode MS"/>
              </a:rPr>
              <a:t>菲律賓的求學過程，結交韓國、日本、越南、菲律賓朋友，深刻了解東南亞經濟市場起飛，也學習到各國不同文化，開拓了世界觀。</a:t>
            </a:r>
            <a:r>
              <a:rPr lang="en-US" altLang="zh-TW" sz="1400" kern="100" dirty="0">
                <a:effectLst/>
                <a:ea typeface="Arial Unicode MS"/>
                <a:cs typeface="Arial Unicode MS"/>
              </a:rPr>
              <a:t> </a:t>
            </a:r>
          </a:p>
          <a:p>
            <a:endParaRPr lang="en-US" altLang="zh-TW" sz="1200" kern="100" dirty="0">
              <a:ea typeface="Arial Unicode MS"/>
              <a:cs typeface="Arial Unicode MS"/>
            </a:endParaRPr>
          </a:p>
          <a:p>
            <a:r>
              <a:rPr lang="zh-TW" altLang="zh-TW" sz="1400" kern="100" dirty="0">
                <a:effectLst/>
                <a:latin typeface="Times New Roman" panose="02020603050405020304" pitchFamily="18" charset="0"/>
                <a:ea typeface="Arial Unicode MS"/>
                <a:cs typeface="Arial Unicode MS"/>
              </a:rPr>
              <a:t>大學求學過程中，專業科目為數理統計、迴歸分析、實驗設計、可靠度分析、品質管理、抽樣調查、線性代數、作業研究、</a:t>
            </a:r>
            <a:r>
              <a:rPr lang="en-US" altLang="zh-TW" sz="1400" kern="100" dirty="0">
                <a:effectLst/>
                <a:latin typeface="Times New Roman" panose="02020603050405020304" pitchFamily="18" charset="0"/>
                <a:ea typeface="Arial Unicode MS"/>
                <a:cs typeface="Arial Unicode MS"/>
              </a:rPr>
              <a:t>SAS</a:t>
            </a:r>
            <a:r>
              <a:rPr lang="zh-TW" altLang="zh-TW" sz="1400" kern="100" dirty="0">
                <a:effectLst/>
                <a:latin typeface="Times New Roman" panose="02020603050405020304" pitchFamily="18" charset="0"/>
                <a:ea typeface="Arial Unicode MS"/>
                <a:cs typeface="Arial Unicode MS"/>
              </a:rPr>
              <a:t>；大一時曾利用暑假期間到加拿大的語言學校</a:t>
            </a:r>
            <a:r>
              <a:rPr lang="en-US" altLang="zh-TW" sz="1400" kern="100" dirty="0">
                <a:effectLst/>
                <a:latin typeface="Times New Roman" panose="02020603050405020304" pitchFamily="18" charset="0"/>
                <a:ea typeface="Arial Unicode MS"/>
                <a:cs typeface="Arial Unicode MS"/>
              </a:rPr>
              <a:t>(ESL)</a:t>
            </a:r>
            <a:r>
              <a:rPr lang="zh-TW" altLang="zh-TW" sz="1400" kern="100" dirty="0">
                <a:effectLst/>
                <a:latin typeface="Times New Roman" panose="02020603050405020304" pitchFamily="18" charset="0"/>
                <a:ea typeface="Arial Unicode MS"/>
                <a:cs typeface="Arial Unicode MS"/>
              </a:rPr>
              <a:t>學習英文，讓我獲益良多。</a:t>
            </a:r>
            <a:r>
              <a:rPr lang="en-US" altLang="zh-TW" sz="1400" kern="100" dirty="0">
                <a:effectLst/>
                <a:latin typeface="Times New Roman" panose="02020603050405020304" pitchFamily="18" charset="0"/>
                <a:ea typeface="Arial Unicode MS"/>
                <a:cs typeface="Arial Unicode MS"/>
              </a:rPr>
              <a:t>  </a:t>
            </a:r>
          </a:p>
          <a:p>
            <a:endParaRPr lang="zh-TW" altLang="zh-TW" sz="1400" kern="100" dirty="0">
              <a:effectLst/>
              <a:latin typeface="Times New Roman" panose="02020603050405020304" pitchFamily="18" charset="0"/>
              <a:ea typeface="新細明體" panose="02020500000000000000" pitchFamily="18" charset="-120"/>
            </a:endParaRPr>
          </a:p>
          <a:p>
            <a:r>
              <a:rPr lang="en-US" altLang="zh-TW" sz="1400" kern="100" dirty="0" err="1">
                <a:effectLst/>
                <a:latin typeface="Arial Unicode MS"/>
                <a:ea typeface="Arial Unicode MS"/>
                <a:cs typeface="Arial Unicode MS"/>
              </a:rPr>
              <a:t>我的個性積極、随和；工作態度認真負責</a:t>
            </a:r>
            <a:r>
              <a:rPr lang="en-US" altLang="zh-TW" sz="1400" kern="100" dirty="0">
                <a:effectLst/>
                <a:latin typeface="Arial Unicode MS"/>
                <a:ea typeface="Arial Unicode MS"/>
                <a:cs typeface="Arial Unicode MS"/>
              </a:rPr>
              <a:t>，</a:t>
            </a:r>
            <a:r>
              <a:rPr lang="zh-TW" altLang="en-US" sz="1400" kern="100" dirty="0">
                <a:effectLst/>
                <a:latin typeface="Arial Unicode MS"/>
                <a:ea typeface="Arial Unicode MS"/>
                <a:cs typeface="Arial Unicode MS"/>
              </a:rPr>
              <a:t>也有著不停學習</a:t>
            </a:r>
            <a:r>
              <a:rPr lang="en-US" altLang="zh-TW" sz="1400" kern="100" dirty="0">
                <a:effectLst/>
                <a:latin typeface="Arial Unicode MS"/>
                <a:ea typeface="Arial Unicode MS"/>
                <a:cs typeface="Arial Unicode MS"/>
              </a:rPr>
              <a:t>、</a:t>
            </a:r>
            <a:r>
              <a:rPr lang="zh-TW" altLang="en-US" sz="1400" kern="100" dirty="0">
                <a:effectLst/>
                <a:latin typeface="Arial Unicode MS"/>
                <a:ea typeface="Arial Unicode MS"/>
                <a:cs typeface="Arial Unicode MS"/>
              </a:rPr>
              <a:t>好學的心</a:t>
            </a:r>
            <a:r>
              <a:rPr lang="zh-TW" altLang="zh-TW" sz="1400" kern="100" dirty="0">
                <a:effectLst/>
                <a:latin typeface="Times New Roman" panose="02020603050405020304" pitchFamily="18" charset="0"/>
                <a:ea typeface="Arial Unicode MS"/>
                <a:cs typeface="Arial Unicode MS"/>
              </a:rPr>
              <a:t>。 </a:t>
            </a:r>
            <a:endParaRPr lang="en-US" altLang="zh-TW" sz="1400" kern="100" dirty="0">
              <a:latin typeface="Times New Roman" panose="02020603050405020304" pitchFamily="18" charset="0"/>
              <a:ea typeface="Arial Unicode MS"/>
              <a:cs typeface="Arial Unicode MS"/>
            </a:endParaRPr>
          </a:p>
          <a:p>
            <a:r>
              <a:rPr lang="zh-TW" altLang="en-US" sz="1400" kern="100" dirty="0">
                <a:effectLst/>
                <a:latin typeface="Arial Unicode MS"/>
                <a:ea typeface="Arial Unicode MS"/>
                <a:cs typeface="Arial Unicode MS"/>
              </a:rPr>
              <a:t>畢業後這幾年時間， 宛亭喜歡不停學習新知識，無論與工作相關或興趣，都希望能盡力做到最好，因此陸續考取了三張證照</a:t>
            </a:r>
            <a:r>
              <a:rPr lang="zh-TW" altLang="zh-TW" sz="1400" kern="100" dirty="0">
                <a:effectLst/>
                <a:latin typeface="Times New Roman" panose="02020603050405020304" pitchFamily="18" charset="0"/>
                <a:ea typeface="Arial Unicode MS"/>
                <a:cs typeface="Arial Unicode MS"/>
              </a:rPr>
              <a:t>。</a:t>
            </a:r>
            <a:r>
              <a:rPr lang="zh-TW" altLang="en-US" sz="1400" kern="100" dirty="0">
                <a:latin typeface="Times New Roman" panose="02020603050405020304" pitchFamily="18" charset="0"/>
                <a:ea typeface="Arial Unicode MS"/>
                <a:cs typeface="Arial Unicode MS"/>
              </a:rPr>
              <a:t>我</a:t>
            </a:r>
            <a:r>
              <a:rPr lang="zh-TW" altLang="en-US" sz="1400" kern="100" dirty="0">
                <a:effectLst/>
                <a:latin typeface="Times New Roman" panose="02020603050405020304" pitchFamily="18" charset="0"/>
                <a:ea typeface="Arial Unicode MS"/>
                <a:cs typeface="Arial Unicode MS"/>
              </a:rPr>
              <a:t>認為</a:t>
            </a:r>
            <a:r>
              <a:rPr lang="en-US" altLang="zh-TW" sz="1400" kern="100" dirty="0" err="1">
                <a:effectLst/>
                <a:latin typeface="Arial Unicode MS"/>
                <a:ea typeface="Arial Unicode MS"/>
                <a:cs typeface="Arial Unicode MS"/>
              </a:rPr>
              <a:t>責任</a:t>
            </a:r>
            <a:r>
              <a:rPr lang="zh-TW" altLang="en-US" sz="1400" kern="100" dirty="0">
                <a:latin typeface="Arial Unicode MS"/>
                <a:ea typeface="Arial Unicode MS"/>
                <a:cs typeface="Arial Unicode MS"/>
              </a:rPr>
              <a:t>感是</a:t>
            </a:r>
            <a:r>
              <a:rPr lang="en-US" altLang="zh-TW" sz="1400" kern="100" dirty="0" err="1">
                <a:effectLst/>
                <a:latin typeface="Arial Unicode MS"/>
                <a:ea typeface="Arial Unicode MS"/>
                <a:cs typeface="Arial Unicode MS"/>
              </a:rPr>
              <a:t>促使我不斷成長學習</a:t>
            </a:r>
            <a:r>
              <a:rPr lang="zh-TW" altLang="en-US" sz="1400" kern="100" dirty="0">
                <a:effectLst/>
                <a:latin typeface="Arial Unicode MS"/>
                <a:ea typeface="Arial Unicode MS"/>
                <a:cs typeface="Arial Unicode MS"/>
              </a:rPr>
              <a:t>的最大原因</a:t>
            </a:r>
            <a:r>
              <a:rPr lang="en-US" altLang="zh-TW" sz="1400" kern="100" dirty="0">
                <a:effectLst/>
                <a:latin typeface="Arial Unicode MS"/>
                <a:ea typeface="Arial Unicode MS"/>
                <a:cs typeface="Arial Unicode MS"/>
              </a:rPr>
              <a:t>。</a:t>
            </a:r>
            <a:r>
              <a:rPr lang="zh-TW" altLang="en-US" sz="1400" kern="100" dirty="0">
                <a:effectLst/>
                <a:latin typeface="Arial Unicode MS"/>
                <a:ea typeface="Arial Unicode MS"/>
                <a:cs typeface="Arial Unicode MS"/>
              </a:rPr>
              <a:t>有不足的地方，都會希望能加強技能，</a:t>
            </a:r>
            <a:r>
              <a:rPr lang="en-US" altLang="zh-TW" sz="1400" kern="100" dirty="0">
                <a:effectLst/>
                <a:latin typeface="Arial Unicode MS"/>
                <a:ea typeface="Arial Unicode MS"/>
                <a:cs typeface="Arial Unicode MS"/>
              </a:rPr>
              <a:t>由於客戶中有日本人，因此開始學習日文，考取N5證照</a:t>
            </a:r>
            <a:r>
              <a:rPr lang="zh-TW" altLang="zh-TW" sz="1600" kern="100" dirty="0">
                <a:effectLst/>
                <a:latin typeface="Times New Roman" panose="02020603050405020304" pitchFamily="18" charset="0"/>
                <a:ea typeface="Arial Unicode MS"/>
                <a:cs typeface="Arial Unicode MS"/>
              </a:rPr>
              <a:t> 。</a:t>
            </a:r>
            <a:endParaRPr lang="en-US" altLang="zh-TW" sz="1600" kern="100" dirty="0">
              <a:effectLst/>
              <a:latin typeface="Times New Roman" panose="02020603050405020304" pitchFamily="18" charset="0"/>
              <a:ea typeface="Arial Unicode MS"/>
              <a:cs typeface="Arial Unicode MS"/>
            </a:endParaRPr>
          </a:p>
          <a:p>
            <a:endParaRPr lang="en-US" altLang="zh-TW" sz="1600" kern="100" dirty="0">
              <a:latin typeface="Times New Roman" panose="02020603050405020304" pitchFamily="18" charset="0"/>
              <a:ea typeface="新細明體" panose="02020500000000000000" pitchFamily="18" charset="-120"/>
            </a:endParaRPr>
          </a:p>
          <a:p>
            <a:r>
              <a:rPr lang="zh-TW" altLang="en-US" sz="1400" kern="100" dirty="0">
                <a:latin typeface="Times New Roman" panose="02020603050405020304" pitchFamily="18" charset="0"/>
                <a:ea typeface="新細明體" panose="02020500000000000000" pitchFamily="18" charset="-120"/>
              </a:rPr>
              <a:t>宛亭也喜歡嘗試各種領域並全力以赴</a:t>
            </a:r>
            <a:r>
              <a:rPr lang="zh-TW" altLang="en-US" sz="1400" kern="100" dirty="0">
                <a:effectLst/>
                <a:latin typeface="Times New Roman" panose="02020603050405020304" pitchFamily="18" charset="0"/>
                <a:ea typeface="新細明體" panose="02020500000000000000" pitchFamily="18" charset="-120"/>
              </a:rPr>
              <a:t>，陸續考取國家乙級美容證照</a:t>
            </a:r>
            <a:r>
              <a:rPr lang="zh-TW" altLang="en-US" sz="1400" kern="100" dirty="0">
                <a:effectLst/>
                <a:latin typeface="Poiret One" panose="00000500000000000000" pitchFamily="2" charset="0"/>
                <a:ea typeface="新細明體" panose="02020500000000000000" pitchFamily="18" charset="-120"/>
              </a:rPr>
              <a:t>、國家丙級烘焙證照</a:t>
            </a:r>
            <a:r>
              <a:rPr lang="zh-TW" altLang="zh-TW" sz="1400" kern="100" dirty="0">
                <a:effectLst/>
                <a:latin typeface="Times New Roman" panose="02020603050405020304" pitchFamily="18" charset="0"/>
                <a:ea typeface="Arial Unicode MS"/>
                <a:cs typeface="Arial Unicode MS"/>
              </a:rPr>
              <a:t>。</a:t>
            </a:r>
            <a:endParaRPr lang="en-US" altLang="zh-TW" sz="1400" kern="100" dirty="0">
              <a:effectLst/>
              <a:latin typeface="Times New Roman" panose="02020603050405020304" pitchFamily="18" charset="0"/>
              <a:ea typeface="Arial Unicode MS"/>
              <a:cs typeface="Arial Unicode MS"/>
            </a:endParaRPr>
          </a:p>
          <a:p>
            <a:endParaRPr lang="en-US" altLang="zh-TW" sz="1400" kern="100" dirty="0">
              <a:latin typeface="Times New Roman" panose="02020603050405020304" pitchFamily="18" charset="0"/>
              <a:ea typeface="新細明體" panose="02020500000000000000" pitchFamily="18" charset="-120"/>
            </a:endParaRPr>
          </a:p>
          <a:p>
            <a:r>
              <a:rPr lang="zh-TW" altLang="en-US" sz="1400" kern="100" dirty="0">
                <a:latin typeface="Times New Roman" panose="02020603050405020304" pitchFamily="18" charset="0"/>
                <a:ea typeface="新細明體" panose="02020500000000000000" pitchFamily="18" charset="-120"/>
              </a:rPr>
              <a:t>外婆家</a:t>
            </a:r>
            <a:r>
              <a:rPr lang="zh-TW" altLang="en-US" sz="1400" kern="100" dirty="0">
                <a:effectLst/>
                <a:latin typeface="Times New Roman" panose="02020603050405020304" pitchFamily="18" charset="0"/>
                <a:ea typeface="新細明體" panose="02020500000000000000" pitchFamily="18" charset="-120"/>
              </a:rPr>
              <a:t>是新竹老店西市汕頭館，因此個性熱情助人，正向積極，主動自發，非常</a:t>
            </a:r>
            <a:r>
              <a:rPr lang="zh-TW" altLang="en-US" sz="1400" kern="100" dirty="0">
                <a:effectLst/>
                <a:ea typeface="Arial Unicode MS"/>
                <a:cs typeface="Arial Unicode MS"/>
              </a:rPr>
              <a:t>期待能進入貴校，跟隨老師</a:t>
            </a:r>
            <a:r>
              <a:rPr lang="zh-TW" altLang="zh-TW" sz="1400" kern="100" dirty="0">
                <a:effectLst/>
                <a:ea typeface="Arial Unicode MS"/>
                <a:cs typeface="Arial Unicode MS"/>
              </a:rPr>
              <a:t>的</a:t>
            </a:r>
            <a:r>
              <a:rPr lang="zh-TW" altLang="en-US" sz="1400" kern="100" dirty="0">
                <a:effectLst/>
                <a:ea typeface="Arial Unicode MS"/>
                <a:cs typeface="Arial Unicode MS"/>
              </a:rPr>
              <a:t>教導</a:t>
            </a:r>
            <a:r>
              <a:rPr lang="zh-TW" altLang="zh-TW" sz="1400" kern="100" dirty="0">
                <a:effectLst/>
                <a:ea typeface="Arial Unicode MS"/>
                <a:cs typeface="Arial Unicode MS"/>
              </a:rPr>
              <a:t>，</a:t>
            </a:r>
            <a:r>
              <a:rPr lang="zh-TW" altLang="en-US" sz="1400" kern="100" dirty="0">
                <a:ea typeface="Arial Unicode MS"/>
                <a:cs typeface="Arial Unicode MS"/>
              </a:rPr>
              <a:t>得到工作上更紮實的能力</a:t>
            </a:r>
            <a:r>
              <a:rPr lang="zh-TW" altLang="en-US" sz="1400" kern="100" dirty="0">
                <a:effectLst/>
                <a:ea typeface="Arial Unicode MS"/>
                <a:cs typeface="Arial Unicode MS"/>
              </a:rPr>
              <a:t>，再發揚光大，將會是我人生中重要的里程碑</a:t>
            </a:r>
            <a:r>
              <a:rPr lang="zh-TW" altLang="zh-TW" sz="1400" kern="100" dirty="0">
                <a:effectLst/>
                <a:ea typeface="Arial Unicode MS"/>
                <a:cs typeface="Arial Unicode MS"/>
              </a:rPr>
              <a:t>。</a:t>
            </a:r>
            <a:endParaRPr lang="zh-TW" altLang="zh-TW" sz="1400" kern="100" dirty="0">
              <a:effectLst/>
              <a:latin typeface="Times New Roman" panose="02020603050405020304" pitchFamily="18" charset="0"/>
              <a:ea typeface="新細明體" panose="02020500000000000000" pitchFamily="18" charset="-120"/>
            </a:endParaRPr>
          </a:p>
          <a:p>
            <a:endParaRPr lang="en-US" altLang="zh-TW" sz="1400" kern="100" dirty="0">
              <a:effectLst/>
              <a:ea typeface="Arial Unicode MS"/>
              <a:cs typeface="Arial Unicode MS"/>
            </a:endParaRPr>
          </a:p>
          <a:p>
            <a:endParaRPr lang="en-US" altLang="zh-TW" sz="1400" kern="100" dirty="0"/>
          </a:p>
          <a:p>
            <a:endParaRPr lang="zh-TW" altLang="en-US" sz="1100" dirty="0"/>
          </a:p>
        </p:txBody>
      </p:sp>
      <p:pic>
        <p:nvPicPr>
          <p:cNvPr id="5" name="內容版面配置區 4" descr="一張含有 人的臉孔, 人員, 微笑, 嘴唇 的圖片&#10;&#10;自動產生的描述">
            <a:extLst>
              <a:ext uri="{FF2B5EF4-FFF2-40B4-BE49-F238E27FC236}">
                <a16:creationId xmlns:a16="http://schemas.microsoft.com/office/drawing/2014/main" id="{9E1C453E-83BB-C3C6-1488-6D1A056860BA}"/>
              </a:ext>
            </a:extLst>
          </p:cNvPr>
          <p:cNvPicPr>
            <a:picLocks noGrp="1" noChangeAspect="1"/>
          </p:cNvPicPr>
          <p:nvPr>
            <p:ph idx="1"/>
          </p:nvPr>
        </p:nvPicPr>
        <p:blipFill>
          <a:blip r:embed="rId2"/>
          <a:stretch>
            <a:fillRect/>
          </a:stretch>
        </p:blipFill>
        <p:spPr>
          <a:xfrm>
            <a:off x="4653434" y="492721"/>
            <a:ext cx="1506505" cy="1897939"/>
          </a:xfrm>
        </p:spPr>
      </p:pic>
    </p:spTree>
    <p:extLst>
      <p:ext uri="{BB962C8B-B14F-4D97-AF65-F5344CB8AC3E}">
        <p14:creationId xmlns:p14="http://schemas.microsoft.com/office/powerpoint/2010/main" val="2150762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人的臉孔, 人員, 微笑, 嘴唇 的圖片&#10;&#10;自動產生的描述">
            <a:extLst>
              <a:ext uri="{FF2B5EF4-FFF2-40B4-BE49-F238E27FC236}">
                <a16:creationId xmlns:a16="http://schemas.microsoft.com/office/drawing/2014/main" id="{3A74193C-DFEC-BF8F-D4C0-F4B996A55065}"/>
              </a:ext>
            </a:extLst>
          </p:cNvPr>
          <p:cNvPicPr>
            <a:picLocks noGrp="1" noChangeAspect="1"/>
          </p:cNvPicPr>
          <p:nvPr>
            <p:ph idx="1"/>
          </p:nvPr>
        </p:nvPicPr>
        <p:blipFill>
          <a:blip r:embed="rId2"/>
          <a:stretch>
            <a:fillRect/>
          </a:stretch>
        </p:blipFill>
        <p:spPr>
          <a:xfrm>
            <a:off x="5003691" y="522049"/>
            <a:ext cx="1279181" cy="1611550"/>
          </a:xfrm>
        </p:spPr>
      </p:pic>
      <p:sp>
        <p:nvSpPr>
          <p:cNvPr id="7" name="文字方塊 6">
            <a:extLst>
              <a:ext uri="{FF2B5EF4-FFF2-40B4-BE49-F238E27FC236}">
                <a16:creationId xmlns:a16="http://schemas.microsoft.com/office/drawing/2014/main" id="{EAB39C98-86DE-57B8-F3D3-D9DAE963E83B}"/>
              </a:ext>
            </a:extLst>
          </p:cNvPr>
          <p:cNvSpPr txBox="1"/>
          <p:nvPr/>
        </p:nvSpPr>
        <p:spPr>
          <a:xfrm>
            <a:off x="337456" y="389852"/>
            <a:ext cx="4336145" cy="1743747"/>
          </a:xfrm>
          <a:prstGeom prst="rect">
            <a:avLst/>
          </a:prstGeom>
          <a:noFill/>
        </p:spPr>
        <p:txBody>
          <a:bodyPr wrap="square">
            <a:spAutoFit/>
          </a:bodyPr>
          <a:lstStyle/>
          <a:p>
            <a:pPr algn="ctr">
              <a:lnSpc>
                <a:spcPct val="166000"/>
              </a:lnSpc>
              <a:spcAft>
                <a:spcPts val="1000"/>
              </a:spcAft>
            </a:pPr>
            <a:r>
              <a:rPr lang="zh-TW" altLang="en-US" sz="3200" b="1" dirty="0">
                <a:effectLst/>
                <a:latin typeface="Calibri" panose="020F0502020204030204" pitchFamily="34" charset="0"/>
                <a:ea typeface="新細明體" panose="02020500000000000000" pitchFamily="18" charset="-120"/>
              </a:rPr>
              <a:t>陳宛亭</a:t>
            </a:r>
            <a:r>
              <a:rPr lang="en-US" altLang="zh-TW" sz="3200" b="1" dirty="0">
                <a:effectLst/>
                <a:latin typeface="Calibri" panose="020F0502020204030204" pitchFamily="34" charset="0"/>
                <a:ea typeface="新細明體" panose="02020500000000000000" pitchFamily="18" charset="-120"/>
              </a:rPr>
              <a:t> (Donna)</a:t>
            </a:r>
            <a:endParaRPr lang="zh-TW" altLang="zh-TW" sz="1600" dirty="0">
              <a:effectLst/>
              <a:latin typeface="Calibri" panose="020F0502020204030204" pitchFamily="34" charset="0"/>
              <a:ea typeface="新細明體" panose="02020500000000000000" pitchFamily="18" charset="-120"/>
            </a:endParaRPr>
          </a:p>
          <a:p>
            <a:pPr algn="ctr">
              <a:lnSpc>
                <a:spcPct val="133000"/>
              </a:lnSpc>
              <a:spcAft>
                <a:spcPts val="1000"/>
              </a:spcAft>
            </a:pPr>
            <a:r>
              <a:rPr lang="en-US" altLang="zh-TW" sz="1800" dirty="0">
                <a:effectLst/>
                <a:latin typeface="Calibri" panose="020F0502020204030204" pitchFamily="34" charset="0"/>
                <a:ea typeface="新細明體" panose="02020500000000000000" pitchFamily="18" charset="-120"/>
              </a:rPr>
              <a:t>donna10241208@gmail.com</a:t>
            </a:r>
            <a:br>
              <a:rPr lang="en-US" altLang="zh-TW" sz="1800" dirty="0">
                <a:effectLst/>
                <a:latin typeface="Calibri" panose="020F0502020204030204" pitchFamily="34" charset="0"/>
                <a:ea typeface="新細明體" panose="02020500000000000000" pitchFamily="18" charset="-120"/>
              </a:rPr>
            </a:br>
            <a:r>
              <a:rPr lang="en-US" altLang="zh-TW" sz="1800" dirty="0">
                <a:effectLst/>
                <a:highlight>
                  <a:srgbClr val="FFFFFF"/>
                </a:highlight>
                <a:latin typeface="Calibri" panose="020F0502020204030204" pitchFamily="34" charset="0"/>
                <a:ea typeface="新細明體" panose="02020500000000000000" pitchFamily="18" charset="-120"/>
              </a:rPr>
              <a:t>TEL: +886-921-321167</a:t>
            </a:r>
            <a:endParaRPr lang="zh-TW" altLang="zh-TW" sz="1600" dirty="0">
              <a:effectLst/>
              <a:latin typeface="Calibri" panose="020F0502020204030204" pitchFamily="34" charset="0"/>
              <a:ea typeface="新細明體" panose="02020500000000000000" pitchFamily="18" charset="-120"/>
            </a:endParaRPr>
          </a:p>
        </p:txBody>
      </p:sp>
      <p:sp>
        <p:nvSpPr>
          <p:cNvPr id="10" name="文字方塊 9">
            <a:extLst>
              <a:ext uri="{FF2B5EF4-FFF2-40B4-BE49-F238E27FC236}">
                <a16:creationId xmlns:a16="http://schemas.microsoft.com/office/drawing/2014/main" id="{1144F0F9-707B-C78A-E681-203F38F0A727}"/>
              </a:ext>
            </a:extLst>
          </p:cNvPr>
          <p:cNvSpPr txBox="1"/>
          <p:nvPr/>
        </p:nvSpPr>
        <p:spPr>
          <a:xfrm>
            <a:off x="451375" y="2274925"/>
            <a:ext cx="5707744" cy="7555273"/>
          </a:xfrm>
          <a:prstGeom prst="rect">
            <a:avLst/>
          </a:prstGeom>
          <a:noFill/>
        </p:spPr>
        <p:txBody>
          <a:bodyPr wrap="square" rtlCol="0">
            <a:spAutoFit/>
          </a:bodyPr>
          <a:lstStyle/>
          <a:p>
            <a:pPr indent="228600" algn="ctr">
              <a:lnSpc>
                <a:spcPct val="200000"/>
              </a:lnSpc>
              <a:spcAft>
                <a:spcPts val="1000"/>
              </a:spcAft>
            </a:pPr>
            <a:r>
              <a:rPr lang="en-US" altLang="zh-TW" b="1" cap="small" dirty="0">
                <a:effectLst/>
                <a:latin typeface="Calibri" panose="020F0502020204030204" pitchFamily="34" charset="0"/>
                <a:ea typeface="新細明體" panose="02020500000000000000" pitchFamily="18" charset="-120"/>
              </a:rPr>
              <a:t>Professional Experience</a:t>
            </a:r>
            <a:endParaRPr lang="zh-TW" altLang="zh-TW" dirty="0">
              <a:effectLst/>
              <a:latin typeface="Calibri" panose="020F0502020204030204" pitchFamily="34" charset="0"/>
              <a:ea typeface="新細明體" panose="02020500000000000000" pitchFamily="18" charset="-120"/>
            </a:endParaRPr>
          </a:p>
          <a:p>
            <a:pPr>
              <a:lnSpc>
                <a:spcPct val="150000"/>
              </a:lnSpc>
              <a:spcBef>
                <a:spcPts val="1400"/>
              </a:spcBef>
              <a:spcAft>
                <a:spcPts val="800"/>
              </a:spcAft>
            </a:pPr>
            <a:r>
              <a:rPr lang="en-US" altLang="zh-TW" sz="1200" b="1" dirty="0">
                <a:solidFill>
                  <a:srgbClr val="000000"/>
                </a:solidFill>
                <a:effectLst/>
                <a:latin typeface="微軟正黑體" panose="020B0604030504040204" pitchFamily="34" charset="-120"/>
                <a:cs typeface="微軟正黑體" panose="020B0604030504040204" pitchFamily="34" charset="-120"/>
              </a:rPr>
              <a:t>MediaTek Inc., Sales Engineer, </a:t>
            </a:r>
            <a:r>
              <a:rPr lang="en-US" altLang="zh-TW" sz="1200" b="0" dirty="0">
                <a:solidFill>
                  <a:srgbClr val="000000"/>
                </a:solidFill>
                <a:effectLst/>
                <a:latin typeface="微軟正黑體" panose="020B0604030504040204" pitchFamily="34" charset="-120"/>
                <a:cs typeface="微軟正黑體" panose="020B0604030504040204" pitchFamily="34" charset="-120"/>
              </a:rPr>
              <a:t>Mar. 2017 ~ Now</a:t>
            </a:r>
            <a:endParaRPr lang="zh-TW" altLang="zh-TW" sz="1200" b="1" dirty="0">
              <a:effectLst/>
              <a:latin typeface="Calibri" panose="020F0502020204030204" pitchFamily="34" charset="0"/>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Negotiate price, confirm order and maintain good relationships with customers</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Introduce new products and arrange tape-out plans</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Gather, research and analyze related industry market information</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Handle customer complaints, RMA service and responsible for compensation</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Negotiate with PP, Purchasing Dept., Import &amp; Export Dept. and Design teams</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Customers ISO audits and line tour introduction</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Capacity allocation and coordination between customers and MediaTek</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Shipment arrangement including forwarder, invoice and import and export task</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Evaluate OSATs assembly &amp; FT yield (including Flip Chip, Wire Bond, Fan Out and WLCSP)</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Monitor development progress of all MediaTek products from NPI to MP</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Collaborate with OSATs to complete NPI projects to MP status</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Responsible for department budget control and arrangement</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dirty="0">
                <a:effectLst/>
                <a:highlight>
                  <a:srgbClr val="FFFFFF"/>
                </a:highlight>
                <a:latin typeface="Noto Sans Symbols"/>
                <a:ea typeface="Noto Sans Symbols"/>
                <a:cs typeface="Noto Sans Symbols"/>
              </a:rPr>
              <a:t>﻿﻿﻿Understand the objectives between different dept. to get a better overall perspective</a:t>
            </a:r>
            <a:endParaRPr lang="zh-TW" altLang="zh-TW" sz="12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200" b="1" dirty="0" err="1">
                <a:effectLst/>
                <a:highlight>
                  <a:srgbClr val="FFFFFF"/>
                </a:highlight>
                <a:latin typeface="Noto Sans Symbols"/>
                <a:ea typeface="Noto Sans Symbols"/>
                <a:cs typeface="Noto Sans Symbols"/>
              </a:rPr>
              <a:t>vAward</a:t>
            </a:r>
            <a:r>
              <a:rPr lang="en-US" altLang="zh-TW" sz="1200" dirty="0">
                <a:effectLst/>
                <a:highlight>
                  <a:srgbClr val="FFFFFF"/>
                </a:highlight>
                <a:latin typeface="Noto Sans Symbols"/>
                <a:ea typeface="Noto Sans Symbols"/>
                <a:cs typeface="Noto Sans Symbols"/>
              </a:rPr>
              <a:t>: Successfully hosted annual MediaTek supplier conference in Sheraton </a:t>
            </a:r>
            <a:endParaRPr lang="zh-TW" altLang="zh-TW" sz="1200" dirty="0">
              <a:effectLst/>
              <a:latin typeface="Noto Sans Symbols"/>
              <a:ea typeface="Noto Sans Symbols"/>
              <a:cs typeface="Noto Sans Symbols"/>
            </a:endParaRPr>
          </a:p>
          <a:p>
            <a:pPr marL="304800">
              <a:lnSpc>
                <a:spcPct val="133000"/>
              </a:lnSpc>
              <a:spcAft>
                <a:spcPts val="1000"/>
              </a:spcAft>
            </a:pPr>
            <a:r>
              <a:rPr lang="en-US" altLang="zh-TW" sz="1200" dirty="0">
                <a:effectLst/>
                <a:highlight>
                  <a:srgbClr val="FFFFFF"/>
                </a:highlight>
                <a:latin typeface="Calibri" panose="020F0502020204030204" pitchFamily="34" charset="0"/>
                <a:ea typeface="新細明體" panose="02020500000000000000" pitchFamily="18" charset="-120"/>
              </a:rPr>
              <a:t> </a:t>
            </a:r>
            <a:endParaRPr lang="zh-TW" altLang="zh-TW" sz="1200" dirty="0">
              <a:effectLst/>
              <a:latin typeface="Calibri" panose="020F0502020204030204" pitchFamily="34" charset="0"/>
              <a:ea typeface="新細明體" panose="02020500000000000000" pitchFamily="18" charset="-120"/>
            </a:endParaRPr>
          </a:p>
          <a:p>
            <a:endParaRPr lang="zh-TW" altLang="en-US" sz="1200" dirty="0"/>
          </a:p>
        </p:txBody>
      </p:sp>
    </p:spTree>
    <p:extLst>
      <p:ext uri="{BB962C8B-B14F-4D97-AF65-F5344CB8AC3E}">
        <p14:creationId xmlns:p14="http://schemas.microsoft.com/office/powerpoint/2010/main" val="616513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4CB38D-0A8D-2FC5-8688-13C71AC3750A}"/>
              </a:ext>
            </a:extLst>
          </p:cNvPr>
          <p:cNvSpPr>
            <a:spLocks noGrp="1"/>
          </p:cNvSpPr>
          <p:nvPr>
            <p:ph type="title"/>
          </p:nvPr>
        </p:nvSpPr>
        <p:spPr/>
        <p:txBody>
          <a:bodyPr>
            <a:noAutofit/>
          </a:bodyPr>
          <a:lstStyle/>
          <a:p>
            <a:pPr>
              <a:lnSpc>
                <a:spcPct val="115000"/>
              </a:lnSpc>
              <a:spcAft>
                <a:spcPts val="1000"/>
              </a:spcAft>
            </a:pPr>
            <a:r>
              <a:rPr lang="en-US" altLang="zh-TW" sz="1100" b="1" cap="small" dirty="0">
                <a:effectLst/>
                <a:latin typeface="Arial" panose="020B0604020202020204" pitchFamily="34" charset="0"/>
                <a:ea typeface="Arial" panose="020B0604020202020204" pitchFamily="34" charset="0"/>
              </a:rPr>
              <a:t>Summary</a:t>
            </a:r>
            <a:br>
              <a:rPr lang="zh-TW" altLang="zh-TW" sz="1100" dirty="0">
                <a:effectLst/>
                <a:latin typeface="Calibri" panose="020F0502020204030204" pitchFamily="34" charset="0"/>
                <a:ea typeface="新細明體" panose="02020500000000000000" pitchFamily="18" charset="-120"/>
              </a:rPr>
            </a:br>
            <a:r>
              <a:rPr lang="en-US" altLang="zh-TW" sz="1100" dirty="0">
                <a:effectLst/>
                <a:highlight>
                  <a:srgbClr val="FFFFFF"/>
                </a:highlight>
                <a:latin typeface="Arial" panose="020B0604020202020204" pitchFamily="34" charset="0"/>
                <a:ea typeface="Arial" panose="020B0604020202020204" pitchFamily="34" charset="0"/>
              </a:rPr>
              <a:t> </a:t>
            </a:r>
            <a:br>
              <a:rPr lang="zh-TW" altLang="zh-TW" sz="1100" dirty="0">
                <a:effectLst/>
                <a:latin typeface="Calibri" panose="020F0502020204030204" pitchFamily="34" charset="0"/>
                <a:ea typeface="新細明體" panose="02020500000000000000" pitchFamily="18" charset="-120"/>
              </a:rPr>
            </a:br>
            <a:r>
              <a:rPr lang="en-US" altLang="zh-TW" sz="1100" dirty="0">
                <a:effectLst/>
                <a:highlight>
                  <a:srgbClr val="FFFFFF"/>
                </a:highlight>
                <a:latin typeface="Arial" panose="020B0604020202020204" pitchFamily="34" charset="0"/>
                <a:ea typeface="Arial" panose="020B0604020202020204" pitchFamily="34" charset="0"/>
              </a:rPr>
              <a:t> </a:t>
            </a:r>
            <a:r>
              <a:rPr lang="en-US" altLang="zh-TW" sz="1100" dirty="0">
                <a:effectLst/>
                <a:highlight>
                  <a:srgbClr val="FFFFFF"/>
                </a:highlight>
                <a:latin typeface="Trebuchet MS" panose="020B0603020202020204" pitchFamily="34" charset="0"/>
                <a:ea typeface="Trebuchet MS" panose="020B0603020202020204" pitchFamily="34" charset="0"/>
                <a:cs typeface="Trebuchet MS" panose="020B0603020202020204" pitchFamily="34" charset="0"/>
              </a:rPr>
              <a:t> </a:t>
            </a:r>
            <a:r>
              <a:rPr lang="en-US" altLang="zh-TW" sz="1100" dirty="0">
                <a:effectLst/>
                <a:highlight>
                  <a:srgbClr val="FFFFFF"/>
                </a:highlight>
                <a:latin typeface="Arial" panose="020B0604020202020204" pitchFamily="34" charset="0"/>
                <a:ea typeface="Arial" panose="020B0604020202020204" pitchFamily="34" charset="0"/>
              </a:rPr>
              <a:t> </a:t>
            </a:r>
            <a:r>
              <a:rPr lang="en-US" altLang="zh-TW" sz="1100" dirty="0">
                <a:effectLst/>
                <a:highlight>
                  <a:srgbClr val="FFFFFF"/>
                </a:highlight>
                <a:latin typeface="Calibri" panose="020F0502020204030204" pitchFamily="34" charset="0"/>
                <a:ea typeface="新細明體" panose="02020500000000000000" pitchFamily="18" charset="-120"/>
              </a:rPr>
              <a:t> Worked at MediaTek, </a:t>
            </a:r>
            <a:r>
              <a:rPr lang="en-US" altLang="zh-TW" sz="1100" dirty="0" err="1">
                <a:effectLst/>
                <a:highlight>
                  <a:srgbClr val="FFFFFF"/>
                </a:highlight>
                <a:latin typeface="Calibri" panose="020F0502020204030204" pitchFamily="34" charset="0"/>
                <a:ea typeface="新細明體" panose="02020500000000000000" pitchFamily="18" charset="-120"/>
              </a:rPr>
              <a:t>Winstek</a:t>
            </a:r>
            <a:r>
              <a:rPr lang="en-US" altLang="zh-TW" sz="1100" dirty="0">
                <a:effectLst/>
                <a:highlight>
                  <a:srgbClr val="FFFFFF"/>
                </a:highlight>
                <a:latin typeface="Calibri" panose="020F0502020204030204" pitchFamily="34" charset="0"/>
                <a:ea typeface="新細明體" panose="02020500000000000000" pitchFamily="18" charset="-120"/>
              </a:rPr>
              <a:t> and </a:t>
            </a:r>
            <a:r>
              <a:rPr lang="en-US" altLang="zh-TW" sz="1100" dirty="0" err="1">
                <a:effectLst/>
                <a:highlight>
                  <a:srgbClr val="FFFFFF"/>
                </a:highlight>
                <a:latin typeface="Calibri" panose="020F0502020204030204" pitchFamily="34" charset="0"/>
                <a:ea typeface="新細明體" panose="02020500000000000000" pitchFamily="18" charset="-120"/>
              </a:rPr>
              <a:t>Powerchip</a:t>
            </a:r>
            <a:r>
              <a:rPr lang="en-US" altLang="zh-TW" sz="1100" dirty="0">
                <a:effectLst/>
                <a:highlight>
                  <a:srgbClr val="FFFFFF"/>
                </a:highlight>
                <a:latin typeface="Calibri" panose="020F0502020204030204" pitchFamily="34" charset="0"/>
                <a:ea typeface="新細明體" panose="02020500000000000000" pitchFamily="18" charset="-120"/>
              </a:rPr>
              <a:t> for 16 years in sales and customer service. Familiar with building and maintaining good relationships with customers, understanding the production status and market information of foundry, bumping, assembly manufacturing processes and IC design business operation in the semiconductor industry chain. Currently working in MediaTek, responsible for monitoring the yield rate of all MediaTek products and entering mass production smoothly and successfully, also have good relationships with team leaders and customer contact windows in MediaTek. Specializes in sales related work, both planning and execution, with a willingness to business trip when needed. </a:t>
            </a:r>
            <a:br>
              <a:rPr lang="zh-TW" altLang="zh-TW" sz="1100" dirty="0">
                <a:effectLst/>
                <a:latin typeface="Calibri" panose="020F0502020204030204" pitchFamily="34" charset="0"/>
                <a:ea typeface="新細明體" panose="02020500000000000000" pitchFamily="18" charset="-120"/>
              </a:rPr>
            </a:br>
            <a:endParaRPr lang="zh-TW" altLang="en-US" sz="2000" dirty="0"/>
          </a:p>
        </p:txBody>
      </p:sp>
      <p:sp>
        <p:nvSpPr>
          <p:cNvPr id="3" name="內容版面配置區 2">
            <a:extLst>
              <a:ext uri="{FF2B5EF4-FFF2-40B4-BE49-F238E27FC236}">
                <a16:creationId xmlns:a16="http://schemas.microsoft.com/office/drawing/2014/main" id="{5ABB754D-8955-A3D1-255A-3478DBEC939E}"/>
              </a:ext>
            </a:extLst>
          </p:cNvPr>
          <p:cNvSpPr>
            <a:spLocks noGrp="1"/>
          </p:cNvSpPr>
          <p:nvPr>
            <p:ph idx="1"/>
          </p:nvPr>
        </p:nvSpPr>
        <p:spPr/>
        <p:txBody>
          <a:bodyPr>
            <a:normAutofit fontScale="40000" lnSpcReduction="20000"/>
          </a:bodyPr>
          <a:lstStyle/>
          <a:p>
            <a:pPr indent="228600" algn="ctr">
              <a:lnSpc>
                <a:spcPct val="200000"/>
              </a:lnSpc>
              <a:spcAft>
                <a:spcPts val="1000"/>
              </a:spcAft>
            </a:pPr>
            <a:r>
              <a:rPr lang="en-US" altLang="zh-TW" sz="1800" b="1" cap="small" dirty="0">
                <a:effectLst/>
                <a:latin typeface="Calibri" panose="020F0502020204030204" pitchFamily="34" charset="0"/>
                <a:ea typeface="新細明體" panose="02020500000000000000" pitchFamily="18" charset="-120"/>
              </a:rPr>
              <a:t>Professional Experience</a:t>
            </a:r>
            <a:endParaRPr lang="zh-TW" altLang="zh-TW" sz="1800" dirty="0">
              <a:effectLst/>
              <a:latin typeface="Calibri" panose="020F0502020204030204" pitchFamily="34" charset="0"/>
              <a:ea typeface="新細明體" panose="02020500000000000000" pitchFamily="18" charset="-120"/>
            </a:endParaRPr>
          </a:p>
          <a:p>
            <a:pPr>
              <a:lnSpc>
                <a:spcPct val="150000"/>
              </a:lnSpc>
              <a:spcBef>
                <a:spcPts val="1400"/>
              </a:spcBef>
              <a:spcAft>
                <a:spcPts val="800"/>
              </a:spcAft>
            </a:pPr>
            <a:r>
              <a:rPr lang="en-US" altLang="zh-TW" sz="1800" b="1" dirty="0">
                <a:solidFill>
                  <a:srgbClr val="000000"/>
                </a:solidFill>
                <a:effectLst/>
                <a:latin typeface="微軟正黑體" panose="020B0604030504040204" pitchFamily="34" charset="-120"/>
                <a:cs typeface="微軟正黑體" panose="020B0604030504040204" pitchFamily="34" charset="-120"/>
              </a:rPr>
              <a:t>MediaTek Inc., Sales Engineer, </a:t>
            </a:r>
            <a:r>
              <a:rPr lang="en-US" altLang="zh-TW" sz="1800" b="0" dirty="0">
                <a:solidFill>
                  <a:srgbClr val="000000"/>
                </a:solidFill>
                <a:effectLst/>
                <a:latin typeface="微軟正黑體" panose="020B0604030504040204" pitchFamily="34" charset="-120"/>
                <a:cs typeface="微軟正黑體" panose="020B0604030504040204" pitchFamily="34" charset="-120"/>
              </a:rPr>
              <a:t>Mar. 2017 ~ Now</a:t>
            </a:r>
            <a:endParaRPr lang="zh-TW" altLang="zh-TW" sz="1800" b="1" dirty="0">
              <a:effectLst/>
              <a:latin typeface="Calibri" panose="020F0502020204030204" pitchFamily="34" charset="0"/>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Negotiate price, confirm order and maintain good relationships with customers</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Introduce new products and arrange tape-out plans</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Gather, research and analyze related industry market information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Handle customer complaints, RMA service and responsible for compensation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Negotiate with PP, Purchasing Dept., Import &amp; Export Dept. and Design teams</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Customers ISO audits and line tour introduction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Capacity allocation and coordination between customers and MediaTek</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Shipment arrangement including forwarder, invoice and import and export task</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Evaluate OSATs assembly &amp; FT yield (including Flip Chip, Wire Bond, Fan Out and WLCSP)</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Monitor development progress of all MediaTek products from NPI to MP</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Collaborate with OSATs to complete NPI projects to MP status</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Responsible for department budget control and arrangement</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﻿﻿﻿Understand the objectives between different dept. to get a better overall perspective</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b="1" dirty="0" err="1">
                <a:effectLst/>
                <a:highlight>
                  <a:srgbClr val="FFFFFF"/>
                </a:highlight>
                <a:latin typeface="Noto Sans Symbols"/>
                <a:ea typeface="Noto Sans Symbols"/>
                <a:cs typeface="Noto Sans Symbols"/>
              </a:rPr>
              <a:t>vAward</a:t>
            </a:r>
            <a:r>
              <a:rPr lang="en-US" altLang="zh-TW" sz="1800" dirty="0">
                <a:effectLst/>
                <a:highlight>
                  <a:srgbClr val="FFFFFF"/>
                </a:highlight>
                <a:latin typeface="Noto Sans Symbols"/>
                <a:ea typeface="Noto Sans Symbols"/>
                <a:cs typeface="Noto Sans Symbols"/>
              </a:rPr>
              <a:t>: Successfully hosted annual MediaTek supplier conference in Sheraton </a:t>
            </a:r>
            <a:endParaRPr lang="zh-TW" altLang="zh-TW" sz="1800" dirty="0">
              <a:effectLst/>
              <a:latin typeface="Noto Sans Symbols"/>
              <a:ea typeface="Noto Sans Symbols"/>
              <a:cs typeface="Noto Sans Symbols"/>
            </a:endParaRPr>
          </a:p>
          <a:p>
            <a:pPr marL="304800">
              <a:lnSpc>
                <a:spcPct val="133000"/>
              </a:lnSpc>
              <a:spcAft>
                <a:spcPts val="1000"/>
              </a:spcAft>
            </a:pPr>
            <a:r>
              <a:rPr lang="en-US" altLang="zh-TW" sz="1800" dirty="0">
                <a:effectLst/>
                <a:highlight>
                  <a:srgbClr val="FFFFFF"/>
                </a:highlight>
                <a:latin typeface="Calibri" panose="020F0502020204030204" pitchFamily="34" charset="0"/>
                <a:ea typeface="新細明體" panose="02020500000000000000" pitchFamily="18" charset="-120"/>
              </a:rPr>
              <a:t> </a:t>
            </a:r>
            <a:endParaRPr lang="zh-TW" altLang="zh-TW" sz="1800" dirty="0">
              <a:effectLst/>
              <a:latin typeface="Calibri" panose="020F0502020204030204" pitchFamily="34" charset="0"/>
              <a:ea typeface="新細明體" panose="02020500000000000000" pitchFamily="18" charset="-120"/>
            </a:endParaRPr>
          </a:p>
          <a:p>
            <a:endParaRPr lang="zh-TW" altLang="en-US" dirty="0"/>
          </a:p>
        </p:txBody>
      </p:sp>
    </p:spTree>
    <p:extLst>
      <p:ext uri="{BB962C8B-B14F-4D97-AF65-F5344CB8AC3E}">
        <p14:creationId xmlns:p14="http://schemas.microsoft.com/office/powerpoint/2010/main" val="897828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B441C0-4EC6-E17E-7AC9-C27986469F2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4222589-603F-06C7-1ED3-52BBB0F7F5EF}"/>
              </a:ext>
            </a:extLst>
          </p:cNvPr>
          <p:cNvSpPr>
            <a:spLocks noGrp="1"/>
          </p:cNvSpPr>
          <p:nvPr>
            <p:ph idx="1"/>
          </p:nvPr>
        </p:nvSpPr>
        <p:spPr>
          <a:xfrm>
            <a:off x="574615" y="581333"/>
            <a:ext cx="5915025" cy="6285266"/>
          </a:xfrm>
        </p:spPr>
        <p:txBody>
          <a:bodyPr>
            <a:normAutofit fontScale="40000" lnSpcReduction="20000"/>
          </a:bodyPr>
          <a:lstStyle/>
          <a:p>
            <a:pPr>
              <a:lnSpc>
                <a:spcPct val="115000"/>
              </a:lnSpc>
              <a:spcBef>
                <a:spcPts val="1400"/>
              </a:spcBef>
              <a:spcAft>
                <a:spcPts val="800"/>
              </a:spcAft>
            </a:pPr>
            <a:r>
              <a:rPr lang="en-US" altLang="zh-TW" sz="1800" b="1" dirty="0" err="1">
                <a:solidFill>
                  <a:srgbClr val="000000"/>
                </a:solidFill>
                <a:effectLst/>
                <a:latin typeface="微軟正黑體" panose="020B0604030504040204" pitchFamily="34" charset="-120"/>
                <a:cs typeface="微軟正黑體" panose="020B0604030504040204" pitchFamily="34" charset="-120"/>
              </a:rPr>
              <a:t>Winstek</a:t>
            </a:r>
            <a:r>
              <a:rPr lang="en-US" altLang="zh-TW" sz="1800" b="1" dirty="0">
                <a:solidFill>
                  <a:srgbClr val="000000"/>
                </a:solidFill>
                <a:effectLst/>
                <a:latin typeface="微軟正黑體" panose="020B0604030504040204" pitchFamily="34" charset="-120"/>
                <a:cs typeface="微軟正黑體" panose="020B0604030504040204" pitchFamily="34" charset="-120"/>
              </a:rPr>
              <a:t> Semiconductor Manufacturing Co., </a:t>
            </a:r>
            <a:endParaRPr lang="zh-TW" altLang="zh-TW" sz="1800" b="1" dirty="0">
              <a:effectLst/>
              <a:latin typeface="Calibri" panose="020F0502020204030204" pitchFamily="34" charset="0"/>
            </a:endParaRPr>
          </a:p>
          <a:p>
            <a:pPr>
              <a:lnSpc>
                <a:spcPct val="150000"/>
              </a:lnSpc>
              <a:spcBef>
                <a:spcPts val="1400"/>
              </a:spcBef>
              <a:spcAft>
                <a:spcPts val="800"/>
              </a:spcAft>
            </a:pPr>
            <a:r>
              <a:rPr lang="en-US" altLang="zh-TW" sz="1800" b="1" dirty="0">
                <a:solidFill>
                  <a:srgbClr val="000000"/>
                </a:solidFill>
                <a:effectLst/>
                <a:latin typeface="微軟正黑體" panose="020B0604030504040204" pitchFamily="34" charset="-120"/>
                <a:cs typeface="微軟正黑體" panose="020B0604030504040204" pitchFamily="34" charset="-120"/>
              </a:rPr>
              <a:t>Sales &amp; Customer Service Manager, </a:t>
            </a:r>
            <a:r>
              <a:rPr lang="en-US" altLang="zh-TW" sz="1800" b="0" dirty="0">
                <a:solidFill>
                  <a:srgbClr val="000000"/>
                </a:solidFill>
                <a:effectLst/>
                <a:latin typeface="微軟正黑體" panose="020B0604030504040204" pitchFamily="34" charset="-120"/>
                <a:cs typeface="微軟正黑體" panose="020B0604030504040204" pitchFamily="34" charset="-120"/>
              </a:rPr>
              <a:t>Jun 2016 ~ Mar. 2017</a:t>
            </a:r>
            <a:endParaRPr lang="zh-TW" altLang="zh-TW" sz="1800" b="1" dirty="0">
              <a:effectLst/>
              <a:latin typeface="Calibri" panose="020F0502020204030204" pitchFamily="34" charset="0"/>
            </a:endParaRPr>
          </a:p>
          <a:p>
            <a:pPr marL="342900" lvl="0" indent="-342900">
              <a:lnSpc>
                <a:spcPct val="150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Maintain customer relationship and technical support in the customer side, focus on identified customer base and new potential accounts </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Promote new products and process technologies</a:t>
            </a:r>
            <a:r>
              <a:rPr lang="en-US" altLang="zh-TW" sz="1800" dirty="0">
                <a:solidFill>
                  <a:srgbClr val="000000"/>
                </a:solidFill>
                <a:effectLst/>
                <a:highlight>
                  <a:srgbClr val="FFFFFF"/>
                </a:highlight>
                <a:latin typeface="Noto Sans Symbols"/>
                <a:ea typeface="Noto Sans Symbols"/>
                <a:cs typeface="Noto Sans Symbols"/>
              </a:rPr>
              <a:t> </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Provide market data reporting to supervisor including feedback from customers </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Achieve and estimate of Monthly, Quarterly and Annual Sales Targets, Operational Plan and Profitability Plan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Keep abreast of what competitors are doing and update of market intelligence</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Develop a high-performance team</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Setup MTK ALPS B2B system</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Confirmed </a:t>
            </a:r>
            <a:r>
              <a:rPr lang="en-US" altLang="zh-TW" sz="1800" dirty="0" err="1">
                <a:solidFill>
                  <a:srgbClr val="000000"/>
                </a:solidFill>
                <a:effectLst/>
                <a:highlight>
                  <a:srgbClr val="FFFFFF"/>
                </a:highlight>
                <a:latin typeface="Noto Sans Symbols"/>
                <a:ea typeface="Noto Sans Symbols"/>
                <a:cs typeface="Noto Sans Symbols"/>
              </a:rPr>
              <a:t>eSOD</a:t>
            </a:r>
            <a:r>
              <a:rPr lang="en-US" altLang="zh-TW" sz="1800" dirty="0">
                <a:solidFill>
                  <a:srgbClr val="000000"/>
                </a:solidFill>
                <a:effectLst/>
                <a:highlight>
                  <a:srgbClr val="FFFFFF"/>
                </a:highlight>
                <a:latin typeface="Noto Sans Symbols"/>
                <a:ea typeface="Noto Sans Symbols"/>
                <a:cs typeface="Noto Sans Symbols"/>
              </a:rPr>
              <a:t> and customer order</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Shipment arrangement</a:t>
            </a:r>
            <a:r>
              <a:rPr lang="en-US" altLang="zh-TW" sz="1800" dirty="0">
                <a:effectLst/>
                <a:highlight>
                  <a:srgbClr val="FFFFFF"/>
                </a:highlight>
                <a:latin typeface="Noto Sans Symbols"/>
                <a:ea typeface="Noto Sans Symbols"/>
                <a:cs typeface="Noto Sans Symbols"/>
              </a:rPr>
              <a:t> including forwarder, invoice and import and export task</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Customer</a:t>
            </a:r>
            <a:r>
              <a:rPr lang="en-US" altLang="zh-TW" sz="1800" dirty="0">
                <a:effectLst/>
                <a:highlight>
                  <a:srgbClr val="FFFFFF"/>
                </a:highlight>
                <a:latin typeface="Noto Sans Symbols"/>
                <a:ea typeface="Noto Sans Symbols"/>
                <a:cs typeface="Noto Sans Symbols"/>
              </a:rPr>
              <a:t> </a:t>
            </a:r>
            <a:r>
              <a:rPr lang="en-US" altLang="zh-TW" sz="1800" dirty="0">
                <a:solidFill>
                  <a:srgbClr val="000000"/>
                </a:solidFill>
                <a:effectLst/>
                <a:highlight>
                  <a:srgbClr val="FFFFFF"/>
                </a:highlight>
                <a:latin typeface="Noto Sans Symbols"/>
                <a:ea typeface="Noto Sans Symbols"/>
                <a:cs typeface="Noto Sans Symbols"/>
              </a:rPr>
              <a:t>ISO </a:t>
            </a:r>
            <a:r>
              <a:rPr lang="en-US" altLang="zh-TW" sz="1800" dirty="0">
                <a:effectLst/>
                <a:highlight>
                  <a:srgbClr val="FFFFFF"/>
                </a:highlight>
                <a:latin typeface="Noto Sans Symbols"/>
                <a:ea typeface="Noto Sans Symbols"/>
                <a:cs typeface="Noto Sans Symbols"/>
              </a:rPr>
              <a:t>a</a:t>
            </a:r>
            <a:r>
              <a:rPr lang="en-US" altLang="zh-TW" sz="1800" dirty="0">
                <a:solidFill>
                  <a:srgbClr val="000000"/>
                </a:solidFill>
                <a:effectLst/>
                <a:highlight>
                  <a:srgbClr val="FFFFFF"/>
                </a:highlight>
                <a:latin typeface="Noto Sans Symbols"/>
                <a:ea typeface="Noto Sans Symbols"/>
                <a:cs typeface="Noto Sans Symbols"/>
              </a:rPr>
              <a:t>udit</a:t>
            </a:r>
            <a:r>
              <a:rPr lang="en-US" altLang="zh-TW" sz="1800" dirty="0">
                <a:effectLst/>
                <a:highlight>
                  <a:srgbClr val="FFFFFF"/>
                </a:highlight>
                <a:latin typeface="Noto Sans Symbols"/>
                <a:ea typeface="Noto Sans Symbols"/>
                <a:cs typeface="Noto Sans Symbols"/>
              </a:rPr>
              <a:t> and line tour introduction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Capacity allocation and coordination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Handling p</a:t>
            </a:r>
            <a:r>
              <a:rPr lang="en-US" altLang="zh-TW" sz="1800" dirty="0">
                <a:solidFill>
                  <a:srgbClr val="000000"/>
                </a:solidFill>
                <a:effectLst/>
                <a:highlight>
                  <a:srgbClr val="FFFFFF"/>
                </a:highlight>
                <a:latin typeface="Noto Sans Symbols"/>
                <a:ea typeface="Noto Sans Symbols"/>
                <a:cs typeface="Noto Sans Symbols"/>
              </a:rPr>
              <a:t>roduct </a:t>
            </a:r>
            <a:r>
              <a:rPr lang="en-US" altLang="zh-TW" sz="1800" dirty="0">
                <a:effectLst/>
                <a:highlight>
                  <a:srgbClr val="FFFFFF"/>
                </a:highlight>
                <a:latin typeface="Noto Sans Symbols"/>
                <a:ea typeface="Noto Sans Symbols"/>
                <a:cs typeface="Noto Sans Symbols"/>
              </a:rPr>
              <a:t>a</a:t>
            </a:r>
            <a:r>
              <a:rPr lang="en-US" altLang="zh-TW" sz="1800" dirty="0">
                <a:solidFill>
                  <a:srgbClr val="000000"/>
                </a:solidFill>
                <a:effectLst/>
                <a:highlight>
                  <a:srgbClr val="FFFFFF"/>
                </a:highlight>
                <a:latin typeface="Noto Sans Symbols"/>
                <a:ea typeface="Noto Sans Symbols"/>
                <a:cs typeface="Noto Sans Symbols"/>
              </a:rPr>
              <a:t>bnormality, </a:t>
            </a:r>
            <a:r>
              <a:rPr lang="en-US" altLang="zh-TW" sz="1800" dirty="0">
                <a:effectLst/>
                <a:highlight>
                  <a:srgbClr val="FFFFFF"/>
                </a:highlight>
                <a:latin typeface="Noto Sans Symbols"/>
                <a:ea typeface="Noto Sans Symbols"/>
                <a:cs typeface="Noto Sans Symbols"/>
              </a:rPr>
              <a:t>compensation</a:t>
            </a:r>
            <a:r>
              <a:rPr lang="en-US" altLang="zh-TW" sz="1800" dirty="0">
                <a:solidFill>
                  <a:srgbClr val="000000"/>
                </a:solidFill>
                <a:effectLst/>
                <a:highlight>
                  <a:srgbClr val="FFFFFF"/>
                </a:highlight>
                <a:latin typeface="Noto Sans Symbols"/>
                <a:ea typeface="Noto Sans Symbols"/>
                <a:cs typeface="Noto Sans Symbols"/>
              </a:rPr>
              <a:t> </a:t>
            </a:r>
            <a:r>
              <a:rPr lang="en-US" altLang="zh-TW" sz="1800" dirty="0">
                <a:effectLst/>
                <a:highlight>
                  <a:srgbClr val="FFFFFF"/>
                </a:highlight>
                <a:latin typeface="Noto Sans Symbols"/>
                <a:ea typeface="Noto Sans Symbols"/>
                <a:cs typeface="Noto Sans Symbols"/>
              </a:rPr>
              <a:t>and RMA cases</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Inventory Counting</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Proactive and aggressive for new business development</a:t>
            </a:r>
            <a:endParaRPr lang="zh-TW" altLang="zh-TW" sz="1800" dirty="0">
              <a:effectLst/>
              <a:latin typeface="Noto Sans Symbols"/>
              <a:ea typeface="Noto Sans Symbols"/>
              <a:cs typeface="Noto Sans Symbols"/>
            </a:endParaRPr>
          </a:p>
          <a:p>
            <a:endParaRPr lang="zh-TW" altLang="en-US" dirty="0"/>
          </a:p>
        </p:txBody>
      </p:sp>
      <p:sp>
        <p:nvSpPr>
          <p:cNvPr id="4" name="文字方塊 3">
            <a:extLst>
              <a:ext uri="{FF2B5EF4-FFF2-40B4-BE49-F238E27FC236}">
                <a16:creationId xmlns:a16="http://schemas.microsoft.com/office/drawing/2014/main" id="{E58EE167-7772-1FDC-2BC4-9D32621CE2A0}"/>
              </a:ext>
            </a:extLst>
          </p:cNvPr>
          <p:cNvSpPr txBox="1"/>
          <p:nvPr/>
        </p:nvSpPr>
        <p:spPr>
          <a:xfrm>
            <a:off x="469499" y="6215170"/>
            <a:ext cx="6125256" cy="3499484"/>
          </a:xfrm>
          <a:prstGeom prst="rect">
            <a:avLst/>
          </a:prstGeom>
          <a:noFill/>
        </p:spPr>
        <p:txBody>
          <a:bodyPr wrap="square" rtlCol="0">
            <a:spAutoFit/>
          </a:bodyPr>
          <a:lstStyle/>
          <a:p>
            <a:pPr>
              <a:lnSpc>
                <a:spcPct val="150000"/>
              </a:lnSpc>
              <a:spcAft>
                <a:spcPts val="1000"/>
              </a:spcAft>
            </a:pPr>
            <a:r>
              <a:rPr lang="en-US" altLang="zh-TW" sz="1100" b="1" dirty="0">
                <a:effectLst/>
                <a:latin typeface="微軟正黑體" panose="020B0604030504040204" pitchFamily="34" charset="-120"/>
                <a:ea typeface="新細明體" panose="02020500000000000000" pitchFamily="18" charset="-120"/>
                <a:cs typeface="微軟正黑體" panose="020B0604030504040204" pitchFamily="34" charset="-120"/>
              </a:rPr>
              <a:t>TPK Touch Solutions, Sales Deputy Manager,</a:t>
            </a:r>
            <a:r>
              <a:rPr lang="en-US" altLang="zh-TW" sz="1100" dirty="0">
                <a:effectLst/>
                <a:latin typeface="微軟正黑體" panose="020B0604030504040204" pitchFamily="34" charset="-120"/>
                <a:ea typeface="新細明體" panose="02020500000000000000" pitchFamily="18" charset="-120"/>
                <a:cs typeface="微軟正黑體" panose="020B0604030504040204" pitchFamily="34" charset="-120"/>
              </a:rPr>
              <a:t> Jun 2015 ~ Jan 2016</a:t>
            </a:r>
            <a:endParaRPr lang="zh-TW" altLang="zh-TW" sz="1100" dirty="0">
              <a:effectLst/>
              <a:latin typeface="Calibri" panose="020F0502020204030204" pitchFamily="34" charset="0"/>
              <a:ea typeface="新細明體" panose="02020500000000000000" pitchFamily="18" charset="-120"/>
            </a:endParaRPr>
          </a:p>
          <a:p>
            <a:pPr marL="342900" lvl="0" indent="-342900">
              <a:lnSpc>
                <a:spcPct val="150000"/>
              </a:lnSpc>
              <a:spcAft>
                <a:spcPts val="1000"/>
              </a:spcAft>
              <a:buFont typeface="Arial" panose="020B0604020202020204" pitchFamily="34" charset="0"/>
              <a:buChar char="▪"/>
            </a:pPr>
            <a:r>
              <a:rPr lang="en-US" altLang="zh-TW" sz="1100" dirty="0">
                <a:solidFill>
                  <a:srgbClr val="000000"/>
                </a:solidFill>
                <a:effectLst/>
                <a:highlight>
                  <a:srgbClr val="FFFFFF"/>
                </a:highlight>
                <a:latin typeface="Noto Sans Symbols"/>
                <a:ea typeface="Noto Sans Symbols"/>
                <a:cs typeface="Noto Sans Symbols"/>
              </a:rPr>
              <a:t>BEP &amp; Demand and RFQ overall</a:t>
            </a:r>
            <a:endParaRPr lang="zh-TW" altLang="zh-TW" sz="11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100" dirty="0">
                <a:effectLst/>
                <a:highlight>
                  <a:srgbClr val="FFFFFF"/>
                </a:highlight>
                <a:latin typeface="Noto Sans Symbols"/>
                <a:ea typeface="Noto Sans Symbols"/>
                <a:cs typeface="Noto Sans Symbols"/>
              </a:rPr>
              <a:t>Explore new customers and good customer relationships</a:t>
            </a:r>
            <a:endParaRPr lang="zh-TW" altLang="zh-TW" sz="11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100" dirty="0">
                <a:solidFill>
                  <a:srgbClr val="000000"/>
                </a:solidFill>
                <a:effectLst/>
                <a:highlight>
                  <a:srgbClr val="FFFFFF"/>
                </a:highlight>
                <a:latin typeface="Noto Sans Symbols"/>
                <a:ea typeface="Noto Sans Symbols"/>
                <a:cs typeface="Noto Sans Symbols"/>
              </a:rPr>
              <a:t>Accounts Receivable and Excess Material Management</a:t>
            </a:r>
            <a:endParaRPr lang="zh-TW" altLang="zh-TW" sz="11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100" dirty="0">
                <a:solidFill>
                  <a:srgbClr val="000000"/>
                </a:solidFill>
                <a:effectLst/>
                <a:highlight>
                  <a:srgbClr val="FFFFFF"/>
                </a:highlight>
                <a:latin typeface="Noto Sans Symbols"/>
                <a:ea typeface="Noto Sans Symbols"/>
                <a:cs typeface="Noto Sans Symbols"/>
              </a:rPr>
              <a:t>Product </a:t>
            </a:r>
            <a:r>
              <a:rPr lang="en-US" altLang="zh-TW" sz="1100" dirty="0">
                <a:effectLst/>
                <a:highlight>
                  <a:srgbClr val="FFFFFF"/>
                </a:highlight>
                <a:latin typeface="Noto Sans Symbols"/>
                <a:ea typeface="Noto Sans Symbols"/>
                <a:cs typeface="Noto Sans Symbols"/>
              </a:rPr>
              <a:t>d</a:t>
            </a:r>
            <a:r>
              <a:rPr lang="en-US" altLang="zh-TW" sz="1100" dirty="0">
                <a:solidFill>
                  <a:srgbClr val="000000"/>
                </a:solidFill>
                <a:effectLst/>
                <a:highlight>
                  <a:srgbClr val="FFFFFF"/>
                </a:highlight>
                <a:latin typeface="Noto Sans Symbols"/>
                <a:ea typeface="Noto Sans Symbols"/>
                <a:cs typeface="Noto Sans Symbols"/>
              </a:rPr>
              <a:t>elivery </a:t>
            </a:r>
            <a:r>
              <a:rPr lang="en-US" altLang="zh-TW" sz="1100" dirty="0">
                <a:effectLst/>
                <a:highlight>
                  <a:srgbClr val="FFFFFF"/>
                </a:highlight>
                <a:latin typeface="Noto Sans Symbols"/>
                <a:ea typeface="Noto Sans Symbols"/>
                <a:cs typeface="Noto Sans Symbols"/>
              </a:rPr>
              <a:t>d</a:t>
            </a:r>
            <a:r>
              <a:rPr lang="en-US" altLang="zh-TW" sz="1100" dirty="0">
                <a:solidFill>
                  <a:srgbClr val="000000"/>
                </a:solidFill>
                <a:effectLst/>
                <a:highlight>
                  <a:srgbClr val="FFFFFF"/>
                </a:highlight>
                <a:latin typeface="Noto Sans Symbols"/>
                <a:ea typeface="Noto Sans Symbols"/>
                <a:cs typeface="Noto Sans Symbols"/>
              </a:rPr>
              <a:t>ate </a:t>
            </a:r>
            <a:r>
              <a:rPr lang="en-US" altLang="zh-TW" sz="1100" dirty="0">
                <a:effectLst/>
                <a:highlight>
                  <a:srgbClr val="FFFFFF"/>
                </a:highlight>
                <a:latin typeface="Noto Sans Symbols"/>
                <a:ea typeface="Noto Sans Symbols"/>
                <a:cs typeface="Noto Sans Symbols"/>
              </a:rPr>
              <a:t>c</a:t>
            </a:r>
            <a:r>
              <a:rPr lang="en-US" altLang="zh-TW" sz="1100" dirty="0">
                <a:solidFill>
                  <a:srgbClr val="000000"/>
                </a:solidFill>
                <a:effectLst/>
                <a:highlight>
                  <a:srgbClr val="FFFFFF"/>
                </a:highlight>
                <a:latin typeface="Noto Sans Symbols"/>
                <a:ea typeface="Noto Sans Symbols"/>
                <a:cs typeface="Noto Sans Symbols"/>
              </a:rPr>
              <a:t>onfirmation and </a:t>
            </a:r>
            <a:r>
              <a:rPr lang="en-US" altLang="zh-TW" sz="1100" dirty="0">
                <a:effectLst/>
                <a:highlight>
                  <a:srgbClr val="FFFFFF"/>
                </a:highlight>
                <a:latin typeface="Noto Sans Symbols"/>
                <a:ea typeface="Noto Sans Symbols"/>
                <a:cs typeface="Noto Sans Symbols"/>
              </a:rPr>
              <a:t>y</a:t>
            </a:r>
            <a:r>
              <a:rPr lang="en-US" altLang="zh-TW" sz="1100" dirty="0">
                <a:solidFill>
                  <a:srgbClr val="000000"/>
                </a:solidFill>
                <a:effectLst/>
                <a:highlight>
                  <a:srgbClr val="FFFFFF"/>
                </a:highlight>
                <a:latin typeface="Noto Sans Symbols"/>
                <a:ea typeface="Noto Sans Symbols"/>
                <a:cs typeface="Noto Sans Symbols"/>
              </a:rPr>
              <a:t>ield </a:t>
            </a:r>
            <a:r>
              <a:rPr lang="en-US" altLang="zh-TW" sz="1100" dirty="0">
                <a:effectLst/>
                <a:highlight>
                  <a:srgbClr val="FFFFFF"/>
                </a:highlight>
                <a:latin typeface="Noto Sans Symbols"/>
                <a:ea typeface="Noto Sans Symbols"/>
                <a:cs typeface="Noto Sans Symbols"/>
              </a:rPr>
              <a:t>r</a:t>
            </a:r>
            <a:r>
              <a:rPr lang="en-US" altLang="zh-TW" sz="1100" dirty="0">
                <a:solidFill>
                  <a:srgbClr val="000000"/>
                </a:solidFill>
                <a:effectLst/>
                <a:highlight>
                  <a:srgbClr val="FFFFFF"/>
                </a:highlight>
                <a:latin typeface="Noto Sans Symbols"/>
                <a:ea typeface="Noto Sans Symbols"/>
                <a:cs typeface="Noto Sans Symbols"/>
              </a:rPr>
              <a:t>eview</a:t>
            </a:r>
            <a:endParaRPr lang="zh-TW" altLang="zh-TW" sz="11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100" dirty="0">
                <a:solidFill>
                  <a:srgbClr val="000000"/>
                </a:solidFill>
                <a:effectLst/>
                <a:highlight>
                  <a:srgbClr val="FFFFFF"/>
                </a:highlight>
                <a:latin typeface="Noto Sans Symbols"/>
                <a:ea typeface="Noto Sans Symbols"/>
                <a:cs typeface="Noto Sans Symbols"/>
              </a:rPr>
              <a:t>Customer </a:t>
            </a:r>
            <a:r>
              <a:rPr lang="en-US" altLang="zh-TW" sz="1100" dirty="0">
                <a:effectLst/>
                <a:highlight>
                  <a:srgbClr val="FFFFFF"/>
                </a:highlight>
                <a:latin typeface="Noto Sans Symbols"/>
                <a:ea typeface="Noto Sans Symbols"/>
                <a:cs typeface="Noto Sans Symbols"/>
              </a:rPr>
              <a:t>c</a:t>
            </a:r>
            <a:r>
              <a:rPr lang="en-US" altLang="zh-TW" sz="1100" dirty="0">
                <a:solidFill>
                  <a:srgbClr val="000000"/>
                </a:solidFill>
                <a:effectLst/>
                <a:highlight>
                  <a:srgbClr val="FFFFFF"/>
                </a:highlight>
                <a:latin typeface="Noto Sans Symbols"/>
                <a:ea typeface="Noto Sans Symbols"/>
                <a:cs typeface="Noto Sans Symbols"/>
              </a:rPr>
              <a:t>omplain </a:t>
            </a:r>
            <a:r>
              <a:rPr lang="en-US" altLang="zh-TW" sz="1100" dirty="0">
                <a:effectLst/>
                <a:highlight>
                  <a:srgbClr val="FFFFFF"/>
                </a:highlight>
                <a:latin typeface="Noto Sans Symbols"/>
                <a:ea typeface="Noto Sans Symbols"/>
                <a:cs typeface="Noto Sans Symbols"/>
              </a:rPr>
              <a:t>r</a:t>
            </a:r>
            <a:r>
              <a:rPr lang="en-US" altLang="zh-TW" sz="1100" dirty="0">
                <a:solidFill>
                  <a:srgbClr val="000000"/>
                </a:solidFill>
                <a:effectLst/>
                <a:highlight>
                  <a:srgbClr val="FFFFFF"/>
                </a:highlight>
                <a:latin typeface="Noto Sans Symbols"/>
                <a:ea typeface="Noto Sans Symbols"/>
                <a:cs typeface="Noto Sans Symbols"/>
              </a:rPr>
              <a:t>egarding </a:t>
            </a:r>
            <a:r>
              <a:rPr lang="en-US" altLang="zh-TW" sz="1100" dirty="0">
                <a:effectLst/>
                <a:highlight>
                  <a:srgbClr val="FFFFFF"/>
                </a:highlight>
                <a:latin typeface="Noto Sans Symbols"/>
                <a:ea typeface="Noto Sans Symbols"/>
                <a:cs typeface="Noto Sans Symbols"/>
              </a:rPr>
              <a:t>p</a:t>
            </a:r>
            <a:r>
              <a:rPr lang="en-US" altLang="zh-TW" sz="1100" dirty="0">
                <a:solidFill>
                  <a:srgbClr val="000000"/>
                </a:solidFill>
                <a:effectLst/>
                <a:highlight>
                  <a:srgbClr val="FFFFFF"/>
                </a:highlight>
                <a:latin typeface="Noto Sans Symbols"/>
                <a:ea typeface="Noto Sans Symbols"/>
                <a:cs typeface="Noto Sans Symbols"/>
              </a:rPr>
              <a:t>roduct </a:t>
            </a:r>
            <a:r>
              <a:rPr lang="en-US" altLang="zh-TW" sz="1100" dirty="0">
                <a:effectLst/>
                <a:highlight>
                  <a:srgbClr val="FFFFFF"/>
                </a:highlight>
                <a:latin typeface="Noto Sans Symbols"/>
                <a:ea typeface="Noto Sans Symbols"/>
                <a:cs typeface="Noto Sans Symbols"/>
              </a:rPr>
              <a:t>abnormality</a:t>
            </a:r>
            <a:r>
              <a:rPr lang="en-US" altLang="zh-TW" sz="1100" dirty="0">
                <a:solidFill>
                  <a:srgbClr val="000000"/>
                </a:solidFill>
                <a:effectLst/>
                <a:highlight>
                  <a:srgbClr val="FFFFFF"/>
                </a:highlight>
                <a:latin typeface="Noto Sans Symbols"/>
                <a:ea typeface="Noto Sans Symbols"/>
                <a:cs typeface="Noto Sans Symbols"/>
              </a:rPr>
              <a:t> and RMA </a:t>
            </a:r>
            <a:r>
              <a:rPr lang="en-US" altLang="zh-TW" sz="1100" dirty="0">
                <a:effectLst/>
                <a:highlight>
                  <a:srgbClr val="FFFFFF"/>
                </a:highlight>
                <a:latin typeface="Noto Sans Symbols"/>
                <a:ea typeface="Noto Sans Symbols"/>
                <a:cs typeface="Noto Sans Symbols"/>
              </a:rPr>
              <a:t>service</a:t>
            </a:r>
            <a:endParaRPr lang="zh-TW" altLang="zh-TW" sz="11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100" dirty="0">
                <a:solidFill>
                  <a:srgbClr val="000000"/>
                </a:solidFill>
                <a:effectLst/>
                <a:highlight>
                  <a:srgbClr val="FFFFFF"/>
                </a:highlight>
                <a:latin typeface="Noto Sans Symbols"/>
                <a:ea typeface="Noto Sans Symbols"/>
                <a:cs typeface="Noto Sans Symbols"/>
              </a:rPr>
              <a:t>EOL Product </a:t>
            </a:r>
            <a:r>
              <a:rPr lang="en-US" altLang="zh-TW" sz="1100" dirty="0">
                <a:effectLst/>
                <a:highlight>
                  <a:srgbClr val="FFFFFF"/>
                </a:highlight>
                <a:latin typeface="Noto Sans Symbols"/>
                <a:ea typeface="Noto Sans Symbols"/>
                <a:cs typeface="Noto Sans Symbols"/>
              </a:rPr>
              <a:t>Administering</a:t>
            </a:r>
            <a:endParaRPr lang="zh-TW" altLang="zh-TW" sz="11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100" dirty="0">
                <a:effectLst/>
                <a:highlight>
                  <a:srgbClr val="FFFFFF"/>
                </a:highlight>
                <a:latin typeface="Noto Sans Symbols"/>
                <a:ea typeface="Noto Sans Symbols"/>
                <a:cs typeface="Noto Sans Symbols"/>
              </a:rPr>
              <a:t>Promote new products and process technologies</a:t>
            </a:r>
            <a:endParaRPr lang="zh-TW" altLang="zh-TW" sz="11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100" dirty="0">
                <a:solidFill>
                  <a:srgbClr val="000000"/>
                </a:solidFill>
                <a:effectLst/>
                <a:highlight>
                  <a:srgbClr val="FFFFFF"/>
                </a:highlight>
                <a:latin typeface="Noto Sans Symbols"/>
                <a:ea typeface="Noto Sans Symbols"/>
                <a:cs typeface="Noto Sans Symbols"/>
              </a:rPr>
              <a:t>Sea and air ratio freight calculation</a:t>
            </a:r>
            <a:endParaRPr lang="zh-TW" altLang="zh-TW" sz="1100" dirty="0">
              <a:effectLst/>
              <a:latin typeface="Noto Sans Symbols"/>
              <a:ea typeface="Noto Sans Symbols"/>
              <a:cs typeface="Noto Sans Symbols"/>
            </a:endParaRPr>
          </a:p>
          <a:p>
            <a:endParaRPr lang="zh-TW" altLang="en-US" sz="1100" dirty="0"/>
          </a:p>
        </p:txBody>
      </p:sp>
    </p:spTree>
    <p:extLst>
      <p:ext uri="{BB962C8B-B14F-4D97-AF65-F5344CB8AC3E}">
        <p14:creationId xmlns:p14="http://schemas.microsoft.com/office/powerpoint/2010/main" val="872097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E8219-EBFF-110A-B59B-3724AECA11E0}"/>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4F0E4A55-8918-0388-4B38-8FD79FC37134}"/>
              </a:ext>
            </a:extLst>
          </p:cNvPr>
          <p:cNvSpPr>
            <a:spLocks noGrp="1"/>
          </p:cNvSpPr>
          <p:nvPr>
            <p:ph idx="1"/>
          </p:nvPr>
        </p:nvSpPr>
        <p:spPr>
          <a:xfrm>
            <a:off x="567741" y="333826"/>
            <a:ext cx="5915025" cy="6285266"/>
          </a:xfrm>
        </p:spPr>
        <p:txBody>
          <a:bodyPr>
            <a:normAutofit fontScale="32500" lnSpcReduction="20000"/>
          </a:bodyPr>
          <a:lstStyle/>
          <a:p>
            <a:pPr>
              <a:lnSpc>
                <a:spcPct val="115000"/>
              </a:lnSpc>
              <a:spcBef>
                <a:spcPts val="1400"/>
              </a:spcBef>
              <a:spcAft>
                <a:spcPts val="800"/>
              </a:spcAft>
            </a:pPr>
            <a:r>
              <a:rPr lang="en-US" altLang="zh-TW" sz="1800" b="1" dirty="0" err="1">
                <a:solidFill>
                  <a:srgbClr val="000000"/>
                </a:solidFill>
                <a:effectLst/>
                <a:latin typeface="微軟正黑體" panose="020B0604030504040204" pitchFamily="34" charset="-120"/>
                <a:cs typeface="微軟正黑體" panose="020B0604030504040204" pitchFamily="34" charset="-120"/>
              </a:rPr>
              <a:t>Powerchip</a:t>
            </a:r>
            <a:r>
              <a:rPr lang="en-US" altLang="zh-TW" sz="1800" b="1" dirty="0">
                <a:solidFill>
                  <a:srgbClr val="000000"/>
                </a:solidFill>
                <a:effectLst/>
                <a:latin typeface="微軟正黑體" panose="020B0604030504040204" pitchFamily="34" charset="-120"/>
                <a:cs typeface="微軟正黑體" panose="020B0604030504040204" pitchFamily="34" charset="-120"/>
              </a:rPr>
              <a:t>  Semiconductor Manufacturing Co., </a:t>
            </a:r>
            <a:endParaRPr lang="zh-TW" altLang="zh-TW" sz="1800" b="1" dirty="0">
              <a:effectLst/>
              <a:latin typeface="Calibri" panose="020F0502020204030204" pitchFamily="34" charset="0"/>
            </a:endParaRPr>
          </a:p>
          <a:p>
            <a:pPr>
              <a:lnSpc>
                <a:spcPct val="150000"/>
              </a:lnSpc>
              <a:spcBef>
                <a:spcPts val="1400"/>
              </a:spcBef>
              <a:spcAft>
                <a:spcPts val="800"/>
              </a:spcAft>
            </a:pPr>
            <a:r>
              <a:rPr lang="en-US" altLang="zh-TW" sz="1800" b="1" dirty="0">
                <a:solidFill>
                  <a:srgbClr val="000000"/>
                </a:solidFill>
                <a:effectLst/>
                <a:latin typeface="微軟正黑體" panose="020B0604030504040204" pitchFamily="34" charset="-120"/>
                <a:cs typeface="微軟正黑體" panose="020B0604030504040204" pitchFamily="34" charset="-120"/>
              </a:rPr>
              <a:t>Sales Engineer, </a:t>
            </a:r>
            <a:r>
              <a:rPr lang="en-US" altLang="zh-TW" sz="1800" b="0" dirty="0">
                <a:solidFill>
                  <a:srgbClr val="000000"/>
                </a:solidFill>
                <a:effectLst/>
                <a:latin typeface="微軟正黑體" panose="020B0604030504040204" pitchFamily="34" charset="-120"/>
                <a:cs typeface="微軟正黑體" panose="020B0604030504040204" pitchFamily="34" charset="-120"/>
              </a:rPr>
              <a:t>Jan 2007 ~ May 2015</a:t>
            </a:r>
            <a:endParaRPr lang="zh-TW" altLang="zh-TW" sz="1800" b="1" dirty="0">
              <a:effectLst/>
              <a:latin typeface="Calibri" panose="020F0502020204030204" pitchFamily="34" charset="0"/>
            </a:endParaRPr>
          </a:p>
          <a:p>
            <a:pPr>
              <a:lnSpc>
                <a:spcPct val="150000"/>
              </a:lnSpc>
              <a:spcAft>
                <a:spcPts val="1000"/>
              </a:spcAft>
            </a:pPr>
            <a:r>
              <a:rPr lang="en-US" altLang="zh-TW" sz="1800" dirty="0">
                <a:effectLst/>
                <a:latin typeface="Calibri" panose="020F0502020204030204" pitchFamily="34" charset="0"/>
                <a:ea typeface="新細明體" panose="02020500000000000000" pitchFamily="18" charset="-120"/>
              </a:rPr>
              <a:t>[2013Y~2015Y ]—Foundry Sales</a:t>
            </a:r>
            <a:endParaRPr lang="zh-TW" altLang="zh-TW" sz="1800" dirty="0">
              <a:effectLst/>
              <a:latin typeface="Calibri" panose="020F0502020204030204" pitchFamily="34" charset="0"/>
              <a:ea typeface="新細明體" panose="02020500000000000000" pitchFamily="18" charset="-120"/>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Good </a:t>
            </a:r>
            <a:r>
              <a:rPr lang="en-US" altLang="zh-TW" sz="1800" dirty="0">
                <a:effectLst/>
                <a:highlight>
                  <a:srgbClr val="FFFFFF"/>
                </a:highlight>
                <a:latin typeface="Noto Sans Symbols"/>
                <a:ea typeface="Noto Sans Symbols"/>
                <a:cs typeface="Noto Sans Symbols"/>
              </a:rPr>
              <a:t>c</a:t>
            </a:r>
            <a:r>
              <a:rPr lang="en-US" altLang="zh-TW" sz="1800" dirty="0">
                <a:solidFill>
                  <a:srgbClr val="000000"/>
                </a:solidFill>
                <a:effectLst/>
                <a:highlight>
                  <a:srgbClr val="FFFFFF"/>
                </a:highlight>
                <a:latin typeface="Noto Sans Symbols"/>
                <a:ea typeface="Noto Sans Symbols"/>
                <a:cs typeface="Noto Sans Symbols"/>
              </a:rPr>
              <a:t>ustomer’s relationships, </a:t>
            </a:r>
            <a:r>
              <a:rPr lang="en-US" altLang="zh-TW" sz="1800" dirty="0">
                <a:effectLst/>
                <a:highlight>
                  <a:srgbClr val="FFFFFF"/>
                </a:highlight>
                <a:latin typeface="Noto Sans Symbols"/>
                <a:ea typeface="Noto Sans Symbols"/>
                <a:cs typeface="Noto Sans Symbols"/>
              </a:rPr>
              <a:t>receiving clients, introduce company profile and fab tour</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Estimated account customers demand status for half a year and one year</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Introduce n</a:t>
            </a:r>
            <a:r>
              <a:rPr lang="en-US" altLang="zh-TW" sz="1800" dirty="0">
                <a:solidFill>
                  <a:srgbClr val="000000"/>
                </a:solidFill>
                <a:effectLst/>
                <a:highlight>
                  <a:srgbClr val="FFFFFF"/>
                </a:highlight>
                <a:latin typeface="Noto Sans Symbols"/>
                <a:ea typeface="Noto Sans Symbols"/>
                <a:cs typeface="Noto Sans Symbols"/>
              </a:rPr>
              <a:t>ew product and arrange t</a:t>
            </a:r>
            <a:r>
              <a:rPr lang="en-US" altLang="zh-TW" sz="1800" dirty="0">
                <a:effectLst/>
                <a:highlight>
                  <a:srgbClr val="FFFFFF"/>
                </a:highlight>
                <a:latin typeface="Noto Sans Symbols"/>
                <a:ea typeface="Noto Sans Symbols"/>
                <a:cs typeface="Noto Sans Symbols"/>
              </a:rPr>
              <a:t>ape-</a:t>
            </a:r>
            <a:r>
              <a:rPr lang="en-US" altLang="zh-TW" sz="1800" dirty="0">
                <a:solidFill>
                  <a:srgbClr val="000000"/>
                </a:solidFill>
                <a:effectLst/>
                <a:highlight>
                  <a:srgbClr val="FFFFFF"/>
                </a:highlight>
                <a:latin typeface="Noto Sans Symbols"/>
                <a:ea typeface="Noto Sans Symbols"/>
                <a:cs typeface="Noto Sans Symbols"/>
              </a:rPr>
              <a:t>out plan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Negotiate price</a:t>
            </a:r>
            <a:r>
              <a:rPr lang="en-US" altLang="zh-TW" sz="1800" dirty="0">
                <a:effectLst/>
                <a:highlight>
                  <a:srgbClr val="FFFFFF"/>
                </a:highlight>
                <a:latin typeface="Noto Sans Symbols"/>
                <a:ea typeface="Noto Sans Symbols"/>
                <a:cs typeface="Noto Sans Symbols"/>
              </a:rPr>
              <a:t> and </a:t>
            </a:r>
            <a:r>
              <a:rPr lang="en-US" altLang="zh-TW" sz="1800" dirty="0">
                <a:solidFill>
                  <a:srgbClr val="000000"/>
                </a:solidFill>
                <a:effectLst/>
                <a:highlight>
                  <a:srgbClr val="FFFFFF"/>
                </a:highlight>
                <a:latin typeface="Noto Sans Symbols"/>
                <a:ea typeface="Noto Sans Symbols"/>
                <a:cs typeface="Noto Sans Symbols"/>
              </a:rPr>
              <a:t>order with customers</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Research and analyze related industry market data</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Negotiate demand forecast and arrange d</a:t>
            </a:r>
            <a:r>
              <a:rPr lang="en-US" altLang="zh-TW" sz="1800" dirty="0">
                <a:solidFill>
                  <a:srgbClr val="000000"/>
                </a:solidFill>
                <a:effectLst/>
                <a:highlight>
                  <a:srgbClr val="FFFFFF"/>
                </a:highlight>
                <a:latin typeface="Noto Sans Symbols"/>
                <a:ea typeface="Noto Sans Symbols"/>
                <a:cs typeface="Noto Sans Symbols"/>
              </a:rPr>
              <a:t>elivery  </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Process forwarder, invoice and  import and export task</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solidFill>
                  <a:srgbClr val="000000"/>
                </a:solidFill>
                <a:effectLst/>
                <a:highlight>
                  <a:srgbClr val="FFFFFF"/>
                </a:highlight>
                <a:latin typeface="Noto Sans Symbols"/>
                <a:ea typeface="Noto Sans Symbols"/>
                <a:cs typeface="Noto Sans Symbols"/>
              </a:rPr>
              <a:t>Capacity allocation and coordination</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Handling product abnormality, compensation and RMA cases</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ISO audits and document management</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Department budget control </a:t>
            </a:r>
            <a:endParaRPr lang="zh-TW" altLang="zh-TW" sz="1800" dirty="0">
              <a:effectLst/>
              <a:latin typeface="Noto Sans Symbols"/>
              <a:ea typeface="Noto Sans Symbols"/>
              <a:cs typeface="Noto Sans Symbols"/>
            </a:endParaRPr>
          </a:p>
          <a:p>
            <a:pPr marL="342900" lvl="0" indent="-342900">
              <a:lnSpc>
                <a:spcPct val="133000"/>
              </a:lnSpc>
              <a:spcAft>
                <a:spcPts val="1000"/>
              </a:spcAft>
              <a:buFont typeface="Arial" panose="020B0604020202020204" pitchFamily="34" charset="0"/>
              <a:buChar char="▪"/>
            </a:pPr>
            <a:r>
              <a:rPr lang="en-US" altLang="zh-TW" sz="1800" dirty="0">
                <a:effectLst/>
                <a:highlight>
                  <a:srgbClr val="FFFFFF"/>
                </a:highlight>
                <a:latin typeface="Noto Sans Symbols"/>
                <a:ea typeface="Noto Sans Symbols"/>
                <a:cs typeface="Noto Sans Symbols"/>
              </a:rPr>
              <a:t>Business trip</a:t>
            </a:r>
            <a:endParaRPr lang="zh-TW" altLang="zh-TW" sz="1800" dirty="0">
              <a:effectLst/>
              <a:latin typeface="Noto Sans Symbols"/>
              <a:ea typeface="Noto Sans Symbols"/>
              <a:cs typeface="Noto Sans Symbols"/>
            </a:endParaRPr>
          </a:p>
          <a:p>
            <a:pPr>
              <a:lnSpc>
                <a:spcPct val="133000"/>
              </a:lnSpc>
              <a:spcAft>
                <a:spcPts val="1000"/>
              </a:spcAft>
            </a:pPr>
            <a:r>
              <a:rPr lang="en-US" altLang="zh-TW" sz="1800" dirty="0">
                <a:effectLst/>
                <a:highlight>
                  <a:srgbClr val="FFFFFF"/>
                </a:highlight>
                <a:latin typeface="Calibri" panose="020F0502020204030204" pitchFamily="34" charset="0"/>
                <a:ea typeface="新細明體" panose="02020500000000000000" pitchFamily="18" charset="-120"/>
              </a:rPr>
              <a:t> </a:t>
            </a:r>
            <a:endParaRPr lang="zh-TW" altLang="zh-TW" sz="1800" dirty="0">
              <a:effectLst/>
              <a:latin typeface="Calibri" panose="020F0502020204030204" pitchFamily="34" charset="0"/>
              <a:ea typeface="新細明體" panose="02020500000000000000" pitchFamily="18" charset="-120"/>
            </a:endParaRPr>
          </a:p>
          <a:p>
            <a:pPr>
              <a:lnSpc>
                <a:spcPct val="133000"/>
              </a:lnSpc>
              <a:spcAft>
                <a:spcPts val="1000"/>
              </a:spcAft>
            </a:pPr>
            <a:r>
              <a:rPr lang="en-US" altLang="zh-TW" sz="1800" dirty="0">
                <a:effectLst/>
                <a:highlight>
                  <a:srgbClr val="FFFFFF"/>
                </a:highlight>
                <a:latin typeface="Calibri" panose="020F0502020204030204" pitchFamily="34" charset="0"/>
                <a:ea typeface="新細明體" panose="02020500000000000000" pitchFamily="18" charset="-120"/>
              </a:rPr>
              <a:t>[2007Y-2013Y ]—DRAM Sales (</a:t>
            </a:r>
            <a:r>
              <a:rPr lang="en-US" altLang="zh-TW" sz="1800" dirty="0" err="1">
                <a:effectLst/>
                <a:highlight>
                  <a:srgbClr val="FFFFFF"/>
                </a:highlight>
                <a:latin typeface="Calibri" panose="020F0502020204030204" pitchFamily="34" charset="0"/>
                <a:ea typeface="新細明體" panose="02020500000000000000" pitchFamily="18" charset="-120"/>
              </a:rPr>
              <a:t>Elpida</a:t>
            </a:r>
            <a:r>
              <a:rPr lang="en-US" altLang="zh-TW" sz="1800" dirty="0">
                <a:effectLst/>
                <a:highlight>
                  <a:srgbClr val="FFFFFF"/>
                </a:highlight>
                <a:latin typeface="Calibri" panose="020F0502020204030204" pitchFamily="34" charset="0"/>
                <a:ea typeface="新細明體" panose="02020500000000000000" pitchFamily="18" charset="-120"/>
              </a:rPr>
              <a:t>/</a:t>
            </a:r>
            <a:r>
              <a:rPr lang="en-US" altLang="zh-TW" sz="1800" dirty="0" err="1">
                <a:effectLst/>
                <a:highlight>
                  <a:srgbClr val="FFFFFF"/>
                </a:highlight>
                <a:latin typeface="Calibri" panose="020F0502020204030204" pitchFamily="34" charset="0"/>
                <a:ea typeface="新細明體" panose="02020500000000000000" pitchFamily="18" charset="-120"/>
              </a:rPr>
              <a:t>Rexchip</a:t>
            </a:r>
            <a:r>
              <a:rPr lang="en-US" altLang="zh-TW" sz="1800" dirty="0">
                <a:effectLst/>
                <a:highlight>
                  <a:srgbClr val="FFFFFF"/>
                </a:highlight>
                <a:latin typeface="Calibri" panose="020F0502020204030204" pitchFamily="34" charset="0"/>
                <a:ea typeface="新細明體" panose="02020500000000000000" pitchFamily="18" charset="-120"/>
              </a:rPr>
              <a:t>)</a:t>
            </a:r>
            <a:endParaRPr lang="zh-TW" altLang="zh-TW" sz="1800" dirty="0">
              <a:effectLst/>
              <a:latin typeface="Calibri" panose="020F0502020204030204" pitchFamily="34" charset="0"/>
              <a:ea typeface="新細明體" panose="02020500000000000000" pitchFamily="18" charset="-120"/>
            </a:endParaRPr>
          </a:p>
          <a:p>
            <a:pPr marL="342900" lvl="0" indent="-342900">
              <a:lnSpc>
                <a:spcPct val="133000"/>
              </a:lnSpc>
              <a:spcAft>
                <a:spcPts val="1000"/>
              </a:spcAft>
              <a:buFont typeface="Arial" panose="020B0604020202020204" pitchFamily="34" charset="0"/>
              <a:buChar char="▪"/>
            </a:pPr>
            <a:r>
              <a:rPr lang="en-US" altLang="zh-TW" sz="1800" dirty="0" err="1">
                <a:solidFill>
                  <a:srgbClr val="000000"/>
                </a:solidFill>
                <a:effectLst/>
                <a:highlight>
                  <a:srgbClr val="FFFFFF"/>
                </a:highlight>
                <a:latin typeface="Noto Sans Symbols"/>
                <a:ea typeface="Noto Sans Symbols"/>
                <a:cs typeface="Noto Sans Symbols"/>
              </a:rPr>
              <a:t>Elpida</a:t>
            </a:r>
            <a:r>
              <a:rPr lang="en-US" altLang="zh-TW" sz="1800" dirty="0">
                <a:solidFill>
                  <a:srgbClr val="000000"/>
                </a:solidFill>
                <a:effectLst/>
                <a:highlight>
                  <a:srgbClr val="FFFFFF"/>
                </a:highlight>
                <a:latin typeface="Noto Sans Symbols"/>
                <a:ea typeface="Noto Sans Symbols"/>
                <a:cs typeface="Noto Sans Symbols"/>
              </a:rPr>
              <a:t> is a ma</a:t>
            </a:r>
            <a:r>
              <a:rPr lang="en-US" altLang="zh-TW" sz="1800" dirty="0">
                <a:effectLst/>
                <a:highlight>
                  <a:srgbClr val="FFFFFF"/>
                </a:highlight>
                <a:latin typeface="Noto Sans Symbols"/>
                <a:ea typeface="Noto Sans Symbols"/>
                <a:cs typeface="Noto Sans Symbols"/>
              </a:rPr>
              <a:t>in</a:t>
            </a:r>
            <a:r>
              <a:rPr lang="en-US" altLang="zh-TW" sz="1800" dirty="0">
                <a:solidFill>
                  <a:srgbClr val="000000"/>
                </a:solidFill>
                <a:effectLst/>
                <a:highlight>
                  <a:srgbClr val="FFFFFF"/>
                </a:highlight>
                <a:latin typeface="Noto Sans Symbols"/>
                <a:ea typeface="Noto Sans Symbols"/>
                <a:cs typeface="Noto Sans Symbols"/>
              </a:rPr>
              <a:t> customer and </a:t>
            </a:r>
            <a:r>
              <a:rPr lang="en-US" altLang="zh-TW" sz="1800" dirty="0">
                <a:effectLst/>
                <a:highlight>
                  <a:srgbClr val="FFFFFF"/>
                </a:highlight>
                <a:latin typeface="Noto Sans Symbols"/>
                <a:ea typeface="Noto Sans Symbols"/>
                <a:cs typeface="Noto Sans Symbols"/>
              </a:rPr>
              <a:t>revenue accounted for 70% in </a:t>
            </a:r>
            <a:r>
              <a:rPr lang="en-US" altLang="zh-TW" sz="1800" dirty="0" err="1">
                <a:solidFill>
                  <a:srgbClr val="000000"/>
                </a:solidFill>
                <a:effectLst/>
                <a:highlight>
                  <a:srgbClr val="FFFFFF"/>
                </a:highlight>
                <a:latin typeface="Noto Sans Symbols"/>
                <a:ea typeface="Noto Sans Symbols"/>
                <a:cs typeface="Noto Sans Symbols"/>
              </a:rPr>
              <a:t>Powerchip</a:t>
            </a:r>
            <a:r>
              <a:rPr lang="en-US" altLang="zh-TW" sz="1800" dirty="0">
                <a:effectLst/>
                <a:highlight>
                  <a:srgbClr val="FFFFFF"/>
                </a:highlight>
                <a:latin typeface="Noto Sans Symbols"/>
                <a:ea typeface="Noto Sans Symbols"/>
                <a:cs typeface="Noto Sans Symbols"/>
              </a:rPr>
              <a:t>.</a:t>
            </a:r>
            <a:r>
              <a:rPr lang="en-US" altLang="zh-TW" sz="1800" dirty="0">
                <a:solidFill>
                  <a:srgbClr val="000000"/>
                </a:solidFill>
                <a:effectLst/>
                <a:highlight>
                  <a:srgbClr val="FFFFFF"/>
                </a:highlight>
                <a:latin typeface="Noto Sans Symbols"/>
                <a:ea typeface="Noto Sans Symbols"/>
                <a:cs typeface="Noto Sans Symbols"/>
              </a:rPr>
              <a:t> </a:t>
            </a:r>
            <a:endParaRPr lang="zh-TW" altLang="zh-TW" sz="1800" dirty="0">
              <a:effectLst/>
              <a:latin typeface="Noto Sans Symbols"/>
              <a:ea typeface="Noto Sans Symbols"/>
              <a:cs typeface="Noto Sans Symbols"/>
            </a:endParaRPr>
          </a:p>
          <a:p>
            <a:r>
              <a:rPr lang="en-US" altLang="zh-TW" sz="1800" dirty="0">
                <a:effectLst/>
                <a:highlight>
                  <a:srgbClr val="FFFFFF"/>
                </a:highlight>
                <a:latin typeface="Calibri" panose="020F0502020204030204" pitchFamily="34" charset="0"/>
                <a:ea typeface="新細明體" panose="02020500000000000000" pitchFamily="18" charset="-120"/>
              </a:rPr>
              <a:t>R</a:t>
            </a:r>
            <a:r>
              <a:rPr lang="en-US" altLang="zh-TW" sz="1800" dirty="0">
                <a:solidFill>
                  <a:srgbClr val="000000"/>
                </a:solidFill>
                <a:effectLst/>
                <a:highlight>
                  <a:srgbClr val="FFFFFF"/>
                </a:highlight>
                <a:latin typeface="Calibri" panose="020F0502020204030204" pitchFamily="34" charset="0"/>
                <a:ea typeface="新細明體" panose="02020500000000000000" pitchFamily="18" charset="-120"/>
              </a:rPr>
              <a:t>esponsible for </a:t>
            </a:r>
            <a:r>
              <a:rPr lang="en-US" altLang="zh-TW" sz="1800" dirty="0" err="1">
                <a:solidFill>
                  <a:srgbClr val="000000"/>
                </a:solidFill>
                <a:effectLst/>
                <a:highlight>
                  <a:srgbClr val="FFFFFF"/>
                </a:highlight>
                <a:latin typeface="Calibri" panose="020F0502020204030204" pitchFamily="34" charset="0"/>
                <a:ea typeface="新細明體" panose="02020500000000000000" pitchFamily="18" charset="-120"/>
              </a:rPr>
              <a:t>Powerchip</a:t>
            </a:r>
            <a:r>
              <a:rPr lang="en-US" altLang="zh-TW" sz="1800" dirty="0">
                <a:solidFill>
                  <a:srgbClr val="000000"/>
                </a:solidFill>
                <a:effectLst/>
                <a:highlight>
                  <a:srgbClr val="FFFFFF"/>
                </a:highlight>
                <a:latin typeface="Calibri" panose="020F0502020204030204" pitchFamily="34" charset="0"/>
                <a:ea typeface="新細明體" panose="02020500000000000000" pitchFamily="18" charset="-120"/>
              </a:rPr>
              <a:t>/ </a:t>
            </a:r>
            <a:r>
              <a:rPr lang="en-US" altLang="zh-TW" sz="1800" dirty="0" err="1">
                <a:solidFill>
                  <a:srgbClr val="000000"/>
                </a:solidFill>
                <a:effectLst/>
                <a:highlight>
                  <a:srgbClr val="FFFFFF"/>
                </a:highlight>
                <a:latin typeface="Calibri" panose="020F0502020204030204" pitchFamily="34" charset="0"/>
                <a:ea typeface="新細明體" panose="02020500000000000000" pitchFamily="18" charset="-120"/>
              </a:rPr>
              <a:t>Elpida</a:t>
            </a:r>
            <a:r>
              <a:rPr lang="en-US" altLang="zh-TW" sz="1800" dirty="0">
                <a:solidFill>
                  <a:srgbClr val="000000"/>
                </a:solidFill>
                <a:effectLst/>
                <a:highlight>
                  <a:srgbClr val="FFFFFF"/>
                </a:highlight>
                <a:latin typeface="Calibri" panose="020F0502020204030204" pitchFamily="34" charset="0"/>
                <a:ea typeface="新細明體" panose="02020500000000000000" pitchFamily="18" charset="-120"/>
              </a:rPr>
              <a:t>/ </a:t>
            </a:r>
            <a:r>
              <a:rPr lang="en-US" altLang="zh-TW" sz="1800" dirty="0" err="1">
                <a:solidFill>
                  <a:srgbClr val="000000"/>
                </a:solidFill>
                <a:effectLst/>
                <a:highlight>
                  <a:srgbClr val="FFFFFF"/>
                </a:highlight>
                <a:latin typeface="Calibri" panose="020F0502020204030204" pitchFamily="34" charset="0"/>
                <a:ea typeface="新細明體" panose="02020500000000000000" pitchFamily="18" charset="-120"/>
              </a:rPr>
              <a:t>Rexchip</a:t>
            </a:r>
            <a:r>
              <a:rPr lang="en-US" altLang="zh-TW" sz="1800" dirty="0">
                <a:effectLst/>
                <a:highlight>
                  <a:srgbClr val="FFFFFF"/>
                </a:highlight>
                <a:latin typeface="Calibri" panose="020F0502020204030204" pitchFamily="34" charset="0"/>
                <a:ea typeface="新細明體" panose="02020500000000000000" pitchFamily="18" charset="-120"/>
              </a:rPr>
              <a:t> tripartite business price negotiation and agreement</a:t>
            </a:r>
            <a:r>
              <a:rPr lang="en-US" altLang="zh-TW" sz="1800" dirty="0">
                <a:solidFill>
                  <a:srgbClr val="000000"/>
                </a:solidFill>
                <a:effectLst/>
                <a:highlight>
                  <a:srgbClr val="FFFFFF"/>
                </a:highlight>
                <a:latin typeface="Calibri" panose="020F0502020204030204" pitchFamily="34" charset="0"/>
                <a:ea typeface="新細明體" panose="02020500000000000000" pitchFamily="18" charset="-120"/>
              </a:rPr>
              <a:t>.</a:t>
            </a:r>
            <a:endParaRPr lang="zh-TW" altLang="en-US" dirty="0"/>
          </a:p>
        </p:txBody>
      </p:sp>
      <p:sp>
        <p:nvSpPr>
          <p:cNvPr id="4" name="文字方塊 3">
            <a:extLst>
              <a:ext uri="{FF2B5EF4-FFF2-40B4-BE49-F238E27FC236}">
                <a16:creationId xmlns:a16="http://schemas.microsoft.com/office/drawing/2014/main" id="{EE0BAD4F-86EB-E469-7FA8-2A30C86ED9F0}"/>
              </a:ext>
            </a:extLst>
          </p:cNvPr>
          <p:cNvSpPr txBox="1"/>
          <p:nvPr/>
        </p:nvSpPr>
        <p:spPr>
          <a:xfrm>
            <a:off x="471488" y="6619092"/>
            <a:ext cx="5135765" cy="2477601"/>
          </a:xfrm>
          <a:prstGeom prst="rect">
            <a:avLst/>
          </a:prstGeom>
          <a:noFill/>
        </p:spPr>
        <p:txBody>
          <a:bodyPr wrap="square" rtlCol="0">
            <a:spAutoFit/>
          </a:bodyPr>
          <a:lstStyle/>
          <a:p>
            <a:pPr algn="ctr">
              <a:lnSpc>
                <a:spcPct val="200000"/>
              </a:lnSpc>
              <a:spcAft>
                <a:spcPts val="1000"/>
              </a:spcAft>
            </a:pPr>
            <a:r>
              <a:rPr lang="en-US" altLang="zh-TW" sz="1000" b="1" cap="small" dirty="0">
                <a:effectLst/>
                <a:latin typeface="Calibri" panose="020F0502020204030204" pitchFamily="34" charset="0"/>
                <a:ea typeface="新細明體" panose="02020500000000000000" pitchFamily="18" charset="-120"/>
              </a:rPr>
              <a:t>Education</a:t>
            </a:r>
            <a:r>
              <a:rPr lang="en-US" altLang="zh-TW" sz="1000" dirty="0">
                <a:solidFill>
                  <a:srgbClr val="000000"/>
                </a:solidFill>
                <a:effectLst/>
                <a:latin typeface="Calibri" panose="020F0502020204030204" pitchFamily="34" charset="0"/>
                <a:ea typeface="新細明體" panose="02020500000000000000" pitchFamily="18" charset="-120"/>
              </a:rPr>
              <a:t>                           </a:t>
            </a:r>
            <a:endParaRPr lang="zh-TW" altLang="zh-TW" sz="1000" dirty="0">
              <a:effectLst/>
              <a:latin typeface="Calibri" panose="020F0502020204030204" pitchFamily="34" charset="0"/>
              <a:ea typeface="新細明體" panose="02020500000000000000" pitchFamily="18" charset="-120"/>
            </a:endParaRPr>
          </a:p>
          <a:p>
            <a:pPr marL="342900" lvl="0" indent="-342900">
              <a:lnSpc>
                <a:spcPct val="150000"/>
              </a:lnSpc>
              <a:spcAft>
                <a:spcPts val="1000"/>
              </a:spcAft>
              <a:buFont typeface="Arial" panose="020B0604020202020204" pitchFamily="34" charset="0"/>
              <a:buChar char="●"/>
            </a:pPr>
            <a:r>
              <a:rPr lang="en-US" altLang="zh-TW" sz="1000" dirty="0">
                <a:effectLst/>
                <a:latin typeface="Noto Sans Symbols"/>
                <a:ea typeface="Noto Sans Symbols"/>
                <a:cs typeface="Noto Sans Symbols"/>
              </a:rPr>
              <a:t>Bachelor Degree (Graduated), </a:t>
            </a:r>
            <a:r>
              <a:rPr lang="en-US" altLang="zh-TW" sz="1000" dirty="0" err="1">
                <a:effectLst/>
                <a:latin typeface="Noto Sans Symbols"/>
                <a:ea typeface="Noto Sans Symbols"/>
                <a:cs typeface="Noto Sans Symbols"/>
              </a:rPr>
              <a:t>Tamkang</a:t>
            </a:r>
            <a:r>
              <a:rPr lang="en-US" altLang="zh-TW" sz="1000" dirty="0">
                <a:effectLst/>
                <a:latin typeface="Noto Sans Symbols"/>
                <a:ea typeface="Noto Sans Symbols"/>
                <a:cs typeface="Noto Sans Symbols"/>
              </a:rPr>
              <a:t> University, Taiwan  (2001/09~2005/06) </a:t>
            </a:r>
            <a:endParaRPr lang="zh-TW" altLang="zh-TW" sz="1000" dirty="0">
              <a:effectLst/>
              <a:latin typeface="Noto Sans Symbols"/>
              <a:ea typeface="Noto Sans Symbols"/>
              <a:cs typeface="Noto Sans Symbols"/>
            </a:endParaRPr>
          </a:p>
          <a:p>
            <a:pPr marL="342900" lvl="0" indent="-342900">
              <a:lnSpc>
                <a:spcPct val="150000"/>
              </a:lnSpc>
              <a:spcAft>
                <a:spcPts val="1000"/>
              </a:spcAft>
              <a:buFont typeface="Arial" panose="020B0604020202020204" pitchFamily="34" charset="0"/>
              <a:buChar char="●"/>
            </a:pPr>
            <a:r>
              <a:rPr lang="en-US" altLang="zh-TW" sz="1000" dirty="0">
                <a:effectLst/>
                <a:latin typeface="Noto Sans Symbols"/>
                <a:ea typeface="Noto Sans Symbols"/>
                <a:cs typeface="Noto Sans Symbols"/>
              </a:rPr>
              <a:t>Major</a:t>
            </a:r>
            <a:r>
              <a:rPr lang="zh-TW" altLang="zh-TW" sz="1000" dirty="0">
                <a:effectLst/>
                <a:latin typeface="Calibri" panose="020F0502020204030204" pitchFamily="34" charset="0"/>
                <a:ea typeface="新細明體" panose="02020500000000000000" pitchFamily="18" charset="-120"/>
                <a:cs typeface="Noto Sans Symbols"/>
              </a:rPr>
              <a:t>：</a:t>
            </a:r>
            <a:r>
              <a:rPr lang="en-US" altLang="zh-TW" sz="1000" dirty="0">
                <a:effectLst/>
                <a:latin typeface="Noto Sans Symbols"/>
                <a:ea typeface="Noto Sans Symbols"/>
                <a:cs typeface="Noto Sans Symbols"/>
              </a:rPr>
              <a:t>Statistics</a:t>
            </a:r>
            <a:endParaRPr lang="zh-TW" altLang="zh-TW" sz="1000" dirty="0">
              <a:effectLst/>
              <a:latin typeface="Noto Sans Symbols"/>
              <a:ea typeface="Noto Sans Symbols"/>
              <a:cs typeface="Noto Sans Symbols"/>
            </a:endParaRPr>
          </a:p>
          <a:p>
            <a:pPr marL="342900" lvl="0" indent="-342900">
              <a:lnSpc>
                <a:spcPct val="150000"/>
              </a:lnSpc>
              <a:spcAft>
                <a:spcPts val="1000"/>
              </a:spcAft>
              <a:buFont typeface="Arial" panose="020B0604020202020204" pitchFamily="34" charset="0"/>
              <a:buChar char="●"/>
            </a:pPr>
            <a:r>
              <a:rPr lang="en-US" altLang="zh-TW" sz="1000" dirty="0">
                <a:solidFill>
                  <a:srgbClr val="000000"/>
                </a:solidFill>
                <a:effectLst/>
                <a:latin typeface="Noto Sans Symbols"/>
                <a:ea typeface="Noto Sans Symbols"/>
                <a:cs typeface="Noto Sans Symbols"/>
              </a:rPr>
              <a:t>ESL course(Graduated), JIC Language School, Philippine (2016/0</a:t>
            </a:r>
            <a:r>
              <a:rPr lang="en-US" altLang="zh-TW" sz="1000" dirty="0">
                <a:effectLst/>
                <a:latin typeface="Noto Sans Symbols"/>
                <a:ea typeface="Noto Sans Symbols"/>
                <a:cs typeface="Noto Sans Symbols"/>
              </a:rPr>
              <a:t>2</a:t>
            </a:r>
            <a:r>
              <a:rPr lang="en-US" altLang="zh-TW" sz="1000" dirty="0">
                <a:solidFill>
                  <a:srgbClr val="000000"/>
                </a:solidFill>
                <a:effectLst/>
                <a:latin typeface="Noto Sans Symbols"/>
                <a:ea typeface="Noto Sans Symbols"/>
                <a:cs typeface="Noto Sans Symbols"/>
              </a:rPr>
              <a:t>~2016/0</a:t>
            </a:r>
            <a:r>
              <a:rPr lang="en-US" altLang="zh-TW" sz="1000" dirty="0">
                <a:effectLst/>
                <a:latin typeface="Noto Sans Symbols"/>
                <a:ea typeface="Noto Sans Symbols"/>
                <a:cs typeface="Noto Sans Symbols"/>
              </a:rPr>
              <a:t>6</a:t>
            </a:r>
            <a:r>
              <a:rPr lang="en-US" altLang="zh-TW" sz="1000" dirty="0">
                <a:solidFill>
                  <a:srgbClr val="000000"/>
                </a:solidFill>
                <a:effectLst/>
                <a:latin typeface="Noto Sans Symbols"/>
                <a:ea typeface="Noto Sans Symbols"/>
                <a:cs typeface="Noto Sans Symbols"/>
              </a:rPr>
              <a:t>)                                        </a:t>
            </a:r>
            <a:endParaRPr lang="zh-TW" altLang="zh-TW" sz="1000" dirty="0">
              <a:effectLst/>
              <a:latin typeface="Noto Sans Symbols"/>
              <a:ea typeface="Noto Sans Symbols"/>
              <a:cs typeface="Noto Sans Symbols"/>
            </a:endParaRPr>
          </a:p>
          <a:p>
            <a:pPr marL="342900" lvl="0" indent="-342900">
              <a:lnSpc>
                <a:spcPct val="150000"/>
              </a:lnSpc>
              <a:spcAft>
                <a:spcPts val="1000"/>
              </a:spcAft>
              <a:buFont typeface="Arial" panose="020B0604020202020204" pitchFamily="34" charset="0"/>
              <a:buChar char="●"/>
            </a:pPr>
            <a:r>
              <a:rPr lang="en-US" altLang="zh-TW" sz="1000" dirty="0">
                <a:solidFill>
                  <a:srgbClr val="000000"/>
                </a:solidFill>
                <a:effectLst/>
                <a:latin typeface="Noto Sans Symbols"/>
                <a:ea typeface="Noto Sans Symbols"/>
                <a:cs typeface="Noto Sans Symbols"/>
              </a:rPr>
              <a:t>JLPT N5        </a:t>
            </a:r>
            <a:endParaRPr lang="zh-TW" altLang="zh-TW" sz="1000" dirty="0">
              <a:effectLst/>
              <a:latin typeface="Noto Sans Symbols"/>
              <a:ea typeface="Noto Sans Symbols"/>
              <a:cs typeface="Noto Sans Symbols"/>
            </a:endParaRPr>
          </a:p>
          <a:p>
            <a:pPr marL="342900" lvl="0" indent="-342900">
              <a:lnSpc>
                <a:spcPct val="150000"/>
              </a:lnSpc>
              <a:spcAft>
                <a:spcPts val="1000"/>
              </a:spcAft>
              <a:buFont typeface="Arial" panose="020B0604020202020204" pitchFamily="34" charset="0"/>
              <a:buChar char="●"/>
            </a:pPr>
            <a:r>
              <a:rPr lang="en-US" altLang="zh-TW" sz="1000" dirty="0">
                <a:solidFill>
                  <a:srgbClr val="000000"/>
                </a:solidFill>
                <a:effectLst/>
                <a:latin typeface="Noto Sans Symbols"/>
                <a:ea typeface="Noto Sans Symbols"/>
                <a:cs typeface="Noto Sans Symbols"/>
              </a:rPr>
              <a:t>ISO/TS 16949:2002</a:t>
            </a:r>
            <a:endParaRPr lang="zh-TW" altLang="zh-TW" sz="1000" dirty="0">
              <a:effectLst/>
              <a:latin typeface="Noto Sans Symbols"/>
              <a:ea typeface="Noto Sans Symbols"/>
              <a:cs typeface="Noto Sans Symbols"/>
            </a:endParaRPr>
          </a:p>
          <a:p>
            <a:endParaRPr lang="zh-TW" altLang="en-US" sz="1000" dirty="0"/>
          </a:p>
        </p:txBody>
      </p:sp>
    </p:spTree>
    <p:extLst>
      <p:ext uri="{BB962C8B-B14F-4D97-AF65-F5344CB8AC3E}">
        <p14:creationId xmlns:p14="http://schemas.microsoft.com/office/powerpoint/2010/main" val="130670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圓角矩形 13">
            <a:extLst>
              <a:ext uri="{FF2B5EF4-FFF2-40B4-BE49-F238E27FC236}">
                <a16:creationId xmlns:a16="http://schemas.microsoft.com/office/drawing/2014/main" id="{2642E44A-6902-3417-8522-3BA8144DCBCD}"/>
              </a:ext>
            </a:extLst>
          </p:cNvPr>
          <p:cNvSpPr/>
          <p:nvPr/>
        </p:nvSpPr>
        <p:spPr>
          <a:xfrm>
            <a:off x="1376978" y="593294"/>
            <a:ext cx="1958677" cy="46180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TW" altLang="en-US" b="1" dirty="0">
                <a:solidFill>
                  <a:schemeClr val="bg1"/>
                </a:solidFill>
                <a:latin typeface="PingFang SC" panose="020B0400000000000000" pitchFamily="34" charset="-122"/>
                <a:ea typeface="PingFang SC" panose="020B0400000000000000" pitchFamily="34" charset="-122"/>
              </a:rPr>
              <a:t>報考動機</a:t>
            </a:r>
            <a:r>
              <a:rPr kumimoji="1" lang="zh-TW" altLang="en-US" sz="1800" b="1" dirty="0">
                <a:solidFill>
                  <a:schemeClr val="bg1"/>
                </a:solidFill>
                <a:latin typeface="PingFang SC" panose="020B0400000000000000" pitchFamily="34" charset="-122"/>
                <a:ea typeface="PingFang SC" panose="020B0400000000000000" pitchFamily="34" charset="-122"/>
              </a:rPr>
              <a:t>與規劃</a:t>
            </a:r>
          </a:p>
        </p:txBody>
      </p:sp>
      <p:sp>
        <p:nvSpPr>
          <p:cNvPr id="19" name="圓角矩形 18">
            <a:extLst>
              <a:ext uri="{FF2B5EF4-FFF2-40B4-BE49-F238E27FC236}">
                <a16:creationId xmlns:a16="http://schemas.microsoft.com/office/drawing/2014/main" id="{3DB994ED-A9C8-2BB2-7A6F-02A2535F319D}"/>
              </a:ext>
            </a:extLst>
          </p:cNvPr>
          <p:cNvSpPr/>
          <p:nvPr/>
        </p:nvSpPr>
        <p:spPr>
          <a:xfrm>
            <a:off x="552666" y="600924"/>
            <a:ext cx="674153" cy="461801"/>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kumimoji="1" lang="en-US" altLang="zh-TW" b="1" dirty="0">
                <a:solidFill>
                  <a:schemeClr val="bg1"/>
                </a:solidFill>
                <a:latin typeface="PingFang SC" panose="020B0400000000000000" pitchFamily="34" charset="-122"/>
                <a:ea typeface="PingFang SC" panose="020B0400000000000000" pitchFamily="34" charset="-122"/>
              </a:rPr>
              <a:t>03</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cxnSp>
        <p:nvCxnSpPr>
          <p:cNvPr id="27" name="直線接點 26">
            <a:extLst>
              <a:ext uri="{FF2B5EF4-FFF2-40B4-BE49-F238E27FC236}">
                <a16:creationId xmlns:a16="http://schemas.microsoft.com/office/drawing/2014/main" id="{5EF3FDE2-B331-937D-B1AE-8EEE187A4413}"/>
              </a:ext>
            </a:extLst>
          </p:cNvPr>
          <p:cNvCxnSpPr>
            <a:cxnSpLocks/>
          </p:cNvCxnSpPr>
          <p:nvPr/>
        </p:nvCxnSpPr>
        <p:spPr>
          <a:xfrm>
            <a:off x="735432" y="2029258"/>
            <a:ext cx="0" cy="977099"/>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235A5381-9EED-FCF6-11D1-9CAF18FEC4F6}"/>
              </a:ext>
            </a:extLst>
          </p:cNvPr>
          <p:cNvCxnSpPr>
            <a:cxnSpLocks/>
          </p:cNvCxnSpPr>
          <p:nvPr/>
        </p:nvCxnSpPr>
        <p:spPr>
          <a:xfrm>
            <a:off x="735432" y="3006357"/>
            <a:ext cx="0" cy="955658"/>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2" name="文字方塊 31">
            <a:extLst>
              <a:ext uri="{FF2B5EF4-FFF2-40B4-BE49-F238E27FC236}">
                <a16:creationId xmlns:a16="http://schemas.microsoft.com/office/drawing/2014/main" id="{335568FF-BB58-D179-B664-558D1CE350C4}"/>
              </a:ext>
            </a:extLst>
          </p:cNvPr>
          <p:cNvSpPr txBox="1"/>
          <p:nvPr/>
        </p:nvSpPr>
        <p:spPr>
          <a:xfrm>
            <a:off x="1061273" y="1866033"/>
            <a:ext cx="3058851"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第一季  </a:t>
            </a:r>
            <a:r>
              <a:rPr kumimoji="1" lang="en-US" altLang="zh-TW" b="1" dirty="0"/>
              <a:t>2024/6 - 2024/9</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暑假</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33" name="文字方塊 32">
            <a:extLst>
              <a:ext uri="{FF2B5EF4-FFF2-40B4-BE49-F238E27FC236}">
                <a16:creationId xmlns:a16="http://schemas.microsoft.com/office/drawing/2014/main" id="{7D95B054-55A2-1804-5A18-536858C16333}"/>
              </a:ext>
            </a:extLst>
          </p:cNvPr>
          <p:cNvSpPr txBox="1"/>
          <p:nvPr/>
        </p:nvSpPr>
        <p:spPr>
          <a:xfrm>
            <a:off x="1061273" y="2821691"/>
            <a:ext cx="3264035"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第二季  </a:t>
            </a:r>
            <a:r>
              <a:rPr kumimoji="1" lang="en-US" altLang="zh-TW" b="1" dirty="0"/>
              <a:t>2024/9 - 2025/1</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碩一上</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34" name="文字方塊 33">
            <a:extLst>
              <a:ext uri="{FF2B5EF4-FFF2-40B4-BE49-F238E27FC236}">
                <a16:creationId xmlns:a16="http://schemas.microsoft.com/office/drawing/2014/main" id="{952FAD1B-800E-FEA7-8F10-246941A34EDE}"/>
              </a:ext>
            </a:extLst>
          </p:cNvPr>
          <p:cNvSpPr txBox="1"/>
          <p:nvPr/>
        </p:nvSpPr>
        <p:spPr>
          <a:xfrm>
            <a:off x="1061273" y="3777349"/>
            <a:ext cx="3058851"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第三季  </a:t>
            </a:r>
            <a:r>
              <a:rPr kumimoji="1" lang="en-US" altLang="zh-TW" b="1" dirty="0"/>
              <a:t>2025/1 - 2025/2</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寒假</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35" name="文字方塊 34">
            <a:extLst>
              <a:ext uri="{FF2B5EF4-FFF2-40B4-BE49-F238E27FC236}">
                <a16:creationId xmlns:a16="http://schemas.microsoft.com/office/drawing/2014/main" id="{03EEE2A3-41F7-AC72-0675-BE6CCB42A60C}"/>
              </a:ext>
            </a:extLst>
          </p:cNvPr>
          <p:cNvSpPr txBox="1"/>
          <p:nvPr/>
        </p:nvSpPr>
        <p:spPr>
          <a:xfrm>
            <a:off x="1061273" y="4733007"/>
            <a:ext cx="3264035"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第四季  </a:t>
            </a:r>
            <a:r>
              <a:rPr kumimoji="1" lang="en-US" altLang="zh-TW" b="1" dirty="0"/>
              <a:t>2025/2 - 2025/6</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碩一下</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36" name="文字方塊 35">
            <a:extLst>
              <a:ext uri="{FF2B5EF4-FFF2-40B4-BE49-F238E27FC236}">
                <a16:creationId xmlns:a16="http://schemas.microsoft.com/office/drawing/2014/main" id="{32718B2F-EDC2-D530-E148-1BA9621CB879}"/>
              </a:ext>
            </a:extLst>
          </p:cNvPr>
          <p:cNvSpPr txBox="1"/>
          <p:nvPr/>
        </p:nvSpPr>
        <p:spPr>
          <a:xfrm>
            <a:off x="1061273" y="5688665"/>
            <a:ext cx="3058851"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第五季  </a:t>
            </a:r>
            <a:r>
              <a:rPr kumimoji="1" lang="en-US" altLang="zh-TW" b="1" dirty="0"/>
              <a:t>2025/6 - 2024/9</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暑假</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37" name="文字方塊 36">
            <a:extLst>
              <a:ext uri="{FF2B5EF4-FFF2-40B4-BE49-F238E27FC236}">
                <a16:creationId xmlns:a16="http://schemas.microsoft.com/office/drawing/2014/main" id="{F8BAB5B4-F3D1-1999-631E-373C4BF845EE}"/>
              </a:ext>
            </a:extLst>
          </p:cNvPr>
          <p:cNvSpPr txBox="1"/>
          <p:nvPr/>
        </p:nvSpPr>
        <p:spPr>
          <a:xfrm>
            <a:off x="1061273" y="6644323"/>
            <a:ext cx="3264035"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第六季  </a:t>
            </a:r>
            <a:r>
              <a:rPr kumimoji="1" lang="en-US" altLang="zh-TW" b="1" dirty="0"/>
              <a:t>2025/9 - 2026/1</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碩二上</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38" name="文字方塊 37">
            <a:extLst>
              <a:ext uri="{FF2B5EF4-FFF2-40B4-BE49-F238E27FC236}">
                <a16:creationId xmlns:a16="http://schemas.microsoft.com/office/drawing/2014/main" id="{1DE9A041-A593-4DA2-2BB4-F83DFDA2FB2C}"/>
              </a:ext>
            </a:extLst>
          </p:cNvPr>
          <p:cNvSpPr txBox="1"/>
          <p:nvPr/>
        </p:nvSpPr>
        <p:spPr>
          <a:xfrm>
            <a:off x="1061273" y="7599981"/>
            <a:ext cx="3058851"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第七季  </a:t>
            </a:r>
            <a:r>
              <a:rPr kumimoji="1" lang="en-US" altLang="zh-TW" b="1" dirty="0"/>
              <a:t>2026/1 - 2026/2</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寒假</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39" name="文字方塊 38">
            <a:extLst>
              <a:ext uri="{FF2B5EF4-FFF2-40B4-BE49-F238E27FC236}">
                <a16:creationId xmlns:a16="http://schemas.microsoft.com/office/drawing/2014/main" id="{9ECED448-8C47-14E2-B934-C0E07276D441}"/>
              </a:ext>
            </a:extLst>
          </p:cNvPr>
          <p:cNvSpPr txBox="1"/>
          <p:nvPr/>
        </p:nvSpPr>
        <p:spPr>
          <a:xfrm>
            <a:off x="1061273" y="8555642"/>
            <a:ext cx="3264035" cy="369332"/>
          </a:xfrm>
          <a:prstGeom prst="rect">
            <a:avLst/>
          </a:prstGeom>
          <a:noFill/>
        </p:spPr>
        <p:txBody>
          <a:bodyPr wrap="none" rtlCol="0">
            <a:spAutoFit/>
          </a:bodyPr>
          <a:lstStyle/>
          <a:p>
            <a:r>
              <a:rPr kumimoji="1" lang="zh-TW" altLang="en-US" sz="1600" b="1" dirty="0">
                <a:latin typeface="PingFang SC" panose="020B0400000000000000" pitchFamily="34" charset="-122"/>
                <a:ea typeface="PingFang SC" panose="020B0400000000000000" pitchFamily="34" charset="-122"/>
              </a:rPr>
              <a:t>第八季  </a:t>
            </a:r>
            <a:r>
              <a:rPr kumimoji="1" lang="en-US" altLang="zh-TW" b="1" dirty="0"/>
              <a:t>2026/2 - 2026/6</a:t>
            </a:r>
            <a:r>
              <a:rPr kumimoji="1" lang="en-US" altLang="zh-TW" sz="1600" b="1" dirty="0"/>
              <a:t> </a:t>
            </a:r>
            <a:r>
              <a:rPr kumimoji="1" lang="en-US" altLang="zh-TW" sz="1600" b="1" dirty="0">
                <a:latin typeface="PingFang SC" panose="020B0400000000000000" pitchFamily="34" charset="-122"/>
                <a:ea typeface="PingFang SC" panose="020B0400000000000000" pitchFamily="34" charset="-122"/>
              </a:rPr>
              <a:t>(</a:t>
            </a:r>
            <a:r>
              <a:rPr kumimoji="1" lang="zh-TW" altLang="en-US" sz="1600" b="1" dirty="0">
                <a:latin typeface="PingFang SC" panose="020B0400000000000000" pitchFamily="34" charset="-122"/>
                <a:ea typeface="PingFang SC" panose="020B0400000000000000" pitchFamily="34" charset="-122"/>
              </a:rPr>
              <a:t>碩二下</a:t>
            </a:r>
            <a:r>
              <a:rPr kumimoji="1" lang="en-US" altLang="zh-TW" sz="1600" b="1" dirty="0">
                <a:latin typeface="PingFang SC" panose="020B0400000000000000" pitchFamily="34" charset="-122"/>
                <a:ea typeface="PingFang SC" panose="020B0400000000000000" pitchFamily="34" charset="-122"/>
              </a:rPr>
              <a:t>)</a:t>
            </a:r>
            <a:endParaRPr kumimoji="1" lang="zh-TW" altLang="en-US" sz="1600" b="1" dirty="0">
              <a:latin typeface="PingFang SC" panose="020B0400000000000000" pitchFamily="34" charset="-122"/>
              <a:ea typeface="PingFang SC" panose="020B0400000000000000" pitchFamily="34" charset="-122"/>
            </a:endParaRPr>
          </a:p>
        </p:txBody>
      </p:sp>
      <p:sp>
        <p:nvSpPr>
          <p:cNvPr id="43" name="文字方塊 42">
            <a:extLst>
              <a:ext uri="{FF2B5EF4-FFF2-40B4-BE49-F238E27FC236}">
                <a16:creationId xmlns:a16="http://schemas.microsoft.com/office/drawing/2014/main" id="{C1ED9E49-9B24-35EB-4A40-1B03B00C3ADB}"/>
              </a:ext>
            </a:extLst>
          </p:cNvPr>
          <p:cNvSpPr txBox="1"/>
          <p:nvPr/>
        </p:nvSpPr>
        <p:spPr>
          <a:xfrm>
            <a:off x="579202" y="1212842"/>
            <a:ext cx="5776696" cy="567271"/>
          </a:xfrm>
          <a:prstGeom prst="rect">
            <a:avLst/>
          </a:prstGeom>
          <a:noFill/>
        </p:spPr>
        <p:txBody>
          <a:bodyPr wrap="square">
            <a:spAutoFit/>
          </a:bodyPr>
          <a:lstStyle/>
          <a:p>
            <a:pPr>
              <a:lnSpc>
                <a:spcPts val="1860"/>
              </a:lnSpc>
            </a:pPr>
            <a:r>
              <a:rPr lang="zh-TW" altLang="en-US" sz="1300" dirty="0">
                <a:solidFill>
                  <a:schemeClr val="tx1">
                    <a:lumMod val="85000"/>
                    <a:lumOff val="15000"/>
                  </a:schemeClr>
                </a:solidFill>
                <a:effectLst/>
                <a:latin typeface="PingFang SC" panose="020B0400000000000000" pitchFamily="34" charset="-122"/>
                <a:ea typeface="PingFang SC" panose="020B0400000000000000" pitchFamily="34" charset="-122"/>
              </a:rPr>
              <a:t>預計以兩年修業年限為</a:t>
            </a:r>
            <a:r>
              <a:rPr lang="zh-TW" altLang="en-US" sz="1300" dirty="0">
                <a:solidFill>
                  <a:schemeClr val="tx1">
                    <a:lumMod val="85000"/>
                    <a:lumOff val="15000"/>
                  </a:schemeClr>
                </a:solidFill>
                <a:latin typeface="PingFang SC" panose="020B0400000000000000" pitchFamily="34" charset="-122"/>
                <a:ea typeface="PingFang SC" panose="020B0400000000000000" pitchFamily="34" charset="-122"/>
              </a:rPr>
              <a:t>目標</a:t>
            </a:r>
            <a:r>
              <a:rPr lang="zh-TW" altLang="en-US" sz="1300" dirty="0">
                <a:solidFill>
                  <a:schemeClr val="tx1">
                    <a:lumMod val="85000"/>
                    <a:lumOff val="15000"/>
                  </a:schemeClr>
                </a:solidFill>
                <a:effectLst/>
                <a:latin typeface="PingFang SC" panose="020B0400000000000000" pitchFamily="34" charset="-122"/>
                <a:ea typeface="PingFang SC" panose="020B0400000000000000" pitchFamily="34" charset="-122"/>
              </a:rPr>
              <a:t>，期許自己在研究所</a:t>
            </a:r>
            <a:r>
              <a:rPr lang="zh-TW" altLang="en-US" sz="1300" dirty="0">
                <a:solidFill>
                  <a:schemeClr val="tx1">
                    <a:lumMod val="85000"/>
                    <a:lumOff val="15000"/>
                  </a:schemeClr>
                </a:solidFill>
                <a:latin typeface="PingFang SC" panose="020B0400000000000000" pitchFamily="34" charset="-122"/>
                <a:ea typeface="PingFang SC" panose="020B0400000000000000" pitchFamily="34" charset="-122"/>
              </a:rPr>
              <a:t>更認識自己、深化並實踐諮商輔導專業能力，成為獨當一面的諮商輔導專業人員，有能力幫助他人。</a:t>
            </a:r>
            <a:endParaRPr lang="zh-TW" altLang="en-US" sz="1300" dirty="0">
              <a:solidFill>
                <a:schemeClr val="tx1">
                  <a:lumMod val="85000"/>
                  <a:lumOff val="15000"/>
                </a:schemeClr>
              </a:solidFill>
              <a:effectLst/>
              <a:latin typeface="PingFang SC" panose="020B0400000000000000" pitchFamily="34" charset="-122"/>
              <a:ea typeface="PingFang SC" panose="020B0400000000000000" pitchFamily="34" charset="-122"/>
            </a:endParaRPr>
          </a:p>
        </p:txBody>
      </p:sp>
      <p:sp>
        <p:nvSpPr>
          <p:cNvPr id="45" name="文字方塊 44">
            <a:extLst>
              <a:ext uri="{FF2B5EF4-FFF2-40B4-BE49-F238E27FC236}">
                <a16:creationId xmlns:a16="http://schemas.microsoft.com/office/drawing/2014/main" id="{85FD90C5-D471-6EDB-ABF0-64CF7F040EE3}"/>
              </a:ext>
            </a:extLst>
          </p:cNvPr>
          <p:cNvSpPr txBox="1"/>
          <p:nvPr/>
        </p:nvSpPr>
        <p:spPr>
          <a:xfrm>
            <a:off x="1061273" y="2164534"/>
            <a:ext cx="6922294" cy="571054"/>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加深基礎：普通心理學</a:t>
            </a:r>
            <a:r>
              <a:rPr lang="en-US" altLang="zh-TW" sz="1400" dirty="0">
                <a:solidFill>
                  <a:schemeClr val="tx1">
                    <a:lumMod val="85000"/>
                    <a:lumOff val="15000"/>
                  </a:schemeClr>
                </a:solidFill>
                <a:latin typeface="PingFang SC" panose="020B0400000000000000" pitchFamily="34" charset="-122"/>
                <a:ea typeface="PingFang SC" panose="020B0400000000000000" pitchFamily="34" charset="-122"/>
              </a:rPr>
              <a:t>, </a:t>
            </a: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諮商輔導技術</a:t>
            </a:r>
            <a:r>
              <a:rPr lang="en-US" altLang="zh-TW" sz="1400" dirty="0">
                <a:solidFill>
                  <a:schemeClr val="tx1">
                    <a:lumMod val="85000"/>
                    <a:lumOff val="15000"/>
                  </a:schemeClr>
                </a:solidFill>
                <a:latin typeface="PingFang SC" panose="020B0400000000000000" pitchFamily="34" charset="-122"/>
                <a:ea typeface="PingFang SC" panose="020B0400000000000000" pitchFamily="34" charset="-122"/>
              </a:rPr>
              <a:t>, </a:t>
            </a: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諮商與心理治療理論</a:t>
            </a:r>
            <a:br>
              <a:rPr lang="en-US" altLang="zh-TW" sz="1400" dirty="0">
                <a:solidFill>
                  <a:schemeClr val="tx1">
                    <a:lumMod val="85000"/>
                    <a:lumOff val="15000"/>
                  </a:schemeClr>
                </a:solidFill>
                <a:effectLst/>
                <a:latin typeface="PingFang SC" panose="020B0400000000000000" pitchFamily="34" charset="-122"/>
                <a:ea typeface="PingFang SC" panose="020B0400000000000000" pitchFamily="34" charset="-122"/>
              </a:rPr>
            </a:b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研究探索：情緒支持或生涯諮商運用於身心障礙之議題</a:t>
            </a:r>
            <a:endPar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endParaRPr>
          </a:p>
        </p:txBody>
      </p:sp>
      <p:sp>
        <p:nvSpPr>
          <p:cNvPr id="46" name="文字方塊 45">
            <a:extLst>
              <a:ext uri="{FF2B5EF4-FFF2-40B4-BE49-F238E27FC236}">
                <a16:creationId xmlns:a16="http://schemas.microsoft.com/office/drawing/2014/main" id="{52CAFFD3-010B-5462-B74C-C020913D95C1}"/>
              </a:ext>
            </a:extLst>
          </p:cNvPr>
          <p:cNvSpPr txBox="1"/>
          <p:nvPr/>
        </p:nvSpPr>
        <p:spPr>
          <a:xfrm>
            <a:off x="1061273" y="3121592"/>
            <a:ext cx="6922294" cy="571054"/>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論文研究：認識</a:t>
            </a: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身心障礙</a:t>
            </a: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諮商主題、收集相關文獻</a:t>
            </a:r>
            <a:endParaRPr lang="en-US" altLang="zh-TW" sz="1400" dirty="0">
              <a:solidFill>
                <a:schemeClr val="tx1">
                  <a:lumMod val="85000"/>
                  <a:lumOff val="15000"/>
                </a:schemeClr>
              </a:solidFill>
              <a:effectLst/>
              <a:latin typeface="PingFang SC" panose="020B0400000000000000" pitchFamily="34" charset="-122"/>
              <a:ea typeface="PingFang SC" panose="020B0400000000000000" pitchFamily="34" charset="-122"/>
            </a:endParaRPr>
          </a:p>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修課：社會科學研究法、性別議題與教育、</a:t>
            </a: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諮商理論與技術</a:t>
            </a:r>
          </a:p>
        </p:txBody>
      </p:sp>
      <p:sp>
        <p:nvSpPr>
          <p:cNvPr id="4" name="文字方塊 3">
            <a:extLst>
              <a:ext uri="{FF2B5EF4-FFF2-40B4-BE49-F238E27FC236}">
                <a16:creationId xmlns:a16="http://schemas.microsoft.com/office/drawing/2014/main" id="{E080537A-17C0-D847-F2DF-6C474D2DB528}"/>
              </a:ext>
            </a:extLst>
          </p:cNvPr>
          <p:cNvSpPr txBox="1"/>
          <p:nvPr/>
        </p:nvSpPr>
        <p:spPr>
          <a:xfrm>
            <a:off x="1061273" y="4078650"/>
            <a:ext cx="6922294" cy="571054"/>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論文研究：尋找文獻裡可創新與突破的機會、決定研究方向</a:t>
            </a:r>
            <a:endParaRPr lang="en-US" altLang="zh-TW" sz="1400" dirty="0">
              <a:solidFill>
                <a:schemeClr val="tx1">
                  <a:lumMod val="85000"/>
                  <a:lumOff val="15000"/>
                </a:schemeClr>
              </a:solidFill>
              <a:effectLst/>
              <a:latin typeface="PingFang SC" panose="020B0400000000000000" pitchFamily="34" charset="-122"/>
              <a:ea typeface="PingFang SC" panose="020B0400000000000000" pitchFamily="34" charset="-122"/>
            </a:endParaRPr>
          </a:p>
          <a:p>
            <a:pPr>
              <a:lnSpc>
                <a:spcPts val="1880"/>
              </a:lnSpc>
            </a:pP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課外：申請短期實習，去機構交流並思考可創新之處 </a:t>
            </a:r>
          </a:p>
        </p:txBody>
      </p:sp>
      <p:sp>
        <p:nvSpPr>
          <p:cNvPr id="5" name="文字方塊 4">
            <a:extLst>
              <a:ext uri="{FF2B5EF4-FFF2-40B4-BE49-F238E27FC236}">
                <a16:creationId xmlns:a16="http://schemas.microsoft.com/office/drawing/2014/main" id="{CF8D7A7F-078A-C59B-501C-BA49ABB8FDE8}"/>
              </a:ext>
            </a:extLst>
          </p:cNvPr>
          <p:cNvSpPr txBox="1"/>
          <p:nvPr/>
        </p:nvSpPr>
        <p:spPr>
          <a:xfrm>
            <a:off x="1061273" y="5035708"/>
            <a:ext cx="6922294" cy="571054"/>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論文研究：文獻回顧、學派分析、彙整批判的原則與優缺點 </a:t>
            </a:r>
            <a:endParaRPr lang="en-US" altLang="zh-TW" sz="1400" dirty="0">
              <a:solidFill>
                <a:schemeClr val="tx1">
                  <a:lumMod val="85000"/>
                  <a:lumOff val="15000"/>
                </a:schemeClr>
              </a:solidFill>
              <a:effectLst/>
              <a:latin typeface="PingFang SC" panose="020B0400000000000000" pitchFamily="34" charset="-122"/>
              <a:ea typeface="PingFang SC" panose="020B0400000000000000" pitchFamily="34" charset="-122"/>
            </a:endParaRPr>
          </a:p>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修課</a:t>
            </a: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：質的研究法、團體諮商</a:t>
            </a: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與輔導、個別</a:t>
            </a: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諮商實務</a:t>
            </a:r>
          </a:p>
        </p:txBody>
      </p:sp>
      <p:sp>
        <p:nvSpPr>
          <p:cNvPr id="6" name="文字方塊 5">
            <a:extLst>
              <a:ext uri="{FF2B5EF4-FFF2-40B4-BE49-F238E27FC236}">
                <a16:creationId xmlns:a16="http://schemas.microsoft.com/office/drawing/2014/main" id="{AB792638-E1AF-4DB6-8982-1D5E7915DE0F}"/>
              </a:ext>
            </a:extLst>
          </p:cNvPr>
          <p:cNvSpPr txBox="1"/>
          <p:nvPr/>
        </p:nvSpPr>
        <p:spPr>
          <a:xfrm>
            <a:off x="1061273" y="5992766"/>
            <a:ext cx="6922294" cy="571054"/>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論文研究：發展策略與研究構想、規劃架構並產出計畫書 </a:t>
            </a:r>
          </a:p>
          <a:p>
            <a:pPr>
              <a:lnSpc>
                <a:spcPts val="1880"/>
              </a:lnSpc>
            </a:pP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實習</a:t>
            </a:r>
            <a:r>
              <a:rPr lang="en-US" altLang="zh-TW" sz="1400" dirty="0">
                <a:solidFill>
                  <a:schemeClr val="tx1">
                    <a:lumMod val="85000"/>
                    <a:lumOff val="15000"/>
                  </a:schemeClr>
                </a:solidFill>
                <a:effectLst/>
                <a:latin typeface="PingFang SC" panose="020B0400000000000000" pitchFamily="34" charset="-122"/>
                <a:ea typeface="PingFang SC" panose="020B0400000000000000" pitchFamily="34" charset="-122"/>
              </a:rPr>
              <a:t>:</a:t>
            </a:r>
            <a:r>
              <a:rPr lang="zh-TW" altLang="en-US" sz="1400" dirty="0">
                <a:solidFill>
                  <a:schemeClr val="tx1">
                    <a:lumMod val="85000"/>
                    <a:lumOff val="15000"/>
                  </a:schemeClr>
                </a:solidFill>
                <a:effectLst/>
                <a:latin typeface="PingFang SC" panose="020B0400000000000000" pitchFamily="34" charset="-122"/>
                <a:ea typeface="PingFang SC" panose="020B0400000000000000" pitchFamily="34" charset="-122"/>
              </a:rPr>
              <a:t> 投遞與研究相關的實習，為研究添加實務經驗</a:t>
            </a:r>
          </a:p>
        </p:txBody>
      </p:sp>
      <p:sp>
        <p:nvSpPr>
          <p:cNvPr id="8" name="文字方塊 7">
            <a:extLst>
              <a:ext uri="{FF2B5EF4-FFF2-40B4-BE49-F238E27FC236}">
                <a16:creationId xmlns:a16="http://schemas.microsoft.com/office/drawing/2014/main" id="{C06BC837-3385-3019-CC6D-B475AA36D3CC}"/>
              </a:ext>
            </a:extLst>
          </p:cNvPr>
          <p:cNvSpPr txBox="1"/>
          <p:nvPr/>
        </p:nvSpPr>
        <p:spPr>
          <a:xfrm>
            <a:off x="1061273" y="6949824"/>
            <a:ext cx="6752896" cy="579646"/>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論文研究</a:t>
            </a:r>
            <a:r>
              <a:rPr lang="en-US" altLang="zh-TW" sz="1400" dirty="0">
                <a:solidFill>
                  <a:schemeClr val="tx1">
                    <a:lumMod val="85000"/>
                    <a:lumOff val="15000"/>
                  </a:schemeClr>
                </a:solidFill>
                <a:latin typeface="PingFang SC" panose="020B0400000000000000" pitchFamily="34" charset="-122"/>
                <a:ea typeface="PingFang SC" panose="020B0400000000000000" pitchFamily="34" charset="-122"/>
              </a:rPr>
              <a:t>: </a:t>
            </a: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完成理論發展、蒐集相關證據與數據、調整假說 </a:t>
            </a:r>
          </a:p>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修課：論文必修、 正向心理學、心理諮詢、伴侶與家庭</a:t>
            </a:r>
          </a:p>
        </p:txBody>
      </p:sp>
      <p:sp>
        <p:nvSpPr>
          <p:cNvPr id="11" name="文字方塊 10">
            <a:extLst>
              <a:ext uri="{FF2B5EF4-FFF2-40B4-BE49-F238E27FC236}">
                <a16:creationId xmlns:a16="http://schemas.microsoft.com/office/drawing/2014/main" id="{5793BE72-9ADE-C75A-6B0A-600401478D57}"/>
              </a:ext>
            </a:extLst>
          </p:cNvPr>
          <p:cNvSpPr txBox="1"/>
          <p:nvPr/>
        </p:nvSpPr>
        <p:spPr>
          <a:xfrm>
            <a:off x="1061273" y="7915474"/>
            <a:ext cx="6752896" cy="579646"/>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論文研究</a:t>
            </a:r>
            <a:r>
              <a:rPr lang="en-US" altLang="zh-TW" sz="1400" dirty="0">
                <a:solidFill>
                  <a:schemeClr val="tx1">
                    <a:lumMod val="85000"/>
                    <a:lumOff val="15000"/>
                  </a:schemeClr>
                </a:solidFill>
                <a:latin typeface="PingFang SC" panose="020B0400000000000000" pitchFamily="34" charset="-122"/>
                <a:ea typeface="PingFang SC" panose="020B0400000000000000" pitchFamily="34" charset="-122"/>
              </a:rPr>
              <a:t>: </a:t>
            </a: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評估研究成果、開始論文撰寫 </a:t>
            </a:r>
          </a:p>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課外：無，全力撰寫論文</a:t>
            </a:r>
          </a:p>
        </p:txBody>
      </p:sp>
      <p:sp>
        <p:nvSpPr>
          <p:cNvPr id="13" name="文字方塊 12">
            <a:extLst>
              <a:ext uri="{FF2B5EF4-FFF2-40B4-BE49-F238E27FC236}">
                <a16:creationId xmlns:a16="http://schemas.microsoft.com/office/drawing/2014/main" id="{67AED240-6F54-F4FD-4483-80BCDC3A46A5}"/>
              </a:ext>
            </a:extLst>
          </p:cNvPr>
          <p:cNvSpPr txBox="1"/>
          <p:nvPr/>
        </p:nvSpPr>
        <p:spPr>
          <a:xfrm>
            <a:off x="1061273" y="8881127"/>
            <a:ext cx="6752896" cy="571054"/>
          </a:xfrm>
          <a:prstGeom prst="rect">
            <a:avLst/>
          </a:prstGeom>
          <a:noFill/>
        </p:spPr>
        <p:txBody>
          <a:bodyPr wrap="square">
            <a:spAutoFit/>
          </a:bodyPr>
          <a:lstStyle/>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論文研究：修改論文草稿、最終完稿、準備論文口試 </a:t>
            </a:r>
          </a:p>
          <a:p>
            <a:pPr>
              <a:lnSpc>
                <a:spcPts val="1880"/>
              </a:lnSpc>
            </a:pPr>
            <a:r>
              <a:rPr lang="zh-TW" altLang="en-US" sz="1400" dirty="0">
                <a:solidFill>
                  <a:schemeClr val="tx1">
                    <a:lumMod val="85000"/>
                    <a:lumOff val="15000"/>
                  </a:schemeClr>
                </a:solidFill>
                <a:latin typeface="PingFang SC" panose="020B0400000000000000" pitchFamily="34" charset="-122"/>
                <a:ea typeface="PingFang SC" panose="020B0400000000000000" pitchFamily="34" charset="-122"/>
              </a:rPr>
              <a:t>修課：論文必修、 生涯發展與輔導、生命議題</a:t>
            </a:r>
          </a:p>
        </p:txBody>
      </p:sp>
      <p:cxnSp>
        <p:nvCxnSpPr>
          <p:cNvPr id="18" name="直線接點 17">
            <a:extLst>
              <a:ext uri="{FF2B5EF4-FFF2-40B4-BE49-F238E27FC236}">
                <a16:creationId xmlns:a16="http://schemas.microsoft.com/office/drawing/2014/main" id="{24E76948-0DC3-1771-E8C9-40CCCF2973FF}"/>
              </a:ext>
            </a:extLst>
          </p:cNvPr>
          <p:cNvCxnSpPr>
            <a:cxnSpLocks/>
          </p:cNvCxnSpPr>
          <p:nvPr/>
        </p:nvCxnSpPr>
        <p:spPr>
          <a:xfrm>
            <a:off x="735432" y="3962015"/>
            <a:ext cx="0" cy="955658"/>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E1DEA300-C888-A929-AFE1-B0B90F908F37}"/>
              </a:ext>
            </a:extLst>
          </p:cNvPr>
          <p:cNvCxnSpPr>
            <a:cxnSpLocks/>
          </p:cNvCxnSpPr>
          <p:nvPr/>
        </p:nvCxnSpPr>
        <p:spPr>
          <a:xfrm>
            <a:off x="735432" y="4917673"/>
            <a:ext cx="0" cy="955658"/>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D367BC5E-D4DE-A5B3-99AC-2F2DF2BDC751}"/>
              </a:ext>
            </a:extLst>
          </p:cNvPr>
          <p:cNvCxnSpPr>
            <a:cxnSpLocks/>
          </p:cNvCxnSpPr>
          <p:nvPr/>
        </p:nvCxnSpPr>
        <p:spPr>
          <a:xfrm>
            <a:off x="735432" y="5873331"/>
            <a:ext cx="0" cy="955658"/>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E653151E-E23A-3191-A4CD-827969219F0F}"/>
              </a:ext>
            </a:extLst>
          </p:cNvPr>
          <p:cNvCxnSpPr>
            <a:cxnSpLocks/>
          </p:cNvCxnSpPr>
          <p:nvPr/>
        </p:nvCxnSpPr>
        <p:spPr>
          <a:xfrm>
            <a:off x="735432" y="6828989"/>
            <a:ext cx="0" cy="955658"/>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45FCDC05-72A1-1129-B520-5A5508380031}"/>
              </a:ext>
            </a:extLst>
          </p:cNvPr>
          <p:cNvCxnSpPr>
            <a:cxnSpLocks/>
          </p:cNvCxnSpPr>
          <p:nvPr/>
        </p:nvCxnSpPr>
        <p:spPr>
          <a:xfrm>
            <a:off x="735432" y="7784650"/>
            <a:ext cx="0" cy="955658"/>
          </a:xfrm>
          <a:prstGeom prst="line">
            <a:avLst/>
          </a:prstGeom>
          <a:ln w="12700">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文字方塊 1">
            <a:extLst>
              <a:ext uri="{FF2B5EF4-FFF2-40B4-BE49-F238E27FC236}">
                <a16:creationId xmlns:a16="http://schemas.microsoft.com/office/drawing/2014/main" id="{2BD063FB-6CD3-BC1F-9776-E42EF67DCB8F}"/>
              </a:ext>
            </a:extLst>
          </p:cNvPr>
          <p:cNvSpPr txBox="1"/>
          <p:nvPr/>
        </p:nvSpPr>
        <p:spPr>
          <a:xfrm>
            <a:off x="3031981" y="9624885"/>
            <a:ext cx="886686" cy="261610"/>
          </a:xfrm>
          <a:prstGeom prst="rect">
            <a:avLst/>
          </a:prstGeom>
          <a:noFill/>
        </p:spPr>
        <p:txBody>
          <a:bodyPr wrap="square">
            <a:spAutoFit/>
          </a:bodyPr>
          <a:lstStyle/>
          <a:p>
            <a:r>
              <a:rPr kumimoji="1" lang="zh-TW" altLang="en-US" sz="1100" dirty="0">
                <a:solidFill>
                  <a:schemeClr val="bg1">
                    <a:lumMod val="50000"/>
                  </a:schemeClr>
                </a:solidFill>
                <a:latin typeface="PingFang SC" panose="020B0400000000000000" pitchFamily="34" charset="-122"/>
                <a:ea typeface="PingFang SC" panose="020B0400000000000000" pitchFamily="34" charset="-122"/>
              </a:rPr>
              <a:t>＠陳宛亭</a:t>
            </a:r>
            <a:endParaRPr lang="zh-TW" altLang="en-US" sz="1100" dirty="0">
              <a:solidFill>
                <a:schemeClr val="bg1">
                  <a:lumMod val="50000"/>
                </a:schemeClr>
              </a:solidFill>
            </a:endParaRPr>
          </a:p>
        </p:txBody>
      </p:sp>
    </p:spTree>
    <p:extLst>
      <p:ext uri="{BB962C8B-B14F-4D97-AF65-F5344CB8AC3E}">
        <p14:creationId xmlns:p14="http://schemas.microsoft.com/office/powerpoint/2010/main" val="2232419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矩形 79">
            <a:extLst>
              <a:ext uri="{FF2B5EF4-FFF2-40B4-BE49-F238E27FC236}">
                <a16:creationId xmlns:a16="http://schemas.microsoft.com/office/drawing/2014/main" id="{3834B1F3-6B20-BEE2-B3FF-81559E2750DC}"/>
              </a:ext>
            </a:extLst>
          </p:cNvPr>
          <p:cNvSpPr/>
          <p:nvPr/>
        </p:nvSpPr>
        <p:spPr>
          <a:xfrm>
            <a:off x="632177" y="8092842"/>
            <a:ext cx="2079191" cy="72000"/>
          </a:xfrm>
          <a:prstGeom prst="rect">
            <a:avLst/>
          </a:prstGeom>
          <a:solidFill>
            <a:schemeClr val="accent6">
              <a:lumMod val="60000"/>
              <a:lumOff val="4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79" name="矩形 78">
            <a:extLst>
              <a:ext uri="{FF2B5EF4-FFF2-40B4-BE49-F238E27FC236}">
                <a16:creationId xmlns:a16="http://schemas.microsoft.com/office/drawing/2014/main" id="{66004045-8FA0-944E-D506-DEFFA12CC945}"/>
              </a:ext>
            </a:extLst>
          </p:cNvPr>
          <p:cNvSpPr/>
          <p:nvPr/>
        </p:nvSpPr>
        <p:spPr>
          <a:xfrm>
            <a:off x="632178" y="6477425"/>
            <a:ext cx="936000" cy="72000"/>
          </a:xfrm>
          <a:prstGeom prst="rect">
            <a:avLst/>
          </a:prstGeom>
          <a:solidFill>
            <a:schemeClr val="accent6">
              <a:lumMod val="60000"/>
              <a:lumOff val="4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78" name="矩形 77">
            <a:extLst>
              <a:ext uri="{FF2B5EF4-FFF2-40B4-BE49-F238E27FC236}">
                <a16:creationId xmlns:a16="http://schemas.microsoft.com/office/drawing/2014/main" id="{331588B9-EA73-E413-F5E3-4CC0F966E8E0}"/>
              </a:ext>
            </a:extLst>
          </p:cNvPr>
          <p:cNvSpPr/>
          <p:nvPr/>
        </p:nvSpPr>
        <p:spPr>
          <a:xfrm>
            <a:off x="633056" y="4840653"/>
            <a:ext cx="1188000" cy="108000"/>
          </a:xfrm>
          <a:prstGeom prst="rect">
            <a:avLst/>
          </a:prstGeom>
          <a:solidFill>
            <a:schemeClr val="accent6">
              <a:lumMod val="60000"/>
              <a:lumOff val="40000"/>
              <a:alpha val="4336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76" name="矩形 75">
            <a:extLst>
              <a:ext uri="{FF2B5EF4-FFF2-40B4-BE49-F238E27FC236}">
                <a16:creationId xmlns:a16="http://schemas.microsoft.com/office/drawing/2014/main" id="{29A577F3-F335-DA45-57A8-FE37013EF31A}"/>
              </a:ext>
            </a:extLst>
          </p:cNvPr>
          <p:cNvSpPr/>
          <p:nvPr/>
        </p:nvSpPr>
        <p:spPr>
          <a:xfrm>
            <a:off x="632178" y="3280783"/>
            <a:ext cx="1296000" cy="72000"/>
          </a:xfrm>
          <a:prstGeom prst="rect">
            <a:avLst/>
          </a:prstGeom>
          <a:solidFill>
            <a:schemeClr val="accent6">
              <a:lumMod val="60000"/>
              <a:lumOff val="40000"/>
              <a:alpha val="4336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t>3.6 </a:t>
            </a:r>
            <a:r>
              <a:rPr kumimoji="1" lang="zh-TW" altLang="en-US" dirty="0"/>
              <a:t>公分</a:t>
            </a:r>
          </a:p>
        </p:txBody>
      </p:sp>
      <p:sp>
        <p:nvSpPr>
          <p:cNvPr id="53" name="矩形 52">
            <a:extLst>
              <a:ext uri="{FF2B5EF4-FFF2-40B4-BE49-F238E27FC236}">
                <a16:creationId xmlns:a16="http://schemas.microsoft.com/office/drawing/2014/main" id="{C49AF5D1-BF48-07FA-799B-4758A12B8675}"/>
              </a:ext>
            </a:extLst>
          </p:cNvPr>
          <p:cNvSpPr/>
          <p:nvPr/>
        </p:nvSpPr>
        <p:spPr>
          <a:xfrm>
            <a:off x="632178" y="1665440"/>
            <a:ext cx="2484000" cy="72000"/>
          </a:xfrm>
          <a:prstGeom prst="rect">
            <a:avLst/>
          </a:prstGeom>
          <a:solidFill>
            <a:schemeClr val="accent6">
              <a:lumMod val="60000"/>
              <a:lumOff val="40000"/>
              <a:alpha val="4336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圓角矩形 13">
            <a:extLst>
              <a:ext uri="{FF2B5EF4-FFF2-40B4-BE49-F238E27FC236}">
                <a16:creationId xmlns:a16="http://schemas.microsoft.com/office/drawing/2014/main" id="{2642E44A-6902-3417-8522-3BA8144DCBCD}"/>
              </a:ext>
            </a:extLst>
          </p:cNvPr>
          <p:cNvSpPr/>
          <p:nvPr/>
        </p:nvSpPr>
        <p:spPr>
          <a:xfrm>
            <a:off x="1445558" y="589316"/>
            <a:ext cx="2158701" cy="46180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kumimoji="1" lang="zh-TW" altLang="en-US" b="1" dirty="0">
                <a:solidFill>
                  <a:schemeClr val="bg1"/>
                </a:solidFill>
                <a:latin typeface="PingFang SC" panose="020B0400000000000000" pitchFamily="34" charset="-122"/>
                <a:ea typeface="PingFang SC" panose="020B0400000000000000" pitchFamily="34" charset="-122"/>
              </a:rPr>
              <a:t>未來研究具體計畫</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sp>
        <p:nvSpPr>
          <p:cNvPr id="19" name="圓角矩形 18">
            <a:extLst>
              <a:ext uri="{FF2B5EF4-FFF2-40B4-BE49-F238E27FC236}">
                <a16:creationId xmlns:a16="http://schemas.microsoft.com/office/drawing/2014/main" id="{3DB994ED-A9C8-2BB2-7A6F-02A2535F319D}"/>
              </a:ext>
            </a:extLst>
          </p:cNvPr>
          <p:cNvSpPr/>
          <p:nvPr/>
        </p:nvSpPr>
        <p:spPr>
          <a:xfrm>
            <a:off x="552666" y="600924"/>
            <a:ext cx="717631" cy="461801"/>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kumimoji="1" lang="en-US" altLang="zh-TW" b="1" dirty="0">
                <a:solidFill>
                  <a:schemeClr val="bg1"/>
                </a:solidFill>
                <a:latin typeface="PingFang SC" panose="020B0400000000000000" pitchFamily="34" charset="-122"/>
                <a:ea typeface="PingFang SC" panose="020B0400000000000000" pitchFamily="34" charset="-122"/>
              </a:rPr>
              <a:t>04</a:t>
            </a:r>
            <a:endParaRPr kumimoji="1" lang="zh-TW" altLang="en-US" sz="1800" b="1" dirty="0">
              <a:solidFill>
                <a:schemeClr val="bg1"/>
              </a:solidFill>
              <a:latin typeface="PingFang SC" panose="020B0400000000000000" pitchFamily="34" charset="-122"/>
              <a:ea typeface="PingFang SC" panose="020B0400000000000000" pitchFamily="34" charset="-122"/>
            </a:endParaRPr>
          </a:p>
        </p:txBody>
      </p:sp>
      <p:sp>
        <p:nvSpPr>
          <p:cNvPr id="43" name="文字方塊 42">
            <a:extLst>
              <a:ext uri="{FF2B5EF4-FFF2-40B4-BE49-F238E27FC236}">
                <a16:creationId xmlns:a16="http://schemas.microsoft.com/office/drawing/2014/main" id="{C1ED9E49-9B24-35EB-4A40-1B03B00C3ADB}"/>
              </a:ext>
            </a:extLst>
          </p:cNvPr>
          <p:cNvSpPr txBox="1"/>
          <p:nvPr/>
        </p:nvSpPr>
        <p:spPr>
          <a:xfrm>
            <a:off x="552667" y="1501310"/>
            <a:ext cx="2871127" cy="349839"/>
          </a:xfrm>
          <a:prstGeom prst="rect">
            <a:avLst/>
          </a:prstGeom>
          <a:noFill/>
        </p:spPr>
        <p:txBody>
          <a:bodyPr wrap="square">
            <a:spAutoFit/>
          </a:bodyPr>
          <a:lstStyle/>
          <a:p>
            <a:pPr>
              <a:lnSpc>
                <a:spcPts val="1860"/>
              </a:lnSpc>
            </a:pPr>
            <a:r>
              <a:rPr lang="en-US" altLang="zh-TW" sz="2000" b="1" dirty="0">
                <a:effectLst/>
                <a:latin typeface="PingFang SC" panose="020B0400000000000000" pitchFamily="34" charset="-122"/>
                <a:ea typeface="PingFang SC" panose="020B0400000000000000" pitchFamily="34" charset="-122"/>
              </a:rPr>
              <a:t>Research Directions</a:t>
            </a:r>
            <a:endParaRPr lang="zh-TW" altLang="en-US" sz="2000" b="1" dirty="0">
              <a:effectLst/>
              <a:latin typeface="PingFang SC" panose="020B0400000000000000" pitchFamily="34" charset="-122"/>
              <a:ea typeface="PingFang SC" panose="020B0400000000000000" pitchFamily="34" charset="-122"/>
            </a:endParaRPr>
          </a:p>
        </p:txBody>
      </p:sp>
      <p:sp>
        <p:nvSpPr>
          <p:cNvPr id="47" name="文字方塊 46">
            <a:extLst>
              <a:ext uri="{FF2B5EF4-FFF2-40B4-BE49-F238E27FC236}">
                <a16:creationId xmlns:a16="http://schemas.microsoft.com/office/drawing/2014/main" id="{791831BC-D0E6-D3AD-B43D-855216A99CFC}"/>
              </a:ext>
            </a:extLst>
          </p:cNvPr>
          <p:cNvSpPr txBox="1"/>
          <p:nvPr/>
        </p:nvSpPr>
        <p:spPr>
          <a:xfrm>
            <a:off x="552667" y="3130109"/>
            <a:ext cx="2158702" cy="349839"/>
          </a:xfrm>
          <a:prstGeom prst="rect">
            <a:avLst/>
          </a:prstGeom>
          <a:noFill/>
        </p:spPr>
        <p:txBody>
          <a:bodyPr wrap="square">
            <a:spAutoFit/>
          </a:bodyPr>
          <a:lstStyle/>
          <a:p>
            <a:pPr>
              <a:lnSpc>
                <a:spcPts val="1860"/>
              </a:lnSpc>
            </a:pPr>
            <a:r>
              <a:rPr lang="en-US" altLang="zh-TW" sz="2000" b="1" dirty="0">
                <a:solidFill>
                  <a:schemeClr val="tx1">
                    <a:lumMod val="85000"/>
                    <a:lumOff val="15000"/>
                  </a:schemeClr>
                </a:solidFill>
                <a:effectLst/>
                <a:latin typeface="PingFang SC" panose="020B0400000000000000" pitchFamily="34" charset="-122"/>
                <a:ea typeface="PingFang SC" panose="020B0400000000000000" pitchFamily="34" charset="-122"/>
              </a:rPr>
              <a:t>Motivation</a:t>
            </a:r>
            <a:endParaRPr lang="zh-TW" altLang="en-US" sz="2000" b="1" dirty="0">
              <a:solidFill>
                <a:schemeClr val="tx1">
                  <a:lumMod val="85000"/>
                  <a:lumOff val="15000"/>
                </a:schemeClr>
              </a:solidFill>
              <a:effectLst/>
              <a:latin typeface="PingFang SC" panose="020B0400000000000000" pitchFamily="34" charset="-122"/>
              <a:ea typeface="PingFang SC" panose="020B0400000000000000" pitchFamily="34" charset="-122"/>
            </a:endParaRPr>
          </a:p>
        </p:txBody>
      </p:sp>
      <p:sp>
        <p:nvSpPr>
          <p:cNvPr id="50" name="文字方塊 49">
            <a:extLst>
              <a:ext uri="{FF2B5EF4-FFF2-40B4-BE49-F238E27FC236}">
                <a16:creationId xmlns:a16="http://schemas.microsoft.com/office/drawing/2014/main" id="{B319E5C4-DF05-FA1B-8F2F-5F537DA7BDDD}"/>
              </a:ext>
            </a:extLst>
          </p:cNvPr>
          <p:cNvSpPr txBox="1"/>
          <p:nvPr/>
        </p:nvSpPr>
        <p:spPr>
          <a:xfrm>
            <a:off x="552667" y="4683602"/>
            <a:ext cx="2158702" cy="349839"/>
          </a:xfrm>
          <a:prstGeom prst="rect">
            <a:avLst/>
          </a:prstGeom>
          <a:noFill/>
        </p:spPr>
        <p:txBody>
          <a:bodyPr wrap="square">
            <a:spAutoFit/>
          </a:bodyPr>
          <a:lstStyle/>
          <a:p>
            <a:pPr>
              <a:lnSpc>
                <a:spcPts val="1860"/>
              </a:lnSpc>
            </a:pPr>
            <a:r>
              <a:rPr lang="en-US" altLang="zh-TW" sz="2000" b="1" dirty="0">
                <a:solidFill>
                  <a:schemeClr val="tx1">
                    <a:lumMod val="85000"/>
                    <a:lumOff val="15000"/>
                  </a:schemeClr>
                </a:solidFill>
                <a:latin typeface="PingFang SC" panose="020B0400000000000000" pitchFamily="34" charset="-122"/>
                <a:ea typeface="PingFang SC" panose="020B0400000000000000" pitchFamily="34" charset="-122"/>
              </a:rPr>
              <a:t>Objective</a:t>
            </a:r>
            <a:endParaRPr lang="zh-TW" altLang="en-US" sz="2000" b="1" dirty="0">
              <a:solidFill>
                <a:schemeClr val="tx1">
                  <a:lumMod val="85000"/>
                  <a:lumOff val="15000"/>
                </a:schemeClr>
              </a:solidFill>
              <a:effectLst/>
              <a:latin typeface="PingFang SC" panose="020B0400000000000000" pitchFamily="34" charset="-122"/>
              <a:ea typeface="PingFang SC" panose="020B0400000000000000" pitchFamily="34" charset="-122"/>
            </a:endParaRPr>
          </a:p>
        </p:txBody>
      </p:sp>
      <p:sp>
        <p:nvSpPr>
          <p:cNvPr id="51" name="文字方塊 50">
            <a:extLst>
              <a:ext uri="{FF2B5EF4-FFF2-40B4-BE49-F238E27FC236}">
                <a16:creationId xmlns:a16="http://schemas.microsoft.com/office/drawing/2014/main" id="{2540F582-12E6-C909-456F-FD550B3DA9AC}"/>
              </a:ext>
            </a:extLst>
          </p:cNvPr>
          <p:cNvSpPr txBox="1"/>
          <p:nvPr/>
        </p:nvSpPr>
        <p:spPr>
          <a:xfrm>
            <a:off x="552667" y="6301643"/>
            <a:ext cx="2158702" cy="349839"/>
          </a:xfrm>
          <a:prstGeom prst="rect">
            <a:avLst/>
          </a:prstGeom>
          <a:noFill/>
        </p:spPr>
        <p:txBody>
          <a:bodyPr wrap="square">
            <a:spAutoFit/>
          </a:bodyPr>
          <a:lstStyle/>
          <a:p>
            <a:pPr>
              <a:lnSpc>
                <a:spcPts val="1860"/>
              </a:lnSpc>
            </a:pPr>
            <a:r>
              <a:rPr lang="en-US" altLang="zh-TW" sz="2000" b="1" dirty="0">
                <a:solidFill>
                  <a:schemeClr val="tx1">
                    <a:lumMod val="85000"/>
                    <a:lumOff val="15000"/>
                  </a:schemeClr>
                </a:solidFill>
                <a:latin typeface="PingFang SC" panose="020B0400000000000000" pitchFamily="34" charset="-122"/>
                <a:ea typeface="PingFang SC" panose="020B0400000000000000" pitchFamily="34" charset="-122"/>
              </a:rPr>
              <a:t>Method</a:t>
            </a:r>
            <a:endParaRPr lang="zh-TW" altLang="en-US" sz="2000" b="1" dirty="0">
              <a:solidFill>
                <a:schemeClr val="tx1">
                  <a:lumMod val="85000"/>
                  <a:lumOff val="15000"/>
                </a:schemeClr>
              </a:solidFill>
              <a:effectLst/>
              <a:latin typeface="PingFang SC" panose="020B0400000000000000" pitchFamily="34" charset="-122"/>
              <a:ea typeface="PingFang SC" panose="020B0400000000000000" pitchFamily="34" charset="-122"/>
            </a:endParaRPr>
          </a:p>
        </p:txBody>
      </p:sp>
      <p:sp>
        <p:nvSpPr>
          <p:cNvPr id="52" name="文字方塊 51">
            <a:extLst>
              <a:ext uri="{FF2B5EF4-FFF2-40B4-BE49-F238E27FC236}">
                <a16:creationId xmlns:a16="http://schemas.microsoft.com/office/drawing/2014/main" id="{D132B7AA-93AD-9E42-DB36-3ECD7C7BA927}"/>
              </a:ext>
            </a:extLst>
          </p:cNvPr>
          <p:cNvSpPr txBox="1"/>
          <p:nvPr/>
        </p:nvSpPr>
        <p:spPr>
          <a:xfrm>
            <a:off x="552667" y="7672250"/>
            <a:ext cx="3233174" cy="593496"/>
          </a:xfrm>
          <a:prstGeom prst="rect">
            <a:avLst/>
          </a:prstGeom>
          <a:noFill/>
        </p:spPr>
        <p:txBody>
          <a:bodyPr wrap="square">
            <a:spAutoFit/>
          </a:bodyPr>
          <a:lstStyle/>
          <a:p>
            <a:pPr>
              <a:lnSpc>
                <a:spcPts val="1860"/>
              </a:lnSpc>
            </a:pPr>
            <a:br>
              <a:rPr lang="en-US" altLang="zh-TW" sz="2000" b="1" dirty="0">
                <a:solidFill>
                  <a:schemeClr val="tx1">
                    <a:lumMod val="85000"/>
                    <a:lumOff val="15000"/>
                  </a:schemeClr>
                </a:solidFill>
                <a:latin typeface="PingFang SC" panose="020B0400000000000000" pitchFamily="34" charset="-122"/>
                <a:ea typeface="PingFang SC" panose="020B0400000000000000" pitchFamily="34" charset="-122"/>
              </a:rPr>
            </a:br>
            <a:r>
              <a:rPr lang="en-US" altLang="zh-TW" sz="2000" b="1" dirty="0">
                <a:solidFill>
                  <a:schemeClr val="tx1">
                    <a:lumMod val="85000"/>
                    <a:lumOff val="15000"/>
                  </a:schemeClr>
                </a:solidFill>
                <a:latin typeface="PingFang SC" panose="020B0400000000000000" pitchFamily="34" charset="-122"/>
                <a:ea typeface="PingFang SC" panose="020B0400000000000000" pitchFamily="34" charset="-122"/>
              </a:rPr>
              <a:t>Expected results</a:t>
            </a:r>
            <a:endParaRPr lang="zh-TW" altLang="en-US" sz="2000" b="1" dirty="0">
              <a:solidFill>
                <a:schemeClr val="tx1">
                  <a:lumMod val="85000"/>
                  <a:lumOff val="15000"/>
                </a:schemeClr>
              </a:solidFill>
              <a:effectLst/>
              <a:latin typeface="PingFang SC" panose="020B0400000000000000" pitchFamily="34" charset="-122"/>
              <a:ea typeface="PingFang SC" panose="020B0400000000000000" pitchFamily="34" charset="-122"/>
            </a:endParaRPr>
          </a:p>
        </p:txBody>
      </p:sp>
      <p:sp>
        <p:nvSpPr>
          <p:cNvPr id="65" name="文字方塊 64">
            <a:extLst>
              <a:ext uri="{FF2B5EF4-FFF2-40B4-BE49-F238E27FC236}">
                <a16:creationId xmlns:a16="http://schemas.microsoft.com/office/drawing/2014/main" id="{BD99B082-5498-2C05-45CD-2CC7C3423F3C}"/>
              </a:ext>
            </a:extLst>
          </p:cNvPr>
          <p:cNvSpPr txBox="1"/>
          <p:nvPr/>
        </p:nvSpPr>
        <p:spPr>
          <a:xfrm>
            <a:off x="572488" y="1802356"/>
            <a:ext cx="5430444" cy="1180195"/>
          </a:xfrm>
          <a:prstGeom prst="rect">
            <a:avLst/>
          </a:prstGeom>
          <a:noFill/>
        </p:spPr>
        <p:txBody>
          <a:bodyPr wrap="square">
            <a:spAutoFit/>
          </a:bodyPr>
          <a:lstStyle/>
          <a:p>
            <a:pPr>
              <a:lnSpc>
                <a:spcPts val="2080"/>
              </a:lnSpc>
            </a:pPr>
            <a:r>
              <a:rPr lang="zh-TW" altLang="en-US" sz="1450" b="1" dirty="0">
                <a:latin typeface="PingFang SC" panose="020B0400000000000000" pitchFamily="34" charset="-122"/>
                <a:ea typeface="PingFang SC" panose="020B0400000000000000" pitchFamily="34" charset="-122"/>
              </a:rPr>
              <a:t>情緒支持及生涯諮商於聽覺障礙之研究</a:t>
            </a:r>
            <a:endParaRPr lang="en-US" altLang="zh-TW" sz="1450" b="1" dirty="0">
              <a:latin typeface="PingFang SC" panose="020B0400000000000000" pitchFamily="34" charset="-122"/>
              <a:ea typeface="PingFang SC" panose="020B0400000000000000" pitchFamily="34" charset="-122"/>
            </a:endParaRPr>
          </a:p>
          <a:p>
            <a:pPr marL="223838" indent="-223838">
              <a:lnSpc>
                <a:spcPts val="2080"/>
              </a:lnSpc>
              <a:spcBef>
                <a:spcPts val="200"/>
              </a:spcBef>
              <a:buFont typeface="Arial" panose="020B0604020202020204" pitchFamily="34" charset="0"/>
              <a:buChar char="•"/>
            </a:pPr>
            <a:r>
              <a:rPr lang="zh-TW" altLang="en-US" sz="1400" dirty="0">
                <a:latin typeface="PingFang SC" panose="020B0400000000000000" pitchFamily="34" charset="-122"/>
                <a:ea typeface="PingFang SC" panose="020B0400000000000000" pitchFamily="34" charset="-122"/>
              </a:rPr>
              <a:t>聾人相較聽人有更多的心理健康問題</a:t>
            </a:r>
            <a:r>
              <a:rPr lang="en-US" altLang="zh-TW" sz="1400" dirty="0">
                <a:latin typeface="PingFang SC" panose="020B0400000000000000" pitchFamily="34" charset="-122"/>
                <a:ea typeface="PingFang SC" panose="020B0400000000000000" pitchFamily="34" charset="-122"/>
              </a:rPr>
              <a:t>[1]</a:t>
            </a:r>
            <a:r>
              <a:rPr lang="zh-TW" altLang="en-US" sz="1400" dirty="0">
                <a:latin typeface="PingFang SC" panose="020B0400000000000000" pitchFamily="34" charset="-122"/>
                <a:ea typeface="PingFang SC" panose="020B0400000000000000" pitchFamily="34" charset="-122"/>
              </a:rPr>
              <a:t>，當他們面對情緒挑戰時，如何提供不同形式的支持才是適當的，以及該如何透過生涯諮商進一步幫助他們發展職業目標、增強自信心和自我認同。</a:t>
            </a:r>
          </a:p>
        </p:txBody>
      </p:sp>
      <p:sp>
        <p:nvSpPr>
          <p:cNvPr id="67" name="文字方塊 66">
            <a:extLst>
              <a:ext uri="{FF2B5EF4-FFF2-40B4-BE49-F238E27FC236}">
                <a16:creationId xmlns:a16="http://schemas.microsoft.com/office/drawing/2014/main" id="{C5B61FE0-6355-7E9A-77B4-AD46CD5C73AD}"/>
              </a:ext>
            </a:extLst>
          </p:cNvPr>
          <p:cNvSpPr txBox="1"/>
          <p:nvPr/>
        </p:nvSpPr>
        <p:spPr>
          <a:xfrm>
            <a:off x="552667" y="3389636"/>
            <a:ext cx="5599776" cy="1154547"/>
          </a:xfrm>
          <a:prstGeom prst="rect">
            <a:avLst/>
          </a:prstGeom>
          <a:noFill/>
        </p:spPr>
        <p:txBody>
          <a:bodyPr wrap="square">
            <a:spAutoFit/>
          </a:bodyPr>
          <a:lstStyle/>
          <a:p>
            <a:pPr>
              <a:lnSpc>
                <a:spcPts val="2080"/>
              </a:lnSpc>
            </a:pPr>
            <a:r>
              <a:rPr lang="zh-TW" altLang="en-US" sz="1400" dirty="0">
                <a:latin typeface="PingFang SC" panose="020B0400000000000000" pitchFamily="34" charset="-122"/>
                <a:ea typeface="PingFang SC" panose="020B0400000000000000" pitchFamily="34" charset="-122"/>
              </a:rPr>
              <a:t>在過去接觸聽障者時，發現他們遇到情緒或職業挑戰時，壓力因應策略及社會技巧較弱，尤其聽力損失形成的壓力源會使他們產生過度負荷之評價</a:t>
            </a:r>
            <a:r>
              <a:rPr lang="en-US" altLang="zh-TW" sz="1400" dirty="0">
                <a:latin typeface="PingFang SC" panose="020B0400000000000000" pitchFamily="34" charset="-122"/>
                <a:ea typeface="PingFang SC" panose="020B0400000000000000" pitchFamily="34" charset="-122"/>
              </a:rPr>
              <a:t>[2]</a:t>
            </a:r>
            <a:r>
              <a:rPr lang="zh-TW" altLang="en-US" sz="1400" dirty="0">
                <a:latin typeface="PingFang SC" panose="020B0400000000000000" pitchFamily="34" charset="-122"/>
                <a:ea typeface="PingFang SC" panose="020B0400000000000000" pitchFamily="34" charset="-122"/>
              </a:rPr>
              <a:t>，此外，身障者心理諮商大多是被低度服務與研究，像是聾人諮商的研究大多僅提供大方向未給予具體建議</a:t>
            </a:r>
            <a:r>
              <a:rPr lang="en-US" altLang="zh-TW" sz="1400" dirty="0">
                <a:latin typeface="PingFang SC" panose="020B0400000000000000" pitchFamily="34" charset="-122"/>
                <a:ea typeface="PingFang SC" panose="020B0400000000000000" pitchFamily="34" charset="-122"/>
              </a:rPr>
              <a:t>[3]</a:t>
            </a:r>
            <a:r>
              <a:rPr lang="zh-TW" altLang="en-US" sz="1400" dirty="0">
                <a:latin typeface="PingFang SC" panose="020B0400000000000000" pitchFamily="34" charset="-122"/>
                <a:ea typeface="PingFang SC" panose="020B0400000000000000" pitchFamily="34" charset="-122"/>
              </a:rPr>
              <a:t>。</a:t>
            </a:r>
          </a:p>
        </p:txBody>
      </p:sp>
      <p:sp>
        <p:nvSpPr>
          <p:cNvPr id="69" name="文字方塊 68">
            <a:extLst>
              <a:ext uri="{FF2B5EF4-FFF2-40B4-BE49-F238E27FC236}">
                <a16:creationId xmlns:a16="http://schemas.microsoft.com/office/drawing/2014/main" id="{289CAC57-B14D-8F4B-DF79-125DBCFFBAD8}"/>
              </a:ext>
            </a:extLst>
          </p:cNvPr>
          <p:cNvSpPr txBox="1"/>
          <p:nvPr/>
        </p:nvSpPr>
        <p:spPr>
          <a:xfrm>
            <a:off x="552666" y="4962165"/>
            <a:ext cx="5450266" cy="1154547"/>
          </a:xfrm>
          <a:prstGeom prst="rect">
            <a:avLst/>
          </a:prstGeom>
          <a:noFill/>
        </p:spPr>
        <p:txBody>
          <a:bodyPr wrap="square">
            <a:spAutoFit/>
          </a:bodyPr>
          <a:lstStyle/>
          <a:p>
            <a:pPr marL="274638" indent="-274638">
              <a:lnSpc>
                <a:spcPts val="2080"/>
              </a:lnSpc>
              <a:buFont typeface="+mj-lt"/>
              <a:buAutoNum type="arabicPeriod"/>
            </a:pPr>
            <a:r>
              <a:rPr lang="zh-TW" altLang="en-US" sz="1400" dirty="0">
                <a:latin typeface="PingFang SC" panose="020B0400000000000000" pitchFamily="34" charset="-122"/>
                <a:ea typeface="PingFang SC" panose="020B0400000000000000" pitchFamily="34" charset="-122"/>
              </a:rPr>
              <a:t>探索不同形式情緒支持如個別、團體諮商，或是不同時間段內提供情緒支持對情緒健康的持續影響。</a:t>
            </a:r>
          </a:p>
          <a:p>
            <a:pPr marL="274638" indent="-274638">
              <a:lnSpc>
                <a:spcPts val="2080"/>
              </a:lnSpc>
              <a:buFont typeface="+mj-lt"/>
              <a:buAutoNum type="arabicPeriod"/>
            </a:pPr>
            <a:r>
              <a:rPr lang="zh-TW" altLang="en-US" sz="1400" dirty="0">
                <a:latin typeface="PingFang SC" panose="020B0400000000000000" pitchFamily="34" charset="-122"/>
                <a:ea typeface="PingFang SC" panose="020B0400000000000000" pitchFamily="34" charset="-122"/>
              </a:rPr>
              <a:t>探索生涯諮商如何幫助聽覺障礙者塑造自我認同並達到生涯目標。</a:t>
            </a:r>
            <a:endParaRPr lang="en-US" altLang="zh-TW" sz="1400" dirty="0">
              <a:latin typeface="PingFang SC" panose="020B0400000000000000" pitchFamily="34" charset="-122"/>
              <a:ea typeface="PingFang SC" panose="020B0400000000000000" pitchFamily="34" charset="-122"/>
            </a:endParaRPr>
          </a:p>
          <a:p>
            <a:pPr marL="274638" indent="-274638">
              <a:lnSpc>
                <a:spcPts val="2080"/>
              </a:lnSpc>
              <a:buFont typeface="+mj-lt"/>
              <a:buAutoNum type="arabicPeriod"/>
            </a:pPr>
            <a:r>
              <a:rPr lang="zh-TW" altLang="en-US" sz="1400" dirty="0">
                <a:latin typeface="PingFang SC" panose="020B0400000000000000" pitchFamily="34" charset="-122"/>
                <a:ea typeface="PingFang SC" panose="020B0400000000000000" pitchFamily="34" charset="-122"/>
              </a:rPr>
              <a:t>探索兩者對其在壓力應對策略及社交技巧的影響。</a:t>
            </a:r>
          </a:p>
        </p:txBody>
      </p:sp>
      <p:sp>
        <p:nvSpPr>
          <p:cNvPr id="71" name="文字方塊 70">
            <a:extLst>
              <a:ext uri="{FF2B5EF4-FFF2-40B4-BE49-F238E27FC236}">
                <a16:creationId xmlns:a16="http://schemas.microsoft.com/office/drawing/2014/main" id="{C0CDD9D3-3BE2-9DEC-D567-AF416BD75CA1}"/>
              </a:ext>
            </a:extLst>
          </p:cNvPr>
          <p:cNvSpPr txBox="1"/>
          <p:nvPr/>
        </p:nvSpPr>
        <p:spPr>
          <a:xfrm>
            <a:off x="584941" y="6553673"/>
            <a:ext cx="5683531" cy="1427570"/>
          </a:xfrm>
          <a:prstGeom prst="rect">
            <a:avLst/>
          </a:prstGeom>
          <a:noFill/>
        </p:spPr>
        <p:txBody>
          <a:bodyPr wrap="square">
            <a:spAutoFit/>
          </a:bodyPr>
          <a:lstStyle/>
          <a:p>
            <a:pPr marL="180975" indent="-180975">
              <a:lnSpc>
                <a:spcPts val="2080"/>
              </a:lnSpc>
              <a:buFont typeface="Arial" panose="020B0604020202020204" pitchFamily="34" charset="0"/>
              <a:buChar char="•"/>
            </a:pPr>
            <a:r>
              <a:rPr lang="zh-TW" altLang="en-US" sz="1400" dirty="0">
                <a:latin typeface="PingFang SC" panose="020B0400000000000000" pitchFamily="34" charset="-122"/>
                <a:ea typeface="PingFang SC" panose="020B0400000000000000" pitchFamily="34" charset="-122"/>
              </a:rPr>
              <a:t>質性研究：通過深度的半結構式訪談、以現象學觀點深化探索聽覺障礙者如何感受到這些支持，以及它們對其生活的具體影響。</a:t>
            </a:r>
          </a:p>
          <a:p>
            <a:pPr marL="180975" indent="-180975">
              <a:lnSpc>
                <a:spcPts val="2080"/>
              </a:lnSpc>
              <a:buFont typeface="Arial" panose="020B0604020202020204" pitchFamily="34" charset="0"/>
              <a:buChar char="•"/>
            </a:pPr>
            <a:r>
              <a:rPr lang="zh-TW" altLang="en-US" sz="1400" dirty="0">
                <a:latin typeface="PingFang SC" panose="020B0400000000000000" pitchFamily="34" charset="-122"/>
                <a:ea typeface="PingFang SC" panose="020B0400000000000000" pitchFamily="34" charset="-122"/>
              </a:rPr>
              <a:t>比較研究：比較不同類型情緒支持和生涯諮商對身心障礙者的效果，探討其差異和特點，找出其優缺點。</a:t>
            </a:r>
            <a:endParaRPr lang="en-US" altLang="zh-TW" sz="1400" dirty="0">
              <a:latin typeface="PingFang SC" panose="020B0400000000000000" pitchFamily="34" charset="-122"/>
              <a:ea typeface="PingFang SC" panose="020B0400000000000000" pitchFamily="34" charset="-122"/>
            </a:endParaRPr>
          </a:p>
          <a:p>
            <a:pPr marL="180975" indent="-180975">
              <a:lnSpc>
                <a:spcPts val="2080"/>
              </a:lnSpc>
              <a:buFont typeface="Arial" panose="020B0604020202020204" pitchFamily="34" charset="0"/>
              <a:buChar char="•"/>
            </a:pPr>
            <a:endParaRPr lang="zh-TW" altLang="en-US" sz="1500" dirty="0">
              <a:latin typeface="PingFang SC" panose="020B0400000000000000" pitchFamily="34" charset="-122"/>
              <a:ea typeface="PingFang SC" panose="020B0400000000000000" pitchFamily="34" charset="-122"/>
            </a:endParaRPr>
          </a:p>
        </p:txBody>
      </p:sp>
      <p:sp>
        <p:nvSpPr>
          <p:cNvPr id="73" name="文字方塊 72">
            <a:extLst>
              <a:ext uri="{FF2B5EF4-FFF2-40B4-BE49-F238E27FC236}">
                <a16:creationId xmlns:a16="http://schemas.microsoft.com/office/drawing/2014/main" id="{3336136E-DD4F-3DFF-598C-0D44AFBBC1D1}"/>
              </a:ext>
            </a:extLst>
          </p:cNvPr>
          <p:cNvSpPr txBox="1"/>
          <p:nvPr/>
        </p:nvSpPr>
        <p:spPr>
          <a:xfrm>
            <a:off x="572488" y="8175211"/>
            <a:ext cx="5579955" cy="885242"/>
          </a:xfrm>
          <a:prstGeom prst="rect">
            <a:avLst/>
          </a:prstGeom>
          <a:noFill/>
        </p:spPr>
        <p:txBody>
          <a:bodyPr wrap="square">
            <a:spAutoFit/>
          </a:bodyPr>
          <a:lstStyle/>
          <a:p>
            <a:pPr>
              <a:lnSpc>
                <a:spcPts val="2080"/>
              </a:lnSpc>
            </a:pPr>
            <a:r>
              <a:rPr lang="zh-TW" altLang="en-US" sz="1400" dirty="0">
                <a:latin typeface="PingFang SC" panose="020B0400000000000000" pitchFamily="34" charset="-122"/>
                <a:ea typeface="PingFang SC" panose="020B0400000000000000" pitchFamily="34" charset="-122"/>
              </a:rPr>
              <a:t>預期分析出不同形式的情緒支持和生涯諮商對特定群體的聽覺障礙者產生的效果，期望能為他們及更多身心障礙類別提供更有效的支持和資源，同時也提供給臨床和諮商專業人士有價值的建議和研究結果。</a:t>
            </a:r>
          </a:p>
        </p:txBody>
      </p:sp>
      <p:sp>
        <p:nvSpPr>
          <p:cNvPr id="75" name="文字方塊 74">
            <a:extLst>
              <a:ext uri="{FF2B5EF4-FFF2-40B4-BE49-F238E27FC236}">
                <a16:creationId xmlns:a16="http://schemas.microsoft.com/office/drawing/2014/main" id="{41297322-3E49-BC22-24A5-064B6E3D09A0}"/>
              </a:ext>
            </a:extLst>
          </p:cNvPr>
          <p:cNvSpPr txBox="1"/>
          <p:nvPr/>
        </p:nvSpPr>
        <p:spPr>
          <a:xfrm>
            <a:off x="664762" y="8265746"/>
            <a:ext cx="5683530" cy="646331"/>
          </a:xfrm>
          <a:prstGeom prst="rect">
            <a:avLst/>
          </a:prstGeom>
          <a:noFill/>
        </p:spPr>
        <p:txBody>
          <a:bodyPr wrap="square">
            <a:spAutoFit/>
          </a:bodyPr>
          <a:lstStyle/>
          <a:p>
            <a:r>
              <a:rPr lang="en-US" altLang="zh-TW" sz="900" dirty="0">
                <a:latin typeface="PingFang SC" panose="020B0400000000000000" pitchFamily="34" charset="-122"/>
                <a:ea typeface="PingFang SC" panose="020B0400000000000000" pitchFamily="34" charset="-122"/>
              </a:rPr>
              <a:t>[1] </a:t>
            </a:r>
            <a:r>
              <a:rPr lang="en-US" altLang="zh-TW" sz="900" dirty="0" err="1">
                <a:latin typeface="PingFang SC" panose="020B0400000000000000" pitchFamily="34" charset="-122"/>
                <a:ea typeface="PingFang SC" panose="020B0400000000000000" pitchFamily="34" charset="-122"/>
              </a:rPr>
              <a:t>Kvam</a:t>
            </a:r>
            <a:r>
              <a:rPr lang="en-US" altLang="zh-TW" sz="900" dirty="0">
                <a:latin typeface="PingFang SC" panose="020B0400000000000000" pitchFamily="34" charset="-122"/>
                <a:ea typeface="PingFang SC" panose="020B0400000000000000" pitchFamily="34" charset="-122"/>
              </a:rPr>
              <a:t>, M. H., Loeb, M., &amp; </a:t>
            </a:r>
            <a:r>
              <a:rPr lang="en-US" altLang="zh-TW" sz="900" dirty="0" err="1">
                <a:latin typeface="PingFang SC" panose="020B0400000000000000" pitchFamily="34" charset="-122"/>
                <a:ea typeface="PingFang SC" panose="020B0400000000000000" pitchFamily="34" charset="-122"/>
              </a:rPr>
              <a:t>Tambs</a:t>
            </a:r>
            <a:r>
              <a:rPr lang="en-US" altLang="zh-TW" sz="900" dirty="0">
                <a:latin typeface="PingFang SC" panose="020B0400000000000000" pitchFamily="34" charset="-122"/>
                <a:ea typeface="PingFang SC" panose="020B0400000000000000" pitchFamily="34" charset="-122"/>
              </a:rPr>
              <a:t>, K. (2007). Mental health in deaf adults: Symptoms of anxiety and depression among hearing and deaf individuals. Journal Of Deaf Studies &amp; Deaf Education, 12(1), 1-7.</a:t>
            </a:r>
          </a:p>
          <a:p>
            <a:r>
              <a:rPr lang="en-US" altLang="zh-TW" sz="900" dirty="0">
                <a:latin typeface="PingFang SC" panose="020B0400000000000000" pitchFamily="34" charset="-122"/>
                <a:ea typeface="PingFang SC" panose="020B0400000000000000" pitchFamily="34" charset="-122"/>
              </a:rPr>
              <a:t>[2]</a:t>
            </a:r>
            <a:r>
              <a:rPr lang="zh-TW" altLang="en-US" sz="900" dirty="0">
                <a:latin typeface="PingFang SC" panose="020B0400000000000000" pitchFamily="34" charset="-122"/>
                <a:ea typeface="PingFang SC" panose="020B0400000000000000" pitchFamily="34" charset="-122"/>
              </a:rPr>
              <a:t> 謝堉梅</a:t>
            </a:r>
            <a:r>
              <a:rPr lang="en-US" altLang="zh-TW" sz="900" dirty="0">
                <a:latin typeface="PingFang SC" panose="020B0400000000000000" pitchFamily="34" charset="-122"/>
                <a:ea typeface="PingFang SC" panose="020B0400000000000000" pitchFamily="34" charset="-122"/>
              </a:rPr>
              <a:t>, </a:t>
            </a:r>
            <a:r>
              <a:rPr lang="zh-TW" altLang="en-US" sz="900" dirty="0">
                <a:latin typeface="PingFang SC" panose="020B0400000000000000" pitchFamily="34" charset="-122"/>
                <a:ea typeface="PingFang SC" panose="020B0400000000000000" pitchFamily="34" charset="-122"/>
              </a:rPr>
              <a:t>陳怡惠</a:t>
            </a:r>
            <a:r>
              <a:rPr lang="en-US" altLang="zh-TW" sz="900" dirty="0">
                <a:latin typeface="PingFang SC" panose="020B0400000000000000" pitchFamily="34" charset="-122"/>
                <a:ea typeface="PingFang SC" panose="020B0400000000000000" pitchFamily="34" charset="-122"/>
              </a:rPr>
              <a:t>. (2019). </a:t>
            </a:r>
            <a:r>
              <a:rPr lang="zh-TW" altLang="en-US" sz="900" dirty="0">
                <a:latin typeface="PingFang SC" panose="020B0400000000000000" pitchFamily="34" charset="-122"/>
                <a:ea typeface="PingFang SC" panose="020B0400000000000000" pitchFamily="34" charset="-122"/>
              </a:rPr>
              <a:t>聽覺障礙大學生壓力因應歷程之探究</a:t>
            </a:r>
            <a:r>
              <a:rPr lang="en-US" altLang="zh-TW" sz="900" dirty="0">
                <a:latin typeface="PingFang SC" panose="020B0400000000000000" pitchFamily="34" charset="-122"/>
                <a:ea typeface="PingFang SC" panose="020B0400000000000000" pitchFamily="34" charset="-122"/>
              </a:rPr>
              <a:t>. </a:t>
            </a:r>
            <a:r>
              <a:rPr lang="zh-TW" altLang="en-US" sz="900" dirty="0">
                <a:latin typeface="PingFang SC" panose="020B0400000000000000" pitchFamily="34" charset="-122"/>
                <a:ea typeface="PingFang SC" panose="020B0400000000000000" pitchFamily="34" charset="-122"/>
              </a:rPr>
              <a:t>特殊教育發展期刊</a:t>
            </a:r>
            <a:r>
              <a:rPr lang="en-US" altLang="zh-TW" sz="900" dirty="0">
                <a:latin typeface="PingFang SC" panose="020B0400000000000000" pitchFamily="34" charset="-122"/>
                <a:ea typeface="PingFang SC" panose="020B0400000000000000" pitchFamily="34" charset="-122"/>
              </a:rPr>
              <a:t>, 67, 41-56.</a:t>
            </a:r>
            <a:br>
              <a:rPr lang="en-US" altLang="zh-TW" sz="900" dirty="0">
                <a:latin typeface="PingFang SC" panose="020B0400000000000000" pitchFamily="34" charset="-122"/>
                <a:ea typeface="PingFang SC" panose="020B0400000000000000" pitchFamily="34" charset="-122"/>
              </a:rPr>
            </a:br>
            <a:r>
              <a:rPr lang="en-US" altLang="zh-TW" sz="900" dirty="0">
                <a:latin typeface="PingFang SC" panose="020B0400000000000000" pitchFamily="34" charset="-122"/>
                <a:ea typeface="PingFang SC" panose="020B0400000000000000" pitchFamily="34" charset="-122"/>
              </a:rPr>
              <a:t>[3] </a:t>
            </a:r>
            <a:r>
              <a:rPr lang="zh-TW" altLang="en-US" sz="900" dirty="0">
                <a:latin typeface="PingFang SC" panose="020B0400000000000000" pitchFamily="34" charset="-122"/>
                <a:ea typeface="PingFang SC" panose="020B0400000000000000" pitchFamily="34" charset="-122"/>
              </a:rPr>
              <a:t>翟宗悌</a:t>
            </a:r>
            <a:r>
              <a:rPr lang="en-US" altLang="zh-TW" sz="900" dirty="0">
                <a:latin typeface="PingFang SC" panose="020B0400000000000000" pitchFamily="34" charset="-122"/>
                <a:ea typeface="PingFang SC" panose="020B0400000000000000" pitchFamily="34" charset="-122"/>
              </a:rPr>
              <a:t>. (2015). </a:t>
            </a:r>
            <a:r>
              <a:rPr lang="zh-TW" altLang="en-US" sz="900" dirty="0">
                <a:latin typeface="PingFang SC" panose="020B0400000000000000" pitchFamily="34" charset="-122"/>
                <a:ea typeface="PingFang SC" panose="020B0400000000000000" pitchFamily="34" charset="-122"/>
              </a:rPr>
              <a:t>聽覺障礙者</a:t>
            </a:r>
            <a:r>
              <a:rPr lang="en-US" altLang="zh-TW" sz="900" dirty="0">
                <a:latin typeface="PingFang SC" panose="020B0400000000000000" pitchFamily="34" charset="-122"/>
                <a:ea typeface="PingFang SC" panose="020B0400000000000000" pitchFamily="34" charset="-122"/>
              </a:rPr>
              <a:t>/</a:t>
            </a:r>
            <a:r>
              <a:rPr lang="zh-TW" altLang="en-US" sz="900" dirty="0">
                <a:latin typeface="PingFang SC" panose="020B0400000000000000" pitchFamily="34" charset="-122"/>
                <a:ea typeface="PingFang SC" panose="020B0400000000000000" pitchFamily="34" charset="-122"/>
              </a:rPr>
              <a:t>聾人的心理諮商</a:t>
            </a:r>
            <a:r>
              <a:rPr lang="en-US" altLang="zh-TW" sz="900" dirty="0">
                <a:latin typeface="PingFang SC" panose="020B0400000000000000" pitchFamily="34" charset="-122"/>
                <a:ea typeface="PingFang SC" panose="020B0400000000000000" pitchFamily="34" charset="-122"/>
              </a:rPr>
              <a:t>. </a:t>
            </a:r>
            <a:r>
              <a:rPr lang="zh-TW" altLang="en-US" sz="900" dirty="0">
                <a:latin typeface="PingFang SC" panose="020B0400000000000000" pitchFamily="34" charset="-122"/>
                <a:ea typeface="PingFang SC" panose="020B0400000000000000" pitchFamily="34" charset="-122"/>
              </a:rPr>
              <a:t>輔導季刊</a:t>
            </a:r>
            <a:r>
              <a:rPr lang="en-US" altLang="zh-TW" sz="900" dirty="0">
                <a:latin typeface="PingFang SC" panose="020B0400000000000000" pitchFamily="34" charset="-122"/>
                <a:ea typeface="PingFang SC" panose="020B0400000000000000" pitchFamily="34" charset="-122"/>
              </a:rPr>
              <a:t>, 51(4), 50-60.</a:t>
            </a:r>
            <a:endParaRPr lang="zh-TW" altLang="en-US" sz="900" dirty="0">
              <a:latin typeface="PingFang SC" panose="020B0400000000000000" pitchFamily="34" charset="-122"/>
              <a:ea typeface="PingFang SC" panose="020B0400000000000000" pitchFamily="34" charset="-122"/>
            </a:endParaRPr>
          </a:p>
        </p:txBody>
      </p:sp>
      <p:sp>
        <p:nvSpPr>
          <p:cNvPr id="2" name="文字方塊 1">
            <a:extLst>
              <a:ext uri="{FF2B5EF4-FFF2-40B4-BE49-F238E27FC236}">
                <a16:creationId xmlns:a16="http://schemas.microsoft.com/office/drawing/2014/main" id="{F20C2095-7205-82B4-A31D-ABA76A9C1FE6}"/>
              </a:ext>
            </a:extLst>
          </p:cNvPr>
          <p:cNvSpPr txBox="1"/>
          <p:nvPr/>
        </p:nvSpPr>
        <p:spPr>
          <a:xfrm>
            <a:off x="3031981" y="9624885"/>
            <a:ext cx="886686" cy="261610"/>
          </a:xfrm>
          <a:prstGeom prst="rect">
            <a:avLst/>
          </a:prstGeom>
          <a:noFill/>
        </p:spPr>
        <p:txBody>
          <a:bodyPr wrap="square">
            <a:spAutoFit/>
          </a:bodyPr>
          <a:lstStyle/>
          <a:p>
            <a:r>
              <a:rPr kumimoji="1" lang="zh-TW" altLang="en-US" sz="1100" dirty="0">
                <a:solidFill>
                  <a:schemeClr val="bg1">
                    <a:lumMod val="50000"/>
                  </a:schemeClr>
                </a:solidFill>
                <a:latin typeface="PingFang SC" panose="020B0400000000000000" pitchFamily="34" charset="-122"/>
                <a:ea typeface="PingFang SC" panose="020B0400000000000000" pitchFamily="34" charset="-122"/>
              </a:rPr>
              <a:t>＠陳宛亭</a:t>
            </a:r>
            <a:endParaRPr lang="zh-TW" altLang="en-US" sz="1100" dirty="0">
              <a:solidFill>
                <a:schemeClr val="bg1">
                  <a:lumMod val="50000"/>
                </a:schemeClr>
              </a:solidFill>
            </a:endParaRPr>
          </a:p>
        </p:txBody>
      </p:sp>
    </p:spTree>
    <p:extLst>
      <p:ext uri="{BB962C8B-B14F-4D97-AF65-F5344CB8AC3E}">
        <p14:creationId xmlns:p14="http://schemas.microsoft.com/office/powerpoint/2010/main" val="1896689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D5833-8F0D-E62D-84AE-CD30EB8B319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5909C76-922F-501D-2601-8A593BA7086E}"/>
              </a:ext>
            </a:extLst>
          </p:cNvPr>
          <p:cNvSpPr>
            <a:spLocks noGrp="1"/>
          </p:cNvSpPr>
          <p:nvPr>
            <p:ph type="title"/>
          </p:nvPr>
        </p:nvSpPr>
        <p:spPr>
          <a:xfrm>
            <a:off x="357188" y="314045"/>
            <a:ext cx="5915025" cy="676555"/>
          </a:xfrm>
        </p:spPr>
        <p:txBody>
          <a:bodyPr>
            <a:normAutofit fontScale="90000"/>
          </a:bodyPr>
          <a:lstStyle/>
          <a:p>
            <a:r>
              <a:rPr lang="zh-TW" altLang="en-US" dirty="0"/>
              <a:t>報考動機</a:t>
            </a:r>
            <a:r>
              <a:rPr lang="en-US" altLang="zh-TW" dirty="0"/>
              <a:t>:</a:t>
            </a:r>
            <a:r>
              <a:rPr lang="zh-TW" altLang="en-US" dirty="0"/>
              <a:t> 於封裝部門，負責統籌</a:t>
            </a:r>
            <a:r>
              <a:rPr lang="en-US" altLang="zh-TW" dirty="0"/>
              <a:t>M</a:t>
            </a:r>
            <a:r>
              <a:rPr lang="zh-TW" altLang="en-US" dirty="0"/>
              <a:t>公司供應鏈管理</a:t>
            </a:r>
          </a:p>
        </p:txBody>
      </p:sp>
      <p:sp>
        <p:nvSpPr>
          <p:cNvPr id="3" name="內容版面配置區 2">
            <a:extLst>
              <a:ext uri="{FF2B5EF4-FFF2-40B4-BE49-F238E27FC236}">
                <a16:creationId xmlns:a16="http://schemas.microsoft.com/office/drawing/2014/main" id="{9B8CD99D-FA80-4FCB-E345-2C20C94C1DBA}"/>
              </a:ext>
            </a:extLst>
          </p:cNvPr>
          <p:cNvSpPr>
            <a:spLocks noGrp="1"/>
          </p:cNvSpPr>
          <p:nvPr>
            <p:ph idx="1"/>
          </p:nvPr>
        </p:nvSpPr>
        <p:spPr>
          <a:xfrm>
            <a:off x="471487" y="1272540"/>
            <a:ext cx="5915025" cy="7360920"/>
          </a:xfrm>
        </p:spPr>
        <p:txBody>
          <a:bodyPr>
            <a:noAutofit/>
          </a:bodyPr>
          <a:lstStyle/>
          <a:p>
            <a:pPr marL="0" indent="0">
              <a:lnSpc>
                <a:spcPct val="120000"/>
              </a:lnSpc>
              <a:buNone/>
            </a:pPr>
            <a:endParaRPr lang="en-US" altLang="zh-TW" sz="1400" dirty="0"/>
          </a:p>
          <a:p>
            <a:pPr>
              <a:lnSpc>
                <a:spcPct val="120000"/>
              </a:lnSpc>
            </a:pPr>
            <a:r>
              <a:rPr lang="zh-TW" altLang="en-US" sz="1400" dirty="0"/>
              <a:t>前言</a:t>
            </a:r>
          </a:p>
          <a:p>
            <a:pPr>
              <a:lnSpc>
                <a:spcPct val="120000"/>
              </a:lnSpc>
            </a:pPr>
            <a:r>
              <a:rPr lang="zh-TW" altLang="en-US" sz="1400" dirty="0"/>
              <a:t>研發設計公司主要為</a:t>
            </a:r>
            <a:r>
              <a:rPr lang="en-US" altLang="zh-TW" sz="1400" dirty="0"/>
              <a:t>lab</a:t>
            </a:r>
            <a:r>
              <a:rPr lang="zh-TW" altLang="en-US" sz="1400" dirty="0"/>
              <a:t>非工廠 但從設計階段到生產量產到最後關鍵封裝測試製程 尤其關鍵</a:t>
            </a:r>
          </a:p>
          <a:p>
            <a:pPr>
              <a:lnSpc>
                <a:spcPct val="120000"/>
              </a:lnSpc>
            </a:pPr>
            <a:r>
              <a:rPr lang="zh-TW" altLang="en-US" sz="1400" dirty="0"/>
              <a:t>往往量產後產品因封裝測試階段之管理不當與疏失造成成品之損壞</a:t>
            </a:r>
          </a:p>
          <a:p>
            <a:pPr>
              <a:lnSpc>
                <a:spcPct val="120000"/>
              </a:lnSpc>
            </a:pPr>
            <a:r>
              <a:rPr lang="zh-TW" altLang="en-US" sz="1400" dirty="0"/>
              <a:t>影響公司與客戶合作之損失</a:t>
            </a:r>
          </a:p>
          <a:p>
            <a:pPr>
              <a:lnSpc>
                <a:spcPct val="120000"/>
              </a:lnSpc>
            </a:pPr>
            <a:r>
              <a:rPr lang="zh-TW" altLang="en-US" sz="1400" dirty="0"/>
              <a:t>故如何在最後封裝測試階段 管理好產品與供應商為最後關鍵目標與因素</a:t>
            </a:r>
            <a:endParaRPr lang="en-US" altLang="zh-TW" sz="1400" dirty="0"/>
          </a:p>
          <a:p>
            <a:pPr>
              <a:lnSpc>
                <a:spcPct val="120000"/>
              </a:lnSpc>
            </a:pPr>
            <a:endParaRPr lang="en-US" altLang="zh-TW" sz="1400" dirty="0"/>
          </a:p>
          <a:p>
            <a:pPr>
              <a:lnSpc>
                <a:spcPct val="120000"/>
              </a:lnSpc>
            </a:pPr>
            <a:r>
              <a:rPr lang="zh-TW" altLang="en-US" sz="1400" dirty="0"/>
              <a:t>描述：</a:t>
            </a:r>
          </a:p>
          <a:p>
            <a:pPr>
              <a:lnSpc>
                <a:spcPct val="120000"/>
              </a:lnSpc>
            </a:pPr>
            <a:r>
              <a:rPr lang="zh-TW" altLang="en-US" sz="1400" dirty="0"/>
              <a:t>封裝製程</a:t>
            </a:r>
            <a:r>
              <a:rPr lang="en-US" altLang="zh-TW" sz="1400" dirty="0" err="1"/>
              <a:t>ooxxoox</a:t>
            </a:r>
            <a:endParaRPr lang="en-US" altLang="zh-TW" sz="1400" dirty="0"/>
          </a:p>
          <a:p>
            <a:pPr>
              <a:lnSpc>
                <a:spcPct val="120000"/>
              </a:lnSpc>
            </a:pPr>
            <a:r>
              <a:rPr lang="zh-TW" altLang="en-US" sz="1400" dirty="0"/>
              <a:t>測試製程</a:t>
            </a:r>
            <a:r>
              <a:rPr lang="en-US" altLang="zh-TW" sz="1400" dirty="0" err="1"/>
              <a:t>ooxxoox</a:t>
            </a:r>
            <a:endParaRPr lang="en-US" altLang="zh-TW" sz="1400" dirty="0"/>
          </a:p>
          <a:p>
            <a:pPr>
              <a:lnSpc>
                <a:spcPct val="120000"/>
              </a:lnSpc>
            </a:pPr>
            <a:r>
              <a:rPr lang="zh-TW" altLang="en-US" sz="1400" dirty="0"/>
              <a:t>目前相關技術領先供應商：</a:t>
            </a:r>
            <a:r>
              <a:rPr lang="en-US" altLang="zh-TW" sz="1400" dirty="0"/>
              <a:t>123</a:t>
            </a:r>
          </a:p>
          <a:p>
            <a:pPr>
              <a:lnSpc>
                <a:spcPct val="120000"/>
              </a:lnSpc>
            </a:pPr>
            <a:r>
              <a:rPr lang="zh-TW" altLang="en-US" sz="1400" dirty="0"/>
              <a:t>市占率：</a:t>
            </a:r>
            <a:r>
              <a:rPr lang="en-US" altLang="zh-TW" sz="1400" dirty="0"/>
              <a:t>123</a:t>
            </a:r>
          </a:p>
          <a:p>
            <a:pPr>
              <a:lnSpc>
                <a:spcPct val="120000"/>
              </a:lnSpc>
            </a:pPr>
            <a:endParaRPr lang="en-US" altLang="zh-TW" sz="1400" dirty="0"/>
          </a:p>
          <a:p>
            <a:pPr>
              <a:lnSpc>
                <a:spcPct val="120000"/>
              </a:lnSpc>
            </a:pPr>
            <a:r>
              <a:rPr lang="zh-TW" altLang="en-US" sz="1400" dirty="0"/>
              <a:t>方法：</a:t>
            </a:r>
          </a:p>
          <a:p>
            <a:pPr>
              <a:lnSpc>
                <a:spcPct val="120000"/>
              </a:lnSpc>
            </a:pPr>
            <a:r>
              <a:rPr lang="zh-TW" altLang="en-US" sz="1400" dirty="0"/>
              <a:t>選用廠商之關鍵因素分析</a:t>
            </a:r>
          </a:p>
          <a:p>
            <a:pPr>
              <a:lnSpc>
                <a:spcPct val="120000"/>
              </a:lnSpc>
            </a:pPr>
            <a:r>
              <a:rPr lang="en-US" altLang="zh-TW" sz="1400" dirty="0"/>
              <a:t>1. </a:t>
            </a:r>
            <a:r>
              <a:rPr lang="zh-TW" altLang="en-US" sz="1400" dirty="0"/>
              <a:t>技術 </a:t>
            </a:r>
            <a:r>
              <a:rPr lang="en-US" altLang="zh-TW" sz="1400" dirty="0"/>
              <a:t>2.</a:t>
            </a:r>
            <a:r>
              <a:rPr lang="zh-TW" altLang="en-US" sz="1400" dirty="0"/>
              <a:t>成本 </a:t>
            </a:r>
            <a:r>
              <a:rPr lang="en-US" altLang="zh-TW" sz="1400" dirty="0"/>
              <a:t>3. </a:t>
            </a:r>
            <a:r>
              <a:rPr lang="zh-TW" altLang="en-US" sz="1400" dirty="0"/>
              <a:t>交期 </a:t>
            </a:r>
            <a:r>
              <a:rPr lang="en-US" altLang="zh-TW" sz="1400" dirty="0"/>
              <a:t>4. </a:t>
            </a:r>
            <a:r>
              <a:rPr lang="zh-TW" altLang="en-US" sz="1400" dirty="0"/>
              <a:t>社會信用度 </a:t>
            </a:r>
            <a:r>
              <a:rPr lang="en-US" altLang="zh-TW" sz="1400" dirty="0"/>
              <a:t>5. CSR….</a:t>
            </a:r>
          </a:p>
          <a:p>
            <a:pPr>
              <a:lnSpc>
                <a:spcPct val="120000"/>
              </a:lnSpc>
            </a:pPr>
            <a:r>
              <a:rPr lang="zh-TW" altLang="en-US" sz="1400" dirty="0"/>
              <a:t>透過交互分析比較 與歷年來事故原因分析</a:t>
            </a:r>
            <a:r>
              <a:rPr lang="en-US" altLang="zh-TW" sz="1400" dirty="0" err="1"/>
              <a:t>ooxxoox</a:t>
            </a:r>
            <a:r>
              <a:rPr lang="en-US" altLang="zh-TW" sz="1400" dirty="0"/>
              <a:t>…</a:t>
            </a:r>
          </a:p>
          <a:p>
            <a:pPr>
              <a:lnSpc>
                <a:spcPct val="120000"/>
              </a:lnSpc>
            </a:pPr>
            <a:endParaRPr lang="en-US" altLang="zh-TW" sz="1400" dirty="0"/>
          </a:p>
          <a:p>
            <a:pPr>
              <a:lnSpc>
                <a:spcPct val="120000"/>
              </a:lnSpc>
            </a:pPr>
            <a:r>
              <a:rPr lang="zh-TW" altLang="en-US" sz="1400" dirty="0"/>
              <a:t>結果：</a:t>
            </a:r>
          </a:p>
          <a:p>
            <a:pPr>
              <a:lnSpc>
                <a:spcPct val="120000"/>
              </a:lnSpc>
            </a:pPr>
            <a:r>
              <a:rPr lang="zh-TW" altLang="en-US" sz="1400" dirty="0"/>
              <a:t>依</a:t>
            </a:r>
            <a:r>
              <a:rPr lang="en-US" altLang="zh-TW" sz="1400" dirty="0"/>
              <a:t>xx</a:t>
            </a:r>
            <a:r>
              <a:rPr lang="zh-TW" altLang="en-US" sz="1400" dirty="0"/>
              <a:t>模型根據多少位管理供應商之</a:t>
            </a:r>
            <a:r>
              <a:rPr lang="en-US" altLang="zh-TW" sz="1400" dirty="0"/>
              <a:t>M</a:t>
            </a:r>
            <a:r>
              <a:rPr lang="zh-TW" altLang="en-US" sz="1400" dirty="0"/>
              <a:t>公司代表訪談 計算出結果為</a:t>
            </a:r>
          </a:p>
          <a:p>
            <a:pPr>
              <a:lnSpc>
                <a:spcPct val="120000"/>
              </a:lnSpc>
            </a:pPr>
            <a:r>
              <a:rPr lang="en-US" altLang="zh-TW" sz="1400" dirty="0"/>
              <a:t>OOO</a:t>
            </a:r>
            <a:r>
              <a:rPr lang="zh-TW" altLang="en-US" sz="1400" dirty="0"/>
              <a:t>為第一考慮因素 </a:t>
            </a:r>
            <a:r>
              <a:rPr lang="en-US" altLang="zh-TW" sz="1400" dirty="0"/>
              <a:t>XXX</a:t>
            </a:r>
            <a:r>
              <a:rPr lang="zh-TW" altLang="en-US" sz="1400" dirty="0"/>
              <a:t>為第二考慮因素 依序為</a:t>
            </a:r>
            <a:r>
              <a:rPr lang="en-US" altLang="zh-TW" sz="1400" dirty="0"/>
              <a:t>4567</a:t>
            </a:r>
            <a:endParaRPr lang="zh-TW" altLang="en-US" sz="1400" dirty="0"/>
          </a:p>
        </p:txBody>
      </p:sp>
    </p:spTree>
    <p:extLst>
      <p:ext uri="{BB962C8B-B14F-4D97-AF65-F5344CB8AC3E}">
        <p14:creationId xmlns:p14="http://schemas.microsoft.com/office/powerpoint/2010/main" val="793417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A79A58-EA01-1A22-0B5F-D066A9CAE762}"/>
              </a:ext>
            </a:extLst>
          </p:cNvPr>
          <p:cNvSpPr>
            <a:spLocks noGrp="1"/>
          </p:cNvSpPr>
          <p:nvPr>
            <p:ph type="title"/>
          </p:nvPr>
        </p:nvSpPr>
        <p:spPr>
          <a:xfrm>
            <a:off x="357188" y="314045"/>
            <a:ext cx="5915025" cy="676555"/>
          </a:xfrm>
        </p:spPr>
        <p:txBody>
          <a:bodyPr>
            <a:normAutofit fontScale="90000"/>
          </a:bodyPr>
          <a:lstStyle/>
          <a:p>
            <a:r>
              <a:rPr lang="zh-TW" altLang="en-US" dirty="0"/>
              <a:t>研究計畫</a:t>
            </a:r>
            <a:r>
              <a:rPr lang="en-US" altLang="zh-TW" dirty="0"/>
              <a:t>:</a:t>
            </a:r>
            <a:r>
              <a:rPr lang="zh-TW" altLang="en-US" dirty="0"/>
              <a:t>封裝測試供應鏈管理以</a:t>
            </a:r>
            <a:r>
              <a:rPr lang="en-US" altLang="zh-TW" dirty="0"/>
              <a:t>M</a:t>
            </a:r>
            <a:r>
              <a:rPr lang="zh-TW" altLang="en-US" dirty="0"/>
              <a:t>公司為例</a:t>
            </a:r>
          </a:p>
        </p:txBody>
      </p:sp>
      <p:sp>
        <p:nvSpPr>
          <p:cNvPr id="3" name="內容版面配置區 2">
            <a:extLst>
              <a:ext uri="{FF2B5EF4-FFF2-40B4-BE49-F238E27FC236}">
                <a16:creationId xmlns:a16="http://schemas.microsoft.com/office/drawing/2014/main" id="{24AF8D5A-2EA8-45F7-2593-22616D6ED9B6}"/>
              </a:ext>
            </a:extLst>
          </p:cNvPr>
          <p:cNvSpPr>
            <a:spLocks noGrp="1"/>
          </p:cNvSpPr>
          <p:nvPr>
            <p:ph idx="1"/>
          </p:nvPr>
        </p:nvSpPr>
        <p:spPr>
          <a:xfrm>
            <a:off x="471487" y="754380"/>
            <a:ext cx="5915025" cy="7360920"/>
          </a:xfrm>
        </p:spPr>
        <p:txBody>
          <a:bodyPr>
            <a:normAutofit fontScale="47500" lnSpcReduction="20000"/>
          </a:bodyPr>
          <a:lstStyle/>
          <a:p>
            <a:pPr>
              <a:lnSpc>
                <a:spcPct val="120000"/>
              </a:lnSpc>
            </a:pPr>
            <a:endParaRPr lang="en-US" altLang="zh-TW" dirty="0"/>
          </a:p>
          <a:p>
            <a:pPr>
              <a:lnSpc>
                <a:spcPct val="120000"/>
              </a:lnSpc>
            </a:pPr>
            <a:endParaRPr lang="en-US" altLang="zh-TW" dirty="0"/>
          </a:p>
          <a:p>
            <a:pPr>
              <a:lnSpc>
                <a:spcPct val="120000"/>
              </a:lnSpc>
            </a:pPr>
            <a:r>
              <a:rPr lang="zh-TW" altLang="en-US" dirty="0"/>
              <a:t>前言</a:t>
            </a:r>
          </a:p>
          <a:p>
            <a:pPr>
              <a:lnSpc>
                <a:spcPct val="120000"/>
              </a:lnSpc>
            </a:pPr>
            <a:endParaRPr lang="zh-TW" altLang="en-US" dirty="0"/>
          </a:p>
          <a:p>
            <a:pPr>
              <a:lnSpc>
                <a:spcPct val="120000"/>
              </a:lnSpc>
            </a:pPr>
            <a:r>
              <a:rPr lang="zh-TW" altLang="en-US" dirty="0"/>
              <a:t>研發設計公司主要為</a:t>
            </a:r>
            <a:r>
              <a:rPr lang="en-US" altLang="zh-TW" dirty="0"/>
              <a:t>lab</a:t>
            </a:r>
            <a:r>
              <a:rPr lang="zh-TW" altLang="en-US" dirty="0"/>
              <a:t>非工廠 但從設計階段到生產量產到最後關鍵封裝測試製程 尤其關鍵</a:t>
            </a:r>
          </a:p>
          <a:p>
            <a:pPr>
              <a:lnSpc>
                <a:spcPct val="120000"/>
              </a:lnSpc>
            </a:pPr>
            <a:endParaRPr lang="zh-TW" altLang="en-US" dirty="0"/>
          </a:p>
          <a:p>
            <a:pPr>
              <a:lnSpc>
                <a:spcPct val="120000"/>
              </a:lnSpc>
            </a:pPr>
            <a:r>
              <a:rPr lang="zh-TW" altLang="en-US" dirty="0"/>
              <a:t>往往量產後產品因封裝測試階段之管理不當與疏失造成成品之損壞</a:t>
            </a:r>
          </a:p>
          <a:p>
            <a:pPr>
              <a:lnSpc>
                <a:spcPct val="120000"/>
              </a:lnSpc>
            </a:pPr>
            <a:r>
              <a:rPr lang="zh-TW" altLang="en-US" dirty="0"/>
              <a:t>影響公司與客戶合作之損失</a:t>
            </a:r>
          </a:p>
          <a:p>
            <a:pPr>
              <a:lnSpc>
                <a:spcPct val="120000"/>
              </a:lnSpc>
            </a:pPr>
            <a:endParaRPr lang="zh-TW" altLang="en-US" dirty="0"/>
          </a:p>
          <a:p>
            <a:pPr>
              <a:lnSpc>
                <a:spcPct val="120000"/>
              </a:lnSpc>
            </a:pPr>
            <a:r>
              <a:rPr lang="zh-TW" altLang="en-US" dirty="0"/>
              <a:t>故如何在最後封裝測試階段 管理好產品與供應商為最後關鍵目標與因素</a:t>
            </a:r>
            <a:endParaRPr lang="en-US" altLang="zh-TW" dirty="0"/>
          </a:p>
          <a:p>
            <a:pPr>
              <a:lnSpc>
                <a:spcPct val="120000"/>
              </a:lnSpc>
            </a:pPr>
            <a:endParaRPr lang="en-US" altLang="zh-TW" dirty="0"/>
          </a:p>
          <a:p>
            <a:pPr>
              <a:lnSpc>
                <a:spcPct val="120000"/>
              </a:lnSpc>
            </a:pPr>
            <a:r>
              <a:rPr lang="zh-TW" altLang="en-US" dirty="0"/>
              <a:t>描述：</a:t>
            </a:r>
          </a:p>
          <a:p>
            <a:pPr>
              <a:lnSpc>
                <a:spcPct val="120000"/>
              </a:lnSpc>
            </a:pPr>
            <a:endParaRPr lang="zh-TW" altLang="en-US" dirty="0"/>
          </a:p>
          <a:p>
            <a:pPr>
              <a:lnSpc>
                <a:spcPct val="120000"/>
              </a:lnSpc>
            </a:pPr>
            <a:r>
              <a:rPr lang="zh-TW" altLang="en-US" dirty="0"/>
              <a:t>封裝製程</a:t>
            </a:r>
            <a:r>
              <a:rPr lang="en-US" altLang="zh-TW" dirty="0" err="1"/>
              <a:t>ooxxoox</a:t>
            </a:r>
            <a:endParaRPr lang="en-US" altLang="zh-TW" dirty="0"/>
          </a:p>
          <a:p>
            <a:pPr>
              <a:lnSpc>
                <a:spcPct val="120000"/>
              </a:lnSpc>
            </a:pPr>
            <a:r>
              <a:rPr lang="zh-TW" altLang="en-US" dirty="0"/>
              <a:t>測試製程</a:t>
            </a:r>
            <a:r>
              <a:rPr lang="en-US" altLang="zh-TW" dirty="0" err="1"/>
              <a:t>ooxxoox</a:t>
            </a:r>
            <a:endParaRPr lang="en-US" altLang="zh-TW" dirty="0"/>
          </a:p>
          <a:p>
            <a:pPr>
              <a:lnSpc>
                <a:spcPct val="120000"/>
              </a:lnSpc>
            </a:pPr>
            <a:r>
              <a:rPr lang="zh-TW" altLang="en-US" dirty="0"/>
              <a:t>目前相關技術領先供應商：</a:t>
            </a:r>
            <a:r>
              <a:rPr lang="en-US" altLang="zh-TW" dirty="0"/>
              <a:t>123</a:t>
            </a:r>
          </a:p>
          <a:p>
            <a:pPr>
              <a:lnSpc>
                <a:spcPct val="120000"/>
              </a:lnSpc>
            </a:pPr>
            <a:r>
              <a:rPr lang="zh-TW" altLang="en-US" dirty="0"/>
              <a:t>市占率：</a:t>
            </a:r>
            <a:r>
              <a:rPr lang="en-US" altLang="zh-TW" dirty="0"/>
              <a:t>123</a:t>
            </a:r>
          </a:p>
          <a:p>
            <a:pPr>
              <a:lnSpc>
                <a:spcPct val="120000"/>
              </a:lnSpc>
            </a:pPr>
            <a:endParaRPr lang="en-US" altLang="zh-TW" dirty="0"/>
          </a:p>
          <a:p>
            <a:pPr>
              <a:lnSpc>
                <a:spcPct val="120000"/>
              </a:lnSpc>
            </a:pPr>
            <a:r>
              <a:rPr lang="zh-TW" altLang="en-US" dirty="0"/>
              <a:t>方法：</a:t>
            </a:r>
          </a:p>
          <a:p>
            <a:pPr>
              <a:lnSpc>
                <a:spcPct val="120000"/>
              </a:lnSpc>
            </a:pPr>
            <a:r>
              <a:rPr lang="zh-TW" altLang="en-US" dirty="0"/>
              <a:t> </a:t>
            </a:r>
          </a:p>
          <a:p>
            <a:pPr>
              <a:lnSpc>
                <a:spcPct val="120000"/>
              </a:lnSpc>
            </a:pPr>
            <a:r>
              <a:rPr lang="zh-TW" altLang="en-US" dirty="0"/>
              <a:t>選用廠商之關鍵因素分析</a:t>
            </a:r>
          </a:p>
          <a:p>
            <a:pPr>
              <a:lnSpc>
                <a:spcPct val="120000"/>
              </a:lnSpc>
            </a:pPr>
            <a:r>
              <a:rPr lang="en-US" altLang="zh-TW" dirty="0"/>
              <a:t>1. </a:t>
            </a:r>
            <a:r>
              <a:rPr lang="zh-TW" altLang="en-US" dirty="0"/>
              <a:t>技術 </a:t>
            </a:r>
            <a:r>
              <a:rPr lang="en-US" altLang="zh-TW" dirty="0"/>
              <a:t>2.</a:t>
            </a:r>
            <a:r>
              <a:rPr lang="zh-TW" altLang="en-US" dirty="0"/>
              <a:t>成本 </a:t>
            </a:r>
            <a:r>
              <a:rPr lang="en-US" altLang="zh-TW" dirty="0"/>
              <a:t>3. </a:t>
            </a:r>
            <a:r>
              <a:rPr lang="zh-TW" altLang="en-US" dirty="0"/>
              <a:t>交期 </a:t>
            </a:r>
            <a:r>
              <a:rPr lang="en-US" altLang="zh-TW" dirty="0"/>
              <a:t>4. </a:t>
            </a:r>
            <a:r>
              <a:rPr lang="zh-TW" altLang="en-US" dirty="0"/>
              <a:t>社會信用度 </a:t>
            </a:r>
            <a:r>
              <a:rPr lang="en-US" altLang="zh-TW" dirty="0"/>
              <a:t>5. CSR….</a:t>
            </a:r>
          </a:p>
          <a:p>
            <a:pPr>
              <a:lnSpc>
                <a:spcPct val="120000"/>
              </a:lnSpc>
            </a:pPr>
            <a:endParaRPr lang="en-US" altLang="zh-TW" dirty="0"/>
          </a:p>
          <a:p>
            <a:pPr>
              <a:lnSpc>
                <a:spcPct val="120000"/>
              </a:lnSpc>
            </a:pPr>
            <a:r>
              <a:rPr lang="zh-TW" altLang="en-US" dirty="0"/>
              <a:t>透過交互分析比較 與歷年來事故原因分析</a:t>
            </a:r>
            <a:r>
              <a:rPr lang="en-US" altLang="zh-TW" dirty="0" err="1"/>
              <a:t>ooxxoox</a:t>
            </a:r>
            <a:r>
              <a:rPr lang="en-US" altLang="zh-TW" dirty="0"/>
              <a:t>…</a:t>
            </a:r>
          </a:p>
          <a:p>
            <a:pPr>
              <a:lnSpc>
                <a:spcPct val="120000"/>
              </a:lnSpc>
            </a:pPr>
            <a:endParaRPr lang="en-US" altLang="zh-TW" dirty="0"/>
          </a:p>
          <a:p>
            <a:pPr>
              <a:lnSpc>
                <a:spcPct val="120000"/>
              </a:lnSpc>
            </a:pPr>
            <a:r>
              <a:rPr lang="zh-TW" altLang="en-US" dirty="0"/>
              <a:t>結果：</a:t>
            </a:r>
          </a:p>
          <a:p>
            <a:pPr>
              <a:lnSpc>
                <a:spcPct val="120000"/>
              </a:lnSpc>
            </a:pPr>
            <a:endParaRPr lang="zh-TW" altLang="en-US" dirty="0"/>
          </a:p>
          <a:p>
            <a:pPr>
              <a:lnSpc>
                <a:spcPct val="120000"/>
              </a:lnSpc>
            </a:pPr>
            <a:r>
              <a:rPr lang="zh-TW" altLang="en-US" dirty="0"/>
              <a:t>依</a:t>
            </a:r>
            <a:r>
              <a:rPr lang="en-US" altLang="zh-TW" dirty="0"/>
              <a:t>xx</a:t>
            </a:r>
            <a:r>
              <a:rPr lang="zh-TW" altLang="en-US" dirty="0"/>
              <a:t>模型根據多少位管理供應商之</a:t>
            </a:r>
            <a:r>
              <a:rPr lang="en-US" altLang="zh-TW" dirty="0"/>
              <a:t>M</a:t>
            </a:r>
            <a:r>
              <a:rPr lang="zh-TW" altLang="en-US" dirty="0"/>
              <a:t>公司代表訪談 計算出結果為</a:t>
            </a:r>
          </a:p>
          <a:p>
            <a:pPr>
              <a:lnSpc>
                <a:spcPct val="120000"/>
              </a:lnSpc>
            </a:pPr>
            <a:r>
              <a:rPr lang="en-US" altLang="zh-TW" dirty="0"/>
              <a:t>OOO</a:t>
            </a:r>
            <a:r>
              <a:rPr lang="zh-TW" altLang="en-US" dirty="0"/>
              <a:t>為第一考慮因素 </a:t>
            </a:r>
            <a:r>
              <a:rPr lang="en-US" altLang="zh-TW" dirty="0"/>
              <a:t>XXX</a:t>
            </a:r>
            <a:r>
              <a:rPr lang="zh-TW" altLang="en-US" dirty="0"/>
              <a:t>為第二考慮因素 依序為</a:t>
            </a:r>
            <a:r>
              <a:rPr lang="en-US" altLang="zh-TW" dirty="0"/>
              <a:t>4567</a:t>
            </a:r>
            <a:endParaRPr lang="zh-TW" altLang="en-US" dirty="0"/>
          </a:p>
        </p:txBody>
      </p:sp>
    </p:spTree>
    <p:extLst>
      <p:ext uri="{BB962C8B-B14F-4D97-AF65-F5344CB8AC3E}">
        <p14:creationId xmlns:p14="http://schemas.microsoft.com/office/powerpoint/2010/main" val="4115727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180062-E883-CD64-7B66-465127BD3627}"/>
              </a:ext>
            </a:extLst>
          </p:cNvPr>
          <p:cNvSpPr>
            <a:spLocks noGrp="1"/>
          </p:cNvSpPr>
          <p:nvPr>
            <p:ph type="title"/>
          </p:nvPr>
        </p:nvSpPr>
        <p:spPr/>
        <p:txBody>
          <a:bodyPr/>
          <a:lstStyle/>
          <a:p>
            <a:endParaRPr lang="zh-TW" altLang="en-US"/>
          </a:p>
        </p:txBody>
      </p:sp>
      <p:pic>
        <p:nvPicPr>
          <p:cNvPr id="7" name="內容版面配置區 6">
            <a:extLst>
              <a:ext uri="{FF2B5EF4-FFF2-40B4-BE49-F238E27FC236}">
                <a16:creationId xmlns:a16="http://schemas.microsoft.com/office/drawing/2014/main" id="{21A0B50D-D713-9D47-3517-80A35356DF91}"/>
              </a:ext>
            </a:extLst>
          </p:cNvPr>
          <p:cNvPicPr>
            <a:picLocks noGrp="1" noChangeAspect="1"/>
          </p:cNvPicPr>
          <p:nvPr>
            <p:ph idx="1"/>
          </p:nvPr>
        </p:nvPicPr>
        <p:blipFill>
          <a:blip r:embed="rId2"/>
          <a:stretch>
            <a:fillRect/>
          </a:stretch>
        </p:blipFill>
        <p:spPr>
          <a:xfrm>
            <a:off x="563764" y="3404226"/>
            <a:ext cx="5163267" cy="2925851"/>
          </a:xfrm>
        </p:spPr>
      </p:pic>
      <p:pic>
        <p:nvPicPr>
          <p:cNvPr id="5" name="圖片 4">
            <a:extLst>
              <a:ext uri="{FF2B5EF4-FFF2-40B4-BE49-F238E27FC236}">
                <a16:creationId xmlns:a16="http://schemas.microsoft.com/office/drawing/2014/main" id="{2834D87C-CC5B-A7C8-84FD-68926A1818A9}"/>
              </a:ext>
            </a:extLst>
          </p:cNvPr>
          <p:cNvPicPr>
            <a:picLocks noChangeAspect="1"/>
          </p:cNvPicPr>
          <p:nvPr/>
        </p:nvPicPr>
        <p:blipFill>
          <a:blip r:embed="rId3"/>
          <a:stretch>
            <a:fillRect/>
          </a:stretch>
        </p:blipFill>
        <p:spPr>
          <a:xfrm>
            <a:off x="471487" y="265140"/>
            <a:ext cx="5090671" cy="2876821"/>
          </a:xfrm>
          <a:prstGeom prst="rect">
            <a:avLst/>
          </a:prstGeom>
        </p:spPr>
      </p:pic>
    </p:spTree>
    <p:extLst>
      <p:ext uri="{BB962C8B-B14F-4D97-AF65-F5344CB8AC3E}">
        <p14:creationId xmlns:p14="http://schemas.microsoft.com/office/powerpoint/2010/main" val="1761303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5A387F-B26A-DA9A-7EEA-9B1290BC9A69}"/>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37E229D9-F25A-1804-B171-EDBA1D3B3D4E}"/>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2A723E87-CEA9-151E-A142-A89CA43BF159}"/>
              </a:ext>
            </a:extLst>
          </p:cNvPr>
          <p:cNvPicPr>
            <a:picLocks noChangeAspect="1"/>
          </p:cNvPicPr>
          <p:nvPr/>
        </p:nvPicPr>
        <p:blipFill>
          <a:blip r:embed="rId2"/>
          <a:stretch>
            <a:fillRect/>
          </a:stretch>
        </p:blipFill>
        <p:spPr>
          <a:xfrm>
            <a:off x="3191827" y="413105"/>
            <a:ext cx="3128123" cy="6781800"/>
          </a:xfrm>
          <a:prstGeom prst="rect">
            <a:avLst/>
          </a:prstGeom>
        </p:spPr>
      </p:pic>
      <p:pic>
        <p:nvPicPr>
          <p:cNvPr id="7" name="圖片 6">
            <a:extLst>
              <a:ext uri="{FF2B5EF4-FFF2-40B4-BE49-F238E27FC236}">
                <a16:creationId xmlns:a16="http://schemas.microsoft.com/office/drawing/2014/main" id="{32E94760-474D-0317-18D8-22BEF47FECA9}"/>
              </a:ext>
            </a:extLst>
          </p:cNvPr>
          <p:cNvPicPr>
            <a:picLocks noChangeAspect="1"/>
          </p:cNvPicPr>
          <p:nvPr/>
        </p:nvPicPr>
        <p:blipFill>
          <a:blip r:embed="rId3"/>
          <a:stretch>
            <a:fillRect/>
          </a:stretch>
        </p:blipFill>
        <p:spPr>
          <a:xfrm>
            <a:off x="0" y="259080"/>
            <a:ext cx="3125263" cy="6775600"/>
          </a:xfrm>
          <a:prstGeom prst="rect">
            <a:avLst/>
          </a:prstGeom>
        </p:spPr>
      </p:pic>
    </p:spTree>
    <p:extLst>
      <p:ext uri="{BB962C8B-B14F-4D97-AF65-F5344CB8AC3E}">
        <p14:creationId xmlns:p14="http://schemas.microsoft.com/office/powerpoint/2010/main" val="1419476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FF1C4E-CF28-94EC-2331-368C59D3033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5A9B474-06ED-E703-E7B4-C44E55B93DCF}"/>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15FF89F1-67A5-F6CD-468B-A5C3D0C0ACD5}"/>
              </a:ext>
            </a:extLst>
          </p:cNvPr>
          <p:cNvPicPr>
            <a:picLocks noChangeAspect="1"/>
          </p:cNvPicPr>
          <p:nvPr/>
        </p:nvPicPr>
        <p:blipFill>
          <a:blip r:embed="rId2"/>
          <a:stretch>
            <a:fillRect/>
          </a:stretch>
        </p:blipFill>
        <p:spPr>
          <a:xfrm>
            <a:off x="1537604" y="891539"/>
            <a:ext cx="3011535" cy="6529033"/>
          </a:xfrm>
          <a:prstGeom prst="rect">
            <a:avLst/>
          </a:prstGeom>
        </p:spPr>
      </p:pic>
    </p:spTree>
    <p:extLst>
      <p:ext uri="{BB962C8B-B14F-4D97-AF65-F5344CB8AC3E}">
        <p14:creationId xmlns:p14="http://schemas.microsoft.com/office/powerpoint/2010/main" val="3895117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586A31-7DAC-F3C7-2BB0-7D5C2A7D280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204F9300-D0E2-E061-713A-0925A31788BC}"/>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614989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586A31-7DAC-F3C7-2BB0-7D5C2A7D280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204F9300-D0E2-E061-713A-0925A31788BC}"/>
              </a:ext>
            </a:extLst>
          </p:cNvPr>
          <p:cNvSpPr>
            <a:spLocks noGrp="1"/>
          </p:cNvSpPr>
          <p:nvPr>
            <p:ph idx="1"/>
          </p:nvPr>
        </p:nvSpPr>
        <p:spPr/>
        <p:txBody>
          <a:bodyPr/>
          <a:lstStyle/>
          <a:p>
            <a:endParaRPr lang="zh-TW" altLang="en-US"/>
          </a:p>
        </p:txBody>
      </p:sp>
      <p:pic>
        <p:nvPicPr>
          <p:cNvPr id="4" name="圖片 6">
            <a:extLst>
              <a:ext uri="{FF2B5EF4-FFF2-40B4-BE49-F238E27FC236}">
                <a16:creationId xmlns:a16="http://schemas.microsoft.com/office/drawing/2014/main" id="{9F4FE8AD-B8F2-7235-FAA8-69D8713EA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024" y="3314214"/>
            <a:ext cx="3048740" cy="148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785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586A31-7DAC-F3C7-2BB0-7D5C2A7D2806}"/>
              </a:ext>
            </a:extLst>
          </p:cNvPr>
          <p:cNvSpPr>
            <a:spLocks noGrp="1"/>
          </p:cNvSpPr>
          <p:nvPr>
            <p:ph type="title"/>
          </p:nvPr>
        </p:nvSpPr>
        <p:spPr/>
        <p:txBody>
          <a:bodyPr/>
          <a:lstStyle/>
          <a:p>
            <a:r>
              <a:rPr lang="en-US" altLang="zh-TW" dirty="0"/>
              <a:t>NPI to MP Package Development Flow &amp; Deliverable</a:t>
            </a:r>
            <a:endParaRPr lang="zh-TW" altLang="en-US" dirty="0"/>
          </a:p>
        </p:txBody>
      </p:sp>
      <p:sp>
        <p:nvSpPr>
          <p:cNvPr id="3" name="內容版面配置區 2">
            <a:extLst>
              <a:ext uri="{FF2B5EF4-FFF2-40B4-BE49-F238E27FC236}">
                <a16:creationId xmlns:a16="http://schemas.microsoft.com/office/drawing/2014/main" id="{204F9300-D0E2-E061-713A-0925A31788BC}"/>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09ED4762-FD80-63C1-6A79-92386313C057}"/>
              </a:ext>
            </a:extLst>
          </p:cNvPr>
          <p:cNvPicPr>
            <a:picLocks noChangeAspect="1"/>
          </p:cNvPicPr>
          <p:nvPr/>
        </p:nvPicPr>
        <p:blipFill>
          <a:blip r:embed="rId2"/>
          <a:stretch>
            <a:fillRect/>
          </a:stretch>
        </p:blipFill>
        <p:spPr>
          <a:xfrm>
            <a:off x="291217" y="3492744"/>
            <a:ext cx="6566783" cy="3268307"/>
          </a:xfrm>
          <a:prstGeom prst="rect">
            <a:avLst/>
          </a:prstGeom>
        </p:spPr>
      </p:pic>
    </p:spTree>
    <p:extLst>
      <p:ext uri="{BB962C8B-B14F-4D97-AF65-F5344CB8AC3E}">
        <p14:creationId xmlns:p14="http://schemas.microsoft.com/office/powerpoint/2010/main" val="2010896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BC9AC1-06C7-6418-5FF2-575D2839A63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06A4102-5CB0-7554-B471-03911B2B6246}"/>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1797755980"/>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3bcef13-7cac-433f-ba1d-47a323951816}" enabled="1" method="Privileged" siteId="{a7687ede-7a6b-4ef6-bace-642f677fbe31}" contentBits="0" removed="0"/>
</clbl:labelList>
</file>

<file path=docProps/app.xml><?xml version="1.0" encoding="utf-8"?>
<Properties xmlns="http://schemas.openxmlformats.org/officeDocument/2006/extended-properties" xmlns:vt="http://schemas.openxmlformats.org/officeDocument/2006/docPropsVTypes">
  <Template>Office Theme</Template>
  <TotalTime>26003</TotalTime>
  <Words>3629</Words>
  <Application>Microsoft Office PowerPoint</Application>
  <PresentationFormat>A4 紙張 (210x297 公釐)</PresentationFormat>
  <Paragraphs>271</Paragraphs>
  <Slides>20</Slides>
  <Notes>4</Notes>
  <HiddenSlides>0</HiddenSlides>
  <MMClips>0</MMClips>
  <ScaleCrop>false</ScaleCrop>
  <HeadingPairs>
    <vt:vector size="6" baseType="variant">
      <vt:variant>
        <vt:lpstr>使用字型</vt:lpstr>
      </vt:variant>
      <vt:variant>
        <vt:i4>18</vt:i4>
      </vt:variant>
      <vt:variant>
        <vt:lpstr>佈景主題</vt:lpstr>
      </vt:variant>
      <vt:variant>
        <vt:i4>1</vt:i4>
      </vt:variant>
      <vt:variant>
        <vt:lpstr>投影片標題</vt:lpstr>
      </vt:variant>
      <vt:variant>
        <vt:i4>20</vt:i4>
      </vt:variant>
    </vt:vector>
  </HeadingPairs>
  <TitlesOfParts>
    <vt:vector size="39" baseType="lpstr">
      <vt:lpstr>Arial Unicode MS</vt:lpstr>
      <vt:lpstr>DFKaiShuStd</vt:lpstr>
      <vt:lpstr>DFMingStd</vt:lpstr>
      <vt:lpstr>Noto Sans Symbols</vt:lpstr>
      <vt:lpstr>PingFang SC</vt:lpstr>
      <vt:lpstr>Söhne</vt:lpstr>
      <vt:lpstr>TimesNewRomanPSMT</vt:lpstr>
      <vt:lpstr>微軟正黑體</vt:lpstr>
      <vt:lpstr>PMingLiU</vt:lpstr>
      <vt:lpstr>Arial</vt:lpstr>
      <vt:lpstr>Calibri</vt:lpstr>
      <vt:lpstr>Calibri Light</vt:lpstr>
      <vt:lpstr>Cambria Math</vt:lpstr>
      <vt:lpstr>Helvetica</vt:lpstr>
      <vt:lpstr>Poiret One</vt:lpstr>
      <vt:lpstr>Times New Roman</vt:lpstr>
      <vt:lpstr>Trebuchet MS</vt:lpstr>
      <vt:lpstr>Wingdings</vt:lpstr>
      <vt:lpstr>Office 佈景主題</vt:lpstr>
      <vt:lpstr>PowerPoint 簡報</vt:lpstr>
      <vt:lpstr>PowerPoint 簡報</vt:lpstr>
      <vt:lpstr>PowerPoint 簡報</vt:lpstr>
      <vt:lpstr>PowerPoint 簡報</vt:lpstr>
      <vt:lpstr>PowerPoint 簡報</vt:lpstr>
      <vt:lpstr>PowerPoint 簡報</vt:lpstr>
      <vt:lpstr>Summary       Worked at MediaTek, Winstek and Powerchip for 16 years in sales and customer service. Familiar with building and maintaining good relationships with customers, understanding the production status and market information of foundry, bumping, assembly manufacturing processes and IC design business operation in the semiconductor industry chain. Currently working in MediaTek, responsible for monitoring the yield rate of all MediaTek products and entering mass production smoothly and successfully, also have good relationships with team leaders and customer contact windows in MediaTek. Specializes in sales related work, both planning and execution, with a willingness to business trip when needed.  </vt:lpstr>
      <vt:lpstr>PowerPoint 簡報</vt:lpstr>
      <vt:lpstr>PowerPoint 簡報</vt:lpstr>
      <vt:lpstr>PowerPoint 簡報</vt:lpstr>
      <vt:lpstr>PowerPoint 簡報</vt:lpstr>
      <vt:lpstr>報考動機: 於封裝部門，負責統籌M公司供應鏈管理</vt:lpstr>
      <vt:lpstr>研究計畫:封裝測試供應鏈管理以M公司為例</vt:lpstr>
      <vt:lpstr>PowerPoint 簡報</vt:lpstr>
      <vt:lpstr>PowerPoint 簡報</vt:lpstr>
      <vt:lpstr>PowerPoint 簡報</vt:lpstr>
      <vt:lpstr>PowerPoint 簡報</vt:lpstr>
      <vt:lpstr>PowerPoint 簡報</vt:lpstr>
      <vt:lpstr>NPI to MP Package Development Flow &amp; Deliverable</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User</dc:creator>
  <cp:lastModifiedBy>Donna Chen (陳宛亭)</cp:lastModifiedBy>
  <cp:revision>79</cp:revision>
  <dcterms:created xsi:type="dcterms:W3CDTF">2023-11-18T08:29:31Z</dcterms:created>
  <dcterms:modified xsi:type="dcterms:W3CDTF">2025-11-27T05:48:41Z</dcterms:modified>
</cp:coreProperties>
</file>