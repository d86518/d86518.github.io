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3" r:id="rId2"/>
  </p:sldMasterIdLst>
  <p:notesMasterIdLst>
    <p:notesMasterId r:id="rId10"/>
  </p:notesMasterIdLst>
  <p:sldIdLst>
    <p:sldId id="293" r:id="rId3"/>
    <p:sldId id="296" r:id="rId4"/>
    <p:sldId id="297" r:id="rId5"/>
    <p:sldId id="298" r:id="rId6"/>
    <p:sldId id="295" r:id="rId7"/>
    <p:sldId id="264" r:id="rId8"/>
    <p:sldId id="299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4364" autoAdjust="0"/>
  </p:normalViewPr>
  <p:slideViewPr>
    <p:cSldViewPr snapToGrid="0" snapToObjects="1">
      <p:cViewPr varScale="1">
        <p:scale>
          <a:sx n="90" d="100"/>
          <a:sy n="90" d="100"/>
        </p:scale>
        <p:origin x="11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3894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 sz="1800" dirty="0">
              <a:effectLst/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5D50CF-A9A7-447A-BABF-AD341182B7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114563D-56C7-FF45-2844-4EF1B27F87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02843DA-E18A-4407-3F93-BC5D941CB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A925C-3852-4186-9334-E4C80D2865DC}" type="datetimeFigureOut">
              <a:rPr lang="zh-TW" altLang="en-US" smtClean="0"/>
              <a:t>2026/8/25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489A1C7-BF32-508C-9AD8-EF27D7AE3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E211329-F6CC-1AB6-00B9-287238350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732DD-35EA-4682-A139-CA13D977E5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3592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A15C7C-A39E-9D76-BE57-F3D9A6D37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8A26F1-F1F9-3E59-3AB5-377A614FB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6C60BD-FA60-C079-B4A0-4344AD557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A925C-3852-4186-9334-E4C80D2865DC}" type="datetimeFigureOut">
              <a:rPr lang="zh-TW" altLang="en-US" smtClean="0"/>
              <a:t>2026/8/25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ADF68B8-638C-83BF-F65E-8051A7D3B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B051C95-4653-B108-3C87-6C6C36C24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732DD-35EA-4682-A139-CA13D977E5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4766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C62E3B-22CF-6306-ECB4-533731570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E562859-CE87-1A43-B291-4CFE65694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3547F55-F01C-6C06-F153-8788A241F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A925C-3852-4186-9334-E4C80D2865DC}" type="datetimeFigureOut">
              <a:rPr lang="zh-TW" altLang="en-US" smtClean="0"/>
              <a:t>2026/8/25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06C678-C206-B54D-E469-8870C6575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1498E79-95C6-68F3-0A69-9EBACF504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732DD-35EA-4682-A139-CA13D977E5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8369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18F012-6E26-4D22-A02E-D0FCC4D64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5C6958E-488C-86A1-75E9-162DEFC9D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3AA3A92-F08F-C282-C2AE-C14039A111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39D3468-DB35-BD5A-2E10-9846D7183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A925C-3852-4186-9334-E4C80D2865DC}" type="datetimeFigureOut">
              <a:rPr lang="zh-TW" altLang="en-US" smtClean="0"/>
              <a:t>2026/8/25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B39807C-E25F-347F-559D-D687678B6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D95CE46-397C-428D-AB6E-63436D499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732DD-35EA-4682-A139-CA13D977E5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1522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FD4175-40B0-491C-8F08-0654327B2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5CF0D21-D50A-29D8-586B-6AB9B7368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2A82A79-5BC9-5A54-8C52-9AA678A43E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BC8D1DB-084B-7FF2-F28C-D7160B32D9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2D90A0B-FC7E-029D-9117-244A75E232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80D80C3-BEC4-AC63-8D29-D3B8A0503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A925C-3852-4186-9334-E4C80D2865DC}" type="datetimeFigureOut">
              <a:rPr lang="zh-TW" altLang="en-US" smtClean="0"/>
              <a:t>2026/8/25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DF8D02F-DF97-5785-F28F-5ABFCAC89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EBD797D-CA27-03D2-CA55-8387A7790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732DD-35EA-4682-A139-CA13D977E5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9204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C7C276-C782-6E81-2045-B4F889613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8A04FB5-F022-9BF6-71A1-935DDA13F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A925C-3852-4186-9334-E4C80D2865DC}" type="datetimeFigureOut">
              <a:rPr lang="zh-TW" altLang="en-US" smtClean="0"/>
              <a:t>2026/8/25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FF87492-482D-51E9-2643-F9349AE7F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93BE2AE-E945-9E94-CEF1-212F541D5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732DD-35EA-4682-A139-CA13D977E5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8894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6EF19E4-F0AC-863C-26F1-A9C223B32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A925C-3852-4186-9334-E4C80D2865DC}" type="datetimeFigureOut">
              <a:rPr lang="zh-TW" altLang="en-US" smtClean="0"/>
              <a:t>2026/8/25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5C2CEC0-D1CF-E4E6-B032-4743075E3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ED116DD-3D94-CD66-49F9-A225BBB55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732DD-35EA-4682-A139-CA13D977E5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8594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C72C8E-CA24-9B30-83A8-7132281A2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7CAD6A-F268-F358-2735-A0DA6E05E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B94ED71-0220-252E-4E51-F47DB4094F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1B2245F-F606-B260-45CA-2CF38604C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A925C-3852-4186-9334-E4C80D2865DC}" type="datetimeFigureOut">
              <a:rPr lang="zh-TW" altLang="en-US" smtClean="0"/>
              <a:t>2026/8/25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DBB0551-BBA7-69CA-912C-F7AC8B052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E204B7E-9EF6-F991-D6DE-5BE7A69F9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732DD-35EA-4682-A139-CA13D977E5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8490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AE016E-2479-4BB9-DDEC-39C5B2457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623BD18-2A9D-9D01-7D26-4A4FDAB42A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2E3B5F1-B804-E32A-0367-DCA3006052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0B6AE2D-4ED5-70A9-9719-EBB501101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A925C-3852-4186-9334-E4C80D2865DC}" type="datetimeFigureOut">
              <a:rPr lang="zh-TW" altLang="en-US" smtClean="0"/>
              <a:t>2026/8/25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843A149-3C7E-738F-8E63-6F9B1A537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42A69CE-04B4-6BAB-B5EE-5A6E4822C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732DD-35EA-4682-A139-CA13D977E5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6880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41C2D2-A7FB-636B-B561-DCF35AE35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DE7B415-2B49-4692-BB67-2C4225A859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0AAF088-3974-5402-909B-EFFE70855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A925C-3852-4186-9334-E4C80D2865DC}" type="datetimeFigureOut">
              <a:rPr lang="zh-TW" altLang="en-US" smtClean="0"/>
              <a:t>2026/8/25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F74FFFB-D76E-329F-CF1E-619031376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15016B2-6D40-1ECA-4F24-7FD9F7546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732DD-35EA-4682-A139-CA13D977E5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39622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E5D160F-CB30-0A8C-AB79-EEC5CF1835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DE9BBD8-47F5-FD76-01EC-AD5CBBF246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AB5ACDF-1315-B606-147C-4AD0CA597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A925C-3852-4186-9334-E4C80D2865DC}" type="datetimeFigureOut">
              <a:rPr lang="zh-TW" altLang="en-US" smtClean="0"/>
              <a:t>2026/8/25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1473D02-2301-93EE-7051-4ED3F56D2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956BA2E-7511-4B43-B915-BD3D97C4D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732DD-35EA-4682-A139-CA13D977E5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1911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EEC0DB8-B63E-61C0-DE10-2D66B57CC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56B4252-D790-05EA-262B-E88B36192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0FA93EC-104F-E18D-63D8-C0C0074B42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DA925C-3852-4186-9334-E4C80D2865DC}" type="datetimeFigureOut">
              <a:rPr lang="zh-TW" altLang="en-US" smtClean="0"/>
              <a:t>2026/8/25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8BA416E-AC36-DF2E-56AB-8E6DF0506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645B1F5-1A2E-E66A-B161-019143021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E732DD-35EA-4682-A139-CA13D977E5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1163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E66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0704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112E43"/>
                </a:solidFill>
                <a:latin typeface="Microsoft JhengHei"/>
              </a:rPr>
              <a:t>營收如何再提高？除了套餐，還有這些做法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42104"/>
            <a:ext cx="3503104" cy="3900000"/>
          </a:xfrm>
          <a:prstGeom prst="roundRect">
            <a:avLst>
              <a:gd name="adj" fmla="val 6000"/>
            </a:avLst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85616" y="1560792"/>
            <a:ext cx="603504" cy="603504"/>
          </a:xfrm>
          <a:prstGeom prst="ellipse">
            <a:avLst/>
          </a:prstGeom>
          <a:solidFill>
            <a:srgbClr val="F3D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07808" y="1695090"/>
            <a:ext cx="304648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1" dirty="0" err="1">
                <a:solidFill>
                  <a:srgbClr val="E66B30"/>
                </a:solidFill>
                <a:latin typeface="Microsoft JhengHei"/>
              </a:rPr>
              <a:t>差異化定價</a:t>
            </a:r>
            <a:endParaRPr b="1" dirty="0">
              <a:solidFill>
                <a:srgbClr val="E66B30"/>
              </a:solidFill>
              <a:latin typeface="Microsoft Jheng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1480" y="2493640"/>
            <a:ext cx="3369312" cy="13987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dirty="0" err="1">
                <a:solidFill>
                  <a:srgbClr val="53666D"/>
                </a:solidFill>
                <a:latin typeface="Microsoft JhengHei"/>
              </a:rPr>
              <a:t>把耗時、低翻桌貢獻的單點（例如現場手切、客製溫體牛特殊拼盤）價格提高；套餐維持親民定價，用價格差引導客人選擇不佔用產能的組合</a:t>
            </a:r>
            <a:r>
              <a:rPr sz="1400" b="0" dirty="0">
                <a:solidFill>
                  <a:srgbClr val="53666D"/>
                </a:solidFill>
                <a:latin typeface="Microsoft Jheng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dirty="0">
                <a:solidFill>
                  <a:srgbClr val="53666D"/>
                </a:solidFill>
                <a:latin typeface="Microsoft JhengHei"/>
              </a:rPr>
              <a:t>（</a:t>
            </a:r>
            <a:r>
              <a:rPr lang="zh-TW" altLang="en-US" sz="1400" dirty="0">
                <a:solidFill>
                  <a:srgbClr val="53666D"/>
                </a:solidFill>
                <a:latin typeface="Microsoft JhengHei"/>
              </a:rPr>
              <a:t>如</a:t>
            </a:r>
            <a:r>
              <a:rPr sz="1400" b="0" dirty="0">
                <a:solidFill>
                  <a:srgbClr val="53666D"/>
                </a:solidFill>
                <a:latin typeface="Microsoft JhengHei"/>
              </a:rPr>
              <a:t>：</a:t>
            </a:r>
            <a:r>
              <a:rPr sz="1400" b="0" dirty="0" err="1">
                <a:solidFill>
                  <a:srgbClr val="53666D"/>
                </a:solidFill>
                <a:latin typeface="Microsoft JhengHei"/>
              </a:rPr>
              <a:t>壓低套餐</a:t>
            </a:r>
            <a:r>
              <a:rPr lang="zh-TW" altLang="en-US" sz="1400" b="0" dirty="0">
                <a:solidFill>
                  <a:srgbClr val="53666D"/>
                </a:solidFill>
                <a:latin typeface="Microsoft JhengHei"/>
              </a:rPr>
              <a:t>價</a:t>
            </a:r>
            <a:r>
              <a:rPr sz="1400" b="0" dirty="0">
                <a:solidFill>
                  <a:srgbClr val="53666D"/>
                </a:solidFill>
                <a:latin typeface="Microsoft JhengHei"/>
              </a:rPr>
              <a:t>、</a:t>
            </a:r>
            <a:r>
              <a:rPr sz="1400" b="0" dirty="0" err="1">
                <a:solidFill>
                  <a:srgbClr val="53666D"/>
                </a:solidFill>
                <a:latin typeface="Microsoft JhengHei"/>
              </a:rPr>
              <a:t>拉高耗時單點價格</a:t>
            </a:r>
            <a:r>
              <a:rPr sz="1400" b="0" dirty="0">
                <a:solidFill>
                  <a:srgbClr val="53666D"/>
                </a:solidFill>
                <a:latin typeface="Microsoft JhengHei"/>
              </a:rPr>
              <a:t>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6792" y="1342104"/>
            <a:ext cx="3483864" cy="3900000"/>
          </a:xfrm>
          <a:prstGeom prst="roundRect">
            <a:avLst>
              <a:gd name="adj" fmla="val 6000"/>
            </a:avLst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15480" y="1560792"/>
            <a:ext cx="603504" cy="603504"/>
          </a:xfrm>
          <a:prstGeom prst="ellipse">
            <a:avLst/>
          </a:prstGeom>
          <a:solidFill>
            <a:srgbClr val="C9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79161" y="1739807"/>
            <a:ext cx="304648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1" dirty="0" err="1">
                <a:solidFill>
                  <a:srgbClr val="E66B30"/>
                </a:solidFill>
                <a:latin typeface="Microsoft JhengHei"/>
              </a:rPr>
              <a:t>高毛利加購</a:t>
            </a:r>
            <a:endParaRPr b="1" dirty="0">
              <a:solidFill>
                <a:srgbClr val="E66B30"/>
              </a:solidFill>
              <a:latin typeface="Microsoft Jheng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15480" y="2530572"/>
            <a:ext cx="3046488" cy="78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dirty="0" err="1">
                <a:solidFill>
                  <a:srgbClr val="53666D"/>
                </a:solidFill>
                <a:latin typeface="Microsoft JhengHei"/>
              </a:rPr>
              <a:t>飲料、小菜、季節限定甜點等『不佔用額外用餐時間』的加購項目，提升人均消費，且不影響翻桌率與座位周轉</a:t>
            </a:r>
            <a:r>
              <a:rPr sz="1400" b="0" dirty="0">
                <a:solidFill>
                  <a:srgbClr val="53666D"/>
                </a:solidFill>
                <a:latin typeface="Microsoft JhengHei"/>
              </a:rPr>
              <a:t>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6656" y="1342104"/>
            <a:ext cx="3483864" cy="3900000"/>
          </a:xfrm>
          <a:prstGeom prst="roundRect">
            <a:avLst>
              <a:gd name="adj" fmla="val 6000"/>
            </a:avLst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245344" y="1560792"/>
            <a:ext cx="603504" cy="603504"/>
          </a:xfrm>
          <a:prstGeom prst="ellipse">
            <a:avLst/>
          </a:prstGeom>
          <a:solidFill>
            <a:srgbClr val="D8D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67536" y="1741406"/>
            <a:ext cx="304648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1" dirty="0" err="1">
                <a:solidFill>
                  <a:srgbClr val="E66B30"/>
                </a:solidFill>
                <a:latin typeface="Microsoft JhengHei"/>
              </a:rPr>
              <a:t>離峰定價與外帶</a:t>
            </a:r>
            <a:endParaRPr b="1" dirty="0">
              <a:solidFill>
                <a:srgbClr val="E66B30"/>
              </a:solidFill>
              <a:latin typeface="Microsoft Jheng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45344" y="2500654"/>
            <a:ext cx="3046488" cy="11280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dirty="0" err="1">
                <a:solidFill>
                  <a:srgbClr val="53666D"/>
                </a:solidFill>
                <a:latin typeface="Microsoft JhengHei"/>
              </a:rPr>
              <a:t>非尖峰時段推出早鳥／離峰折扣，平滑需求、拉高低峰使用率</a:t>
            </a:r>
            <a:r>
              <a:rPr sz="1400" b="0" dirty="0">
                <a:solidFill>
                  <a:srgbClr val="53666D"/>
                </a:solidFill>
                <a:latin typeface="Microsoft Jheng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dirty="0" err="1">
                <a:solidFill>
                  <a:srgbClr val="53666D"/>
                </a:solidFill>
                <a:latin typeface="Microsoft JhengHei"/>
              </a:rPr>
              <a:t>手工沙茶醬等特色食材外帶零售，賺取不佔用座位的額外營收</a:t>
            </a:r>
            <a:r>
              <a:rPr sz="1400" b="0" dirty="0">
                <a:solidFill>
                  <a:srgbClr val="53666D"/>
                </a:solidFill>
                <a:latin typeface="Microsoft JhengHei"/>
              </a:rPr>
              <a:t>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7531" y="5590352"/>
            <a:ext cx="11058144" cy="700000"/>
          </a:xfrm>
          <a:prstGeom prst="roundRect">
            <a:avLst>
              <a:gd name="adj" fmla="val 15000"/>
            </a:avLst>
          </a:prstGeom>
          <a:solidFill>
            <a:srgbClr val="112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67531" y="5590352"/>
            <a:ext cx="82296" cy="700000"/>
          </a:xfrm>
          <a:prstGeom prst="rect">
            <a:avLst/>
          </a:prstGeom>
          <a:solidFill>
            <a:srgbClr val="E66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8679" y="5834115"/>
            <a:ext cx="10558144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dirty="0" err="1">
                <a:solidFill>
                  <a:srgbClr val="FFFFFF"/>
                </a:solidFill>
                <a:latin typeface="Microsoft JhengHei"/>
              </a:rPr>
              <a:t>讓價格反映「佔用產能的時間成本</a:t>
            </a:r>
            <a:r>
              <a:rPr sz="1400" b="1" dirty="0">
                <a:solidFill>
                  <a:srgbClr val="FFFFFF"/>
                </a:solidFill>
                <a:latin typeface="Microsoft JhengHei"/>
              </a:rPr>
              <a:t>」，</a:t>
            </a:r>
            <a:r>
              <a:rPr sz="1400" b="1" dirty="0" err="1">
                <a:solidFill>
                  <a:srgbClr val="FFFFFF"/>
                </a:solidFill>
                <a:latin typeface="Microsoft JhengHei"/>
              </a:rPr>
              <a:t>把營收成長建立在效率之上，而非壓縮用餐體驗</a:t>
            </a:r>
            <a:r>
              <a:rPr sz="1400" b="1" dirty="0">
                <a:solidFill>
                  <a:srgbClr val="FFFFFF"/>
                </a:solidFill>
                <a:latin typeface="Microsoft JhengHei"/>
              </a:rPr>
              <a:t>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522124"/>
            <a:ext cx="6000000" cy="1231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84959C"/>
                </a:solidFill>
                <a:latin typeface="Microsoft JhengHei"/>
              </a:rPr>
              <a:t>西市汕頭館 OR 個案分析 ｜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E66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0704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12E43"/>
                </a:solidFill>
                <a:latin typeface="Microsoft JhengHei"/>
              </a:rPr>
              <a:t>把座位分配套入公式：Construction Heuristic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0000"/>
            <a:ext cx="11058144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53666D"/>
                </a:solidFill>
                <a:latin typeface="Microsoft JhengHei"/>
              </a:rPr>
              <a:t>決策：每組客人分配到哪張桌　｜　限制：每桌容量、每組須完整入座　｜　目標：最大化本輪帶入營收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0000"/>
            <a:ext cx="11058144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>
                <a:solidFill>
                  <a:srgbClr val="112E43"/>
                </a:solidFill>
                <a:latin typeface="Microsoft JhengHei"/>
              </a:rPr>
              <a:t>情境（尖峰候位候補，依到店順序）：</a:t>
            </a:r>
            <a:r>
              <a:rPr sz="1350" b="0">
                <a:solidFill>
                  <a:srgbClr val="4A4540"/>
                </a:solidFill>
                <a:latin typeface="Microsoft JhengHei"/>
              </a:rPr>
              <a:t> 可用桌型 2人桌×2、4人桌×2、10人桌×1（共22席）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80000"/>
            <a:ext cx="11058144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53666D"/>
                </a:solidFill>
                <a:latin typeface="Microsoft JhengHei"/>
              </a:rPr>
              <a:t>D＝2人($1000)　E＝2人($1000)　C＝3人($1500)　A＝10人($5000)　B＝4人($2000)　F＝4人($2000)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420000"/>
          <a:ext cx="11058000" cy="24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25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90000" marR="90000" marT="40000" marB="40000" anchor="ctr">
                    <a:solidFill>
                      <a:srgbClr val="112E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① 先到先得（Baseline）</a:t>
                      </a:r>
                    </a:p>
                  </a:txBody>
                  <a:tcPr marL="90000" marR="90000" marT="40000" marB="40000" anchor="ctr">
                    <a:solidFill>
                      <a:srgbClr val="112E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② 先塞大石頭（Construction）</a:t>
                      </a:r>
                    </a:p>
                  </a:txBody>
                  <a:tcPr marL="90000" marR="90000" marT="40000" marB="40000" anchor="ctr">
                    <a:solidFill>
                      <a:srgbClr val="112E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5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2E43"/>
                          </a:solidFill>
                          <a:latin typeface="Microsoft JhengHei"/>
                        </a:rPr>
                        <a:t>入座順序</a:t>
                      </a:r>
                    </a:p>
                  </a:txBody>
                  <a:tcPr marL="90000" marR="9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A4540"/>
                          </a:solidFill>
                          <a:latin typeface="Microsoft JhengHei"/>
                        </a:rPr>
                        <a:t>D→2人桌｜E→2人桌｜C→4人桌(浪費1位)｜A→10人桌｜B→4人桌｜F 候補</a:t>
                      </a:r>
                    </a:p>
                  </a:txBody>
                  <a:tcPr marL="90000" marR="9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A4540"/>
                          </a:solidFill>
                          <a:latin typeface="Microsoft JhengHei"/>
                        </a:rPr>
                        <a:t>A→10人桌｜B→4人桌｜F→4人桌｜D→2人桌｜E→2人桌｜C 候補（依人數大小排序）</a:t>
                      </a:r>
                    </a:p>
                  </a:txBody>
                  <a:tcPr marL="90000" marR="9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5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2E43"/>
                          </a:solidFill>
                          <a:latin typeface="Microsoft JhengHei"/>
                        </a:rPr>
                        <a:t>使用席數</a:t>
                      </a:r>
                    </a:p>
                  </a:txBody>
                  <a:tcPr marL="90000" marR="90000" marT="40000" marB="40000"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A4540"/>
                          </a:solidFill>
                          <a:latin typeface="Microsoft JhengHei"/>
                        </a:rPr>
                        <a:t>21 / 22 席（浪費1席）</a:t>
                      </a:r>
                    </a:p>
                  </a:txBody>
                  <a:tcPr marL="90000" marR="90000" marT="40000" marB="40000"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A4540"/>
                          </a:solidFill>
                          <a:latin typeface="Microsoft JhengHei"/>
                        </a:rPr>
                        <a:t>22 / 22 席（零浪費）</a:t>
                      </a:r>
                    </a:p>
                  </a:txBody>
                  <a:tcPr marL="90000" marR="90000" marT="40000" marB="40000" anchor="ctr">
                    <a:solidFill>
                      <a:srgbClr val="F7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5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2E43"/>
                          </a:solidFill>
                          <a:latin typeface="Microsoft JhengHei"/>
                        </a:rPr>
                        <a:t>zH 本輪營收</a:t>
                      </a:r>
                    </a:p>
                  </a:txBody>
                  <a:tcPr marL="90000" marR="9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A4540"/>
                          </a:solidFill>
                          <a:latin typeface="Microsoft JhengHei"/>
                        </a:rPr>
                        <a:t>$1000+$1000+$1500+$5000+$2000 = $10,500</a:t>
                      </a:r>
                    </a:p>
                  </a:txBody>
                  <a:tcPr marL="90000" marR="9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A4540"/>
                          </a:solidFill>
                          <a:latin typeface="Microsoft JhengHei"/>
                        </a:rPr>
                        <a:t>$5000+$2000+$2000+$1000+$1000 = $11,000</a:t>
                      </a:r>
                    </a:p>
                  </a:txBody>
                  <a:tcPr marL="90000" marR="9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7531" y="5150000"/>
            <a:ext cx="11058144" cy="760000"/>
          </a:xfrm>
          <a:prstGeom prst="roundRect">
            <a:avLst>
              <a:gd name="adj" fmla="val 15000"/>
            </a:avLst>
          </a:prstGeom>
          <a:solidFill>
            <a:srgbClr val="112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7531" y="5150000"/>
            <a:ext cx="82296" cy="760000"/>
          </a:xfrm>
          <a:prstGeom prst="rect">
            <a:avLst/>
          </a:prstGeom>
          <a:solidFill>
            <a:srgbClr val="E66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8679" y="5176485"/>
            <a:ext cx="10558144" cy="71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dirty="0" err="1">
                <a:solidFill>
                  <a:srgbClr val="FFFFFF"/>
                </a:solidFill>
                <a:latin typeface="Microsoft JhengHei"/>
              </a:rPr>
              <a:t>結論：Construction</a:t>
            </a:r>
            <a:r>
              <a:rPr sz="1400" b="1" dirty="0">
                <a:solidFill>
                  <a:srgbClr val="FFFFFF"/>
                </a:solidFill>
                <a:latin typeface="Microsoft JhengHe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Microsoft JhengHei"/>
              </a:rPr>
              <a:t>Heuristic「依人數大小排序、先塞大石頭」比先到先得多賺</a:t>
            </a:r>
            <a:r>
              <a:rPr sz="1400" b="1" dirty="0">
                <a:solidFill>
                  <a:srgbClr val="FFFFFF"/>
                </a:solidFill>
                <a:latin typeface="Microsoft JhengHei"/>
              </a:rPr>
              <a:t> $500，且零座位浪費。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522124"/>
            <a:ext cx="6000000" cy="1231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84959C"/>
                </a:solidFill>
                <a:latin typeface="Microsoft JhengHei"/>
              </a:rPr>
              <a:t>西市汕頭館 OR 個案分析 ｜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E66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0704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12E43"/>
                </a:solidFill>
                <a:latin typeface="Microsoft JhengHei"/>
              </a:rPr>
              <a:t>檢查有沒有更好的鄰居解：Improvement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00000"/>
            <a:ext cx="11058144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12E43"/>
                </a:solidFill>
                <a:latin typeface="Microsoft JhengHei"/>
              </a:rPr>
              <a:t>目前解（Construction 結果）：</a:t>
            </a:r>
            <a:r>
              <a:rPr sz="1400" b="0">
                <a:solidFill>
                  <a:srgbClr val="4A4540"/>
                </a:solidFill>
                <a:latin typeface="Microsoft JhengHei"/>
              </a:rPr>
              <a:t> {A→10人桌, B→4人桌, F→4人桌, D→2人桌, E→2人桌}，候補 C(3人)，zH = $11,000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50000"/>
            <a:ext cx="3483864" cy="3480000"/>
          </a:xfrm>
          <a:prstGeom prst="roundRect">
            <a:avLst>
              <a:gd name="adj" fmla="val 6000"/>
            </a:avLst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85616" y="1968688"/>
            <a:ext cx="603504" cy="603504"/>
          </a:xfrm>
          <a:prstGeom prst="ellipse">
            <a:avLst/>
          </a:prstGeom>
          <a:solidFill>
            <a:srgbClr val="C9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5616" y="2702192"/>
            <a:ext cx="3046488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dirty="0" err="1">
                <a:solidFill>
                  <a:srgbClr val="E66B30"/>
                </a:solidFill>
                <a:latin typeface="Microsoft JhengHei"/>
              </a:rPr>
              <a:t>嘗試</a:t>
            </a:r>
            <a:r>
              <a:rPr sz="1600" b="1" dirty="0">
                <a:solidFill>
                  <a:srgbClr val="E66B30"/>
                </a:solidFill>
                <a:latin typeface="Microsoft JhengHei"/>
              </a:rPr>
              <a:t>①：</a:t>
            </a:r>
            <a:r>
              <a:rPr sz="1600" b="1" dirty="0" err="1">
                <a:solidFill>
                  <a:srgbClr val="E66B30"/>
                </a:solidFill>
                <a:latin typeface="Microsoft JhengHei"/>
              </a:rPr>
              <a:t>交換</a:t>
            </a:r>
            <a:r>
              <a:rPr sz="1600" b="1" dirty="0">
                <a:solidFill>
                  <a:srgbClr val="E66B30"/>
                </a:solidFill>
                <a:latin typeface="Microsoft JhengHei"/>
              </a:rPr>
              <a:t> B ↔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5616" y="3262192"/>
            <a:ext cx="3046488" cy="1817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53666D"/>
                </a:solidFill>
                <a:latin typeface="Microsoft JhengHei"/>
              </a:rPr>
              <a:t>兩者皆為4人組，互換座位不影響總營收（zH 仍為 $11,000）。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53666D"/>
                </a:solidFill>
                <a:latin typeface="Microsoft JhengHei"/>
              </a:rPr>
              <a:t>→ 這個鄰居解「無差異」，不算改善。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6792" y="1750000"/>
            <a:ext cx="3483864" cy="3480000"/>
          </a:xfrm>
          <a:prstGeom prst="roundRect">
            <a:avLst>
              <a:gd name="adj" fmla="val 6000"/>
            </a:avLst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15480" y="1968688"/>
            <a:ext cx="603504" cy="603504"/>
          </a:xfrm>
          <a:prstGeom prst="ellipse">
            <a:avLst/>
          </a:prstGeom>
          <a:solidFill>
            <a:srgbClr val="F2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15480" y="2702192"/>
            <a:ext cx="3046488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dirty="0" err="1">
                <a:solidFill>
                  <a:srgbClr val="E66B30"/>
                </a:solidFill>
                <a:latin typeface="Microsoft JhengHei"/>
              </a:rPr>
              <a:t>嘗試</a:t>
            </a:r>
            <a:r>
              <a:rPr sz="1600" b="1" dirty="0">
                <a:solidFill>
                  <a:srgbClr val="E66B30"/>
                </a:solidFill>
                <a:latin typeface="Microsoft JhengHei"/>
              </a:rPr>
              <a:t>②：</a:t>
            </a:r>
            <a:r>
              <a:rPr sz="1600" b="1" dirty="0" err="1">
                <a:solidFill>
                  <a:srgbClr val="E66B30"/>
                </a:solidFill>
                <a:latin typeface="Microsoft JhengHei"/>
              </a:rPr>
              <a:t>讓候補</a:t>
            </a:r>
            <a:r>
              <a:rPr sz="1600" b="1" dirty="0">
                <a:solidFill>
                  <a:srgbClr val="E66B30"/>
                </a:solidFill>
                <a:latin typeface="Microsoft JhengHei"/>
              </a:rPr>
              <a:t> C </a:t>
            </a:r>
            <a:r>
              <a:rPr sz="1600" b="1" dirty="0" err="1">
                <a:solidFill>
                  <a:srgbClr val="E66B30"/>
                </a:solidFill>
                <a:latin typeface="Microsoft JhengHei"/>
              </a:rPr>
              <a:t>入座</a:t>
            </a:r>
            <a:endParaRPr sz="1600" b="1" dirty="0">
              <a:solidFill>
                <a:srgbClr val="E66B30"/>
              </a:solidFill>
              <a:latin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15480" y="3262192"/>
            <a:ext cx="3046488" cy="1817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53666D"/>
                </a:solidFill>
                <a:latin typeface="Microsoft JhengHei"/>
              </a:rPr>
              <a:t>C 為 3 人，但目前已無空位（22/22席已滿），且沒有任何單一空位≥3人。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53666D"/>
                </a:solidFill>
                <a:latin typeface="Microsoft JhengHei"/>
              </a:rPr>
              <a:t>→ C 無法被安置，這個鄰居解「不可行」。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6656" y="1750000"/>
            <a:ext cx="3483864" cy="3480000"/>
          </a:xfrm>
          <a:prstGeom prst="roundRect">
            <a:avLst>
              <a:gd name="adj" fmla="val 6000"/>
            </a:avLst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5344" y="1968688"/>
            <a:ext cx="603504" cy="603504"/>
          </a:xfrm>
          <a:prstGeom prst="ellipse">
            <a:avLst/>
          </a:prstGeom>
          <a:solidFill>
            <a:srgbClr val="D8D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5344" y="2702192"/>
            <a:ext cx="3046488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dirty="0" err="1">
                <a:solidFill>
                  <a:srgbClr val="E66B30"/>
                </a:solidFill>
                <a:latin typeface="Microsoft JhengHei"/>
              </a:rPr>
              <a:t>檢查結論</a:t>
            </a:r>
            <a:endParaRPr sz="1600" b="1" dirty="0">
              <a:solidFill>
                <a:srgbClr val="E66B30"/>
              </a:solidFill>
              <a:latin typeface="Microsoft JhengHe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45344" y="3262192"/>
            <a:ext cx="3046488" cy="1817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53666D"/>
                </a:solidFill>
                <a:latin typeface="Microsoft JhengHei"/>
              </a:rPr>
              <a:t>目前解已無可行且更優的鄰居解可交換。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53666D"/>
                </a:solidFill>
                <a:latin typeface="Microsoft JhengHei"/>
              </a:rPr>
              <a:t>Construction 找到的 $11,000，就是本例中可行的最佳解。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7531" y="5480000"/>
            <a:ext cx="11058144" cy="760000"/>
          </a:xfrm>
          <a:prstGeom prst="roundRect">
            <a:avLst>
              <a:gd name="adj" fmla="val 15000"/>
            </a:avLst>
          </a:prstGeom>
          <a:solidFill>
            <a:srgbClr val="112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7531" y="5480000"/>
            <a:ext cx="82296" cy="760000"/>
          </a:xfrm>
          <a:prstGeom prst="rect">
            <a:avLst/>
          </a:prstGeom>
          <a:solidFill>
            <a:srgbClr val="E66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8679" y="5753763"/>
            <a:ext cx="10558144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TW" altLang="en-US" sz="1400" b="1" dirty="0">
                <a:solidFill>
                  <a:srgbClr val="FFFFFF"/>
                </a:solidFill>
                <a:latin typeface="Microsoft JhengHei"/>
              </a:rPr>
              <a:t>結論</a:t>
            </a:r>
            <a:r>
              <a:rPr sz="1400" b="1" dirty="0">
                <a:solidFill>
                  <a:srgbClr val="FFFFFF"/>
                </a:solidFill>
                <a:latin typeface="Microsoft JhengHei"/>
              </a:rPr>
              <a:t>：Improvement </a:t>
            </a:r>
            <a:r>
              <a:rPr sz="1400" b="1" dirty="0" err="1">
                <a:solidFill>
                  <a:srgbClr val="FFFFFF"/>
                </a:solidFill>
                <a:latin typeface="Microsoft JhengHei"/>
              </a:rPr>
              <a:t>不保證一定能找到更好的解，但「檢查鄰居」的過程能驗證目前解的穩健性</a:t>
            </a:r>
            <a:r>
              <a:rPr sz="1400" b="1" dirty="0">
                <a:solidFill>
                  <a:srgbClr val="FFFFFF"/>
                </a:solidFill>
                <a:latin typeface="Microsoft JhengHei"/>
              </a:rPr>
              <a:t>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22124"/>
            <a:ext cx="6000000" cy="1231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84959C"/>
                </a:solidFill>
                <a:latin typeface="Microsoft JhengHei"/>
              </a:rPr>
              <a:t>西市汕頭館 OR 個案分析 ｜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E66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07040" cy="384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 dirty="0">
                <a:solidFill>
                  <a:srgbClr val="112E43"/>
                </a:solidFill>
                <a:latin typeface="Microsoft JhengHei"/>
              </a:rPr>
              <a:t>用 Bounds </a:t>
            </a:r>
            <a:r>
              <a:rPr sz="2500" b="1" dirty="0" err="1">
                <a:solidFill>
                  <a:srgbClr val="112E43"/>
                </a:solidFill>
                <a:latin typeface="Microsoft JhengHei"/>
              </a:rPr>
              <a:t>驗證（Max</a:t>
            </a:r>
            <a:r>
              <a:rPr sz="2500" b="1">
                <a:solidFill>
                  <a:srgbClr val="112E43"/>
                </a:solidFill>
                <a:latin typeface="Microsoft JhengHei"/>
              </a:rPr>
              <a:t> ）</a:t>
            </a:r>
            <a:endParaRPr sz="2500" b="1" dirty="0">
              <a:solidFill>
                <a:srgbClr val="112E43"/>
              </a:solidFill>
              <a:latin typeface="Microsoft JhengHei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50000"/>
          <a:ext cx="11058000" cy="17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3333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90000" marR="90000" marT="40000" marB="40000" anchor="ctr">
                    <a:solidFill>
                      <a:srgbClr val="112E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定義</a:t>
                      </a:r>
                    </a:p>
                  </a:txBody>
                  <a:tcPr marL="90000" marR="90000" marT="40000" marB="40000" anchor="ctr">
                    <a:solidFill>
                      <a:srgbClr val="112E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本例代入</a:t>
                      </a:r>
                    </a:p>
                  </a:txBody>
                  <a:tcPr marL="90000" marR="90000" marT="40000" marB="40000" anchor="ctr">
                    <a:solidFill>
                      <a:srgbClr val="112E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333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12E43"/>
                          </a:solidFill>
                          <a:latin typeface="Microsoft JhengHei"/>
                        </a:rPr>
                        <a:t>上界 U</a:t>
                      </a:r>
                    </a:p>
                  </a:txBody>
                  <a:tcPr marL="90000" marR="9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540"/>
                          </a:solidFill>
                          <a:latin typeface="Microsoft JhengHei"/>
                        </a:rPr>
                        <a:t>放寬「整組須同桌」限制，只看總容量的理論上限</a:t>
                      </a:r>
                    </a:p>
                  </a:txBody>
                  <a:tcPr marL="90000" marR="9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66B30"/>
                          </a:solidFill>
                          <a:latin typeface="Microsoft JhengHei"/>
                        </a:rPr>
                        <a:t>22 席 × 平均客單價 $500 = $11,000</a:t>
                      </a:r>
                    </a:p>
                  </a:txBody>
                  <a:tcPr marL="90000" marR="9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3334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12E43"/>
                          </a:solidFill>
                          <a:latin typeface="Microsoft JhengHei"/>
                        </a:rPr>
                        <a:t>下界 L</a:t>
                      </a:r>
                    </a:p>
                  </a:txBody>
                  <a:tcPr marL="90000" marR="90000" marT="40000" marB="40000"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540"/>
                          </a:solidFill>
                          <a:latin typeface="Microsoft JhengHei"/>
                        </a:rPr>
                        <a:t>用最差可行解（Baseline）作為保證下限</a:t>
                      </a:r>
                    </a:p>
                  </a:txBody>
                  <a:tcPr marL="90000" marR="90000" marT="40000" marB="40000"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66B30"/>
                          </a:solidFill>
                          <a:latin typeface="Microsoft JhengHei"/>
                        </a:rPr>
                        <a:t>先到先得解 = $10,500</a:t>
                      </a:r>
                    </a:p>
                  </a:txBody>
                  <a:tcPr marL="90000" marR="90000" marT="40000" marB="40000" anchor="ctr">
                    <a:solidFill>
                      <a:srgbClr val="F7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200000"/>
            <a:ext cx="11058144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12E43"/>
                </a:solidFill>
                <a:latin typeface="Microsoft JhengHei"/>
              </a:rPr>
              <a:t>誤差評估（Error Evaluation）：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620000"/>
            <a:ext cx="11058144" cy="9887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50" b="0" dirty="0">
                <a:solidFill>
                  <a:srgbClr val="4A4540"/>
                </a:solidFill>
                <a:latin typeface="Microsoft JhengHei"/>
              </a:rPr>
              <a:t>U − </a:t>
            </a:r>
            <a:r>
              <a:rPr sz="1350" b="0" dirty="0" err="1">
                <a:solidFill>
                  <a:srgbClr val="4A4540"/>
                </a:solidFill>
                <a:latin typeface="Microsoft JhengHei"/>
              </a:rPr>
              <a:t>zH</a:t>
            </a:r>
            <a:r>
              <a:rPr sz="1350" b="0" dirty="0">
                <a:solidFill>
                  <a:srgbClr val="4A4540"/>
                </a:solidFill>
                <a:latin typeface="Microsoft JhengHei"/>
              </a:rPr>
              <a:t> = $11,000 − $11,000 = $0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50" b="0" dirty="0" err="1">
                <a:solidFill>
                  <a:srgbClr val="4A4540"/>
                </a:solidFill>
                <a:latin typeface="Microsoft JhengHei"/>
              </a:rPr>
              <a:t>因為</a:t>
            </a:r>
            <a:r>
              <a:rPr sz="1350" b="0" dirty="0">
                <a:solidFill>
                  <a:srgbClr val="4A4540"/>
                </a:solidFill>
                <a:latin typeface="Microsoft JhengHei"/>
              </a:rPr>
              <a:t> z* ≤ U 且 z* ≥ </a:t>
            </a:r>
            <a:r>
              <a:rPr sz="1350" b="0" dirty="0" err="1">
                <a:solidFill>
                  <a:srgbClr val="4A4540"/>
                </a:solidFill>
                <a:latin typeface="Microsoft JhengHei"/>
              </a:rPr>
              <a:t>zH（zH</a:t>
            </a:r>
            <a:r>
              <a:rPr sz="1350" b="0" dirty="0">
                <a:solidFill>
                  <a:srgbClr val="4A4540"/>
                </a:solidFill>
                <a:latin typeface="Microsoft JhengHei"/>
              </a:rPr>
              <a:t> </a:t>
            </a:r>
            <a:r>
              <a:rPr sz="1350" b="0" dirty="0" err="1">
                <a:solidFill>
                  <a:srgbClr val="4A4540"/>
                </a:solidFill>
                <a:latin typeface="Microsoft JhengHei"/>
              </a:rPr>
              <a:t>為可行解，必</a:t>
            </a:r>
            <a:r>
              <a:rPr sz="1350" b="0" dirty="0">
                <a:solidFill>
                  <a:srgbClr val="4A4540"/>
                </a:solidFill>
                <a:latin typeface="Microsoft JhengHei"/>
              </a:rPr>
              <a:t> ≤ z*），z* = </a:t>
            </a:r>
            <a:r>
              <a:rPr sz="1350" b="0" dirty="0" err="1">
                <a:solidFill>
                  <a:srgbClr val="4A4540"/>
                </a:solidFill>
                <a:latin typeface="Microsoft JhengHei"/>
              </a:rPr>
              <a:t>zH</a:t>
            </a:r>
            <a:r>
              <a:rPr sz="1350" b="0" dirty="0">
                <a:solidFill>
                  <a:srgbClr val="4A4540"/>
                </a:solidFill>
                <a:latin typeface="Microsoft JhengHei"/>
              </a:rPr>
              <a:t> = $11,000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50" b="0" dirty="0">
                <a:solidFill>
                  <a:srgbClr val="4A4540"/>
                </a:solidFill>
                <a:latin typeface="Microsoft JhengHei"/>
              </a:rPr>
              <a:t>Absolute Error = z* − </a:t>
            </a:r>
            <a:r>
              <a:rPr sz="1350" b="0" dirty="0" err="1">
                <a:solidFill>
                  <a:srgbClr val="4A4540"/>
                </a:solidFill>
                <a:latin typeface="Microsoft JhengHei"/>
              </a:rPr>
              <a:t>zH</a:t>
            </a:r>
            <a:r>
              <a:rPr sz="1350" b="0" dirty="0">
                <a:solidFill>
                  <a:srgbClr val="4A4540"/>
                </a:solidFill>
                <a:latin typeface="Microsoft JhengHei"/>
              </a:rPr>
              <a:t> = 0　｜　Relative Error = (z* − </a:t>
            </a:r>
            <a:r>
              <a:rPr sz="1350" b="0" dirty="0" err="1">
                <a:solidFill>
                  <a:srgbClr val="4A4540"/>
                </a:solidFill>
                <a:latin typeface="Microsoft JhengHei"/>
              </a:rPr>
              <a:t>zH</a:t>
            </a:r>
            <a:r>
              <a:rPr sz="1350" b="0" dirty="0">
                <a:solidFill>
                  <a:srgbClr val="4A4540"/>
                </a:solidFill>
                <a:latin typeface="Microsoft JhengHei"/>
              </a:rPr>
              <a:t>) / z* = 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325" y="5463328"/>
            <a:ext cx="11058144" cy="704634"/>
          </a:xfrm>
          <a:prstGeom prst="roundRect">
            <a:avLst>
              <a:gd name="adj" fmla="val 15000"/>
            </a:avLst>
          </a:prstGeom>
          <a:solidFill>
            <a:srgbClr val="112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7531" y="5480000"/>
            <a:ext cx="82296" cy="704634"/>
          </a:xfrm>
          <a:prstGeom prst="rect">
            <a:avLst/>
          </a:prstGeom>
          <a:solidFill>
            <a:srgbClr val="E66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9152" y="5720379"/>
            <a:ext cx="10558144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dirty="0" err="1">
                <a:solidFill>
                  <a:srgbClr val="FFFFFF"/>
                </a:solidFill>
                <a:latin typeface="Microsoft JhengHei"/>
              </a:rPr>
              <a:t>結論：當</a:t>
            </a:r>
            <a:r>
              <a:rPr sz="1400" b="1" dirty="0">
                <a:solidFill>
                  <a:srgbClr val="FFFFFF"/>
                </a:solidFill>
                <a:latin typeface="Microsoft JhengHei"/>
              </a:rPr>
              <a:t> Upper Bound </a:t>
            </a:r>
            <a:r>
              <a:rPr sz="1400" b="1" dirty="0" err="1">
                <a:solidFill>
                  <a:srgbClr val="FFFFFF"/>
                </a:solidFill>
                <a:latin typeface="Microsoft JhengHei"/>
              </a:rPr>
              <a:t>剛好等於我們的</a:t>
            </a:r>
            <a:r>
              <a:rPr sz="1400" b="1" dirty="0">
                <a:solidFill>
                  <a:srgbClr val="FFFFFF"/>
                </a:solidFill>
                <a:latin typeface="Microsoft JhengHei"/>
              </a:rPr>
              <a:t> heuristic </a:t>
            </a:r>
            <a:r>
              <a:rPr sz="1400" b="1" dirty="0" err="1">
                <a:solidFill>
                  <a:srgbClr val="FFFFFF"/>
                </a:solidFill>
                <a:latin typeface="Microsoft JhengHei"/>
              </a:rPr>
              <a:t>解時，可以直接證明這就是最佳解</a:t>
            </a:r>
            <a:r>
              <a:rPr sz="1400" b="1" dirty="0">
                <a:solidFill>
                  <a:srgbClr val="FFFFFF"/>
                </a:solidFill>
                <a:latin typeface="Microsoft JhengHei"/>
              </a:rPr>
              <a:t> z*，</a:t>
            </a:r>
            <a:r>
              <a:rPr sz="1400" b="1" dirty="0" err="1">
                <a:solidFill>
                  <a:srgbClr val="FFFFFF"/>
                </a:solidFill>
                <a:latin typeface="Microsoft JhengHei"/>
              </a:rPr>
              <a:t>不需要再繼續搜尋</a:t>
            </a:r>
            <a:r>
              <a:rPr sz="1400" b="1" dirty="0">
                <a:solidFill>
                  <a:srgbClr val="FFFFFF"/>
                </a:solidFill>
                <a:latin typeface="Microsoft JhengHei"/>
              </a:rPr>
              <a:t>。</a:t>
            </a:r>
            <a:r>
              <a:rPr lang="zh-TW" altLang="en-US" sz="1400" b="1" dirty="0">
                <a:solidFill>
                  <a:srgbClr val="FFFFFF"/>
                </a:solidFill>
                <a:latin typeface="Microsoft JhengHei"/>
              </a:rPr>
              <a:t> </a:t>
            </a:r>
            <a:endParaRPr sz="1400" b="1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6928" y="6522124"/>
            <a:ext cx="6000000" cy="1231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84959C"/>
                </a:solidFill>
                <a:latin typeface="Microsoft JhengHei"/>
              </a:rPr>
              <a:t>西市汕頭館 OR 個案分析 ｜ 14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1285449F-BF15-39D8-77E2-11627F58BC7E}"/>
              </a:ext>
            </a:extLst>
          </p:cNvPr>
          <p:cNvSpPr txBox="1"/>
          <p:nvPr/>
        </p:nvSpPr>
        <p:spPr>
          <a:xfrm>
            <a:off x="567531" y="4865511"/>
            <a:ext cx="1055814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TW" altLang="en-US" b="1" dirty="0">
                <a:highlight>
                  <a:srgbClr val="FFFF00"/>
                </a:highlight>
                <a:latin typeface="Microsoft JhengHei"/>
              </a:rPr>
              <a:t>此結論更驗證了</a:t>
            </a:r>
            <a:r>
              <a:rPr lang="en-US" altLang="zh-TW" b="1" dirty="0">
                <a:highlight>
                  <a:srgbClr val="FFFF00"/>
                </a:highlight>
                <a:latin typeface="Microsoft JhengHei"/>
              </a:rPr>
              <a:t>”</a:t>
            </a:r>
            <a:r>
              <a:rPr lang="zh-TW" altLang="en-US" b="1" dirty="0">
                <a:highlight>
                  <a:srgbClr val="FFFF00"/>
                </a:highlight>
                <a:latin typeface="Microsoft JhengHei"/>
              </a:rPr>
              <a:t>依照人數抽號碼牌</a:t>
            </a:r>
            <a:r>
              <a:rPr lang="en-US" altLang="zh-TW" b="1" dirty="0">
                <a:highlight>
                  <a:srgbClr val="FFFF00"/>
                </a:highlight>
                <a:latin typeface="Microsoft JhengHei"/>
              </a:rPr>
              <a:t>”</a:t>
            </a:r>
            <a:r>
              <a:rPr lang="zh-TW" altLang="en-US" b="1" dirty="0">
                <a:highlight>
                  <a:srgbClr val="FFFF00"/>
                </a:highlight>
                <a:latin typeface="Microsoft JhengHei"/>
              </a:rPr>
              <a:t>的重要性</a:t>
            </a:r>
            <a:r>
              <a:rPr lang="en-US" altLang="zh-TW" b="1" dirty="0">
                <a:highlight>
                  <a:srgbClr val="FFFF00"/>
                </a:highlight>
                <a:latin typeface="Microsoft JhengHei"/>
              </a:rPr>
              <a:t>!</a:t>
            </a:r>
            <a:endParaRPr b="1" dirty="0">
              <a:highlight>
                <a:srgbClr val="FFFF00"/>
              </a:highlight>
              <a:latin typeface="Microsoft Jheng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E66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07040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 dirty="0" err="1">
                <a:solidFill>
                  <a:srgbClr val="112E43"/>
                </a:solidFill>
                <a:latin typeface="Microsoft JhengHei"/>
              </a:rPr>
              <a:t>拆解式啟發法：對照</a:t>
            </a:r>
            <a:r>
              <a:rPr sz="2700" b="1" dirty="0" err="1">
                <a:solidFill>
                  <a:srgbClr val="FF0000"/>
                </a:solidFill>
                <a:latin typeface="Microsoft JhengHei"/>
              </a:rPr>
              <a:t>鼎泰豐</a:t>
            </a:r>
            <a:r>
              <a:rPr sz="2700" b="1" dirty="0" err="1">
                <a:solidFill>
                  <a:srgbClr val="112E43"/>
                </a:solidFill>
                <a:latin typeface="Microsoft JhengHei"/>
              </a:rPr>
              <a:t>怎麼做</a:t>
            </a:r>
            <a:endParaRPr sz="2700" b="1" dirty="0">
              <a:solidFill>
                <a:srgbClr val="112E43"/>
              </a:solidFill>
              <a:latin typeface="Microsoft JhengHei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329278"/>
              </p:ext>
            </p:extLst>
          </p:nvPr>
        </p:nvGraphicFramePr>
        <p:xfrm>
          <a:off x="566928" y="1342104"/>
          <a:ext cx="11058000" cy="3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7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3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79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3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0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拆解出的子問題</a:t>
                      </a:r>
                    </a:p>
                  </a:txBody>
                  <a:tcPr marL="90000" marR="90000" marT="40000" marB="40000" anchor="ctr">
                    <a:solidFill>
                      <a:srgbClr val="112E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汕頭館現況</a:t>
                      </a:r>
                    </a:p>
                  </a:txBody>
                  <a:tcPr marL="90000" marR="90000" marT="40000" marB="40000" anchor="ctr">
                    <a:solidFill>
                      <a:srgbClr val="112E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鼎泰豐做法</a:t>
                      </a:r>
                    </a:p>
                  </a:txBody>
                  <a:tcPr marL="90000" marR="90000" marT="40000" marB="40000" anchor="ctr">
                    <a:solidFill>
                      <a:srgbClr val="112E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汕頭館可借鏡</a:t>
                      </a:r>
                    </a:p>
                  </a:txBody>
                  <a:tcPr marL="90000" marR="90000" marT="40000" marB="40000" anchor="ctr">
                    <a:solidFill>
                      <a:srgbClr val="112E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2E43"/>
                          </a:solidFill>
                          <a:latin typeface="Microsoft JhengHei"/>
                        </a:rPr>
                        <a:t>候位</a:t>
                      </a:r>
                    </a:p>
                  </a:txBody>
                  <a:tcPr marL="90000" marR="90000" marT="40000" marB="40000" anchor="ctr">
                    <a:solidFill>
                      <a:srgbClr val="EFEC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A4540"/>
                          </a:solidFill>
                          <a:latin typeface="Microsoft JhengHei"/>
                        </a:rPr>
                        <a:t>號碼牌，依到店順序叫號</a:t>
                      </a:r>
                    </a:p>
                  </a:txBody>
                  <a:tcPr marL="90000" marR="9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A4540"/>
                          </a:solidFill>
                          <a:latin typeface="Microsoft JhengHei"/>
                        </a:rPr>
                        <a:t>依人數分流：1-2人／3-4人／6人以上分開排隊、獨立叫號</a:t>
                      </a:r>
                    </a:p>
                  </a:txBody>
                  <a:tcPr marL="90000" marR="9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A4540"/>
                          </a:solidFill>
                          <a:latin typeface="Microsoft JhengHei"/>
                        </a:rPr>
                        <a:t>避免小團體卡在大團體後面（head-of-line blocking）</a:t>
                      </a:r>
                    </a:p>
                  </a:txBody>
                  <a:tcPr marL="90000" marR="9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2E43"/>
                          </a:solidFill>
                          <a:latin typeface="Microsoft JhengHei"/>
                        </a:rPr>
                        <a:t>點餐</a:t>
                      </a:r>
                    </a:p>
                  </a:txBody>
                  <a:tcPr marL="90000" marR="90000" marT="40000" marB="40000" anchor="ctr">
                    <a:solidFill>
                      <a:srgbClr val="EFEC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dirty="0" err="1">
                          <a:solidFill>
                            <a:srgbClr val="4A4540"/>
                          </a:solidFill>
                          <a:latin typeface="Microsoft JhengHei"/>
                        </a:rPr>
                        <a:t>候位時</a:t>
                      </a:r>
                      <a:r>
                        <a:rPr lang="zh-TW" altLang="en-US" sz="1150" b="0" dirty="0">
                          <a:solidFill>
                            <a:srgbClr val="4A4540"/>
                          </a:solidFill>
                          <a:latin typeface="Microsoft JhengHei"/>
                        </a:rPr>
                        <a:t>無法</a:t>
                      </a:r>
                      <a:r>
                        <a:rPr sz="1150" b="0" dirty="0" err="1">
                          <a:solidFill>
                            <a:srgbClr val="4A4540"/>
                          </a:solidFill>
                          <a:latin typeface="Microsoft JhengHei"/>
                        </a:rPr>
                        <a:t>手機App預先點餐</a:t>
                      </a:r>
                      <a:endParaRPr sz="1150" b="0" dirty="0">
                        <a:solidFill>
                          <a:srgbClr val="4A4540"/>
                        </a:solidFill>
                        <a:latin typeface="Microsoft JhengHei"/>
                      </a:endParaRPr>
                    </a:p>
                  </a:txBody>
                  <a:tcPr marL="90000" marR="90000" marT="40000" marB="40000"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A4540"/>
                          </a:solidFill>
                          <a:latin typeface="Microsoft JhengHei"/>
                        </a:rPr>
                        <a:t>數位候位＋點餐＋POS整合系統，到店前即可完成點餐</a:t>
                      </a:r>
                    </a:p>
                  </a:txBody>
                  <a:tcPr marL="90000" marR="90000" marT="40000" marB="40000"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A4540"/>
                          </a:solidFill>
                          <a:latin typeface="Microsoft JhengHei"/>
                        </a:rPr>
                        <a:t>持續優化App流程，讓候位到點餐無縫接軌</a:t>
                      </a:r>
                    </a:p>
                  </a:txBody>
                  <a:tcPr marL="90000" marR="90000" marT="40000" marB="40000" anchor="ctr">
                    <a:solidFill>
                      <a:srgbClr val="F7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2E43"/>
                          </a:solidFill>
                          <a:latin typeface="Microsoft JhengHei"/>
                        </a:rPr>
                        <a:t>出餐</a:t>
                      </a:r>
                    </a:p>
                  </a:txBody>
                  <a:tcPr marL="90000" marR="90000" marT="40000" marB="40000" anchor="ctr">
                    <a:solidFill>
                      <a:srgbClr val="EFEC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A4540"/>
                          </a:solidFill>
                          <a:latin typeface="Microsoft JhengHei"/>
                        </a:rPr>
                        <a:t>人工出餐，速度依廚師調度</a:t>
                      </a:r>
                    </a:p>
                  </a:txBody>
                  <a:tcPr marL="90000" marR="9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A4540"/>
                          </a:solidFill>
                          <a:latin typeface="Microsoft JhengHei"/>
                        </a:rPr>
                        <a:t>4站式標準化生產線＋隨機抽重QC（18摺、21g±0.2g）</a:t>
                      </a:r>
                    </a:p>
                  </a:txBody>
                  <a:tcPr marL="90000" marR="9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A4540"/>
                          </a:solidFill>
                          <a:latin typeface="Microsoft JhengHei"/>
                        </a:rPr>
                        <a:t>關鍵鍋底／沾料半標準化備料，降低出餐時間變異</a:t>
                      </a:r>
                    </a:p>
                  </a:txBody>
                  <a:tcPr marL="90000" marR="9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2E43"/>
                          </a:solidFill>
                          <a:latin typeface="Microsoft JhengHei"/>
                        </a:rPr>
                        <a:t>收桌</a:t>
                      </a:r>
                    </a:p>
                  </a:txBody>
                  <a:tcPr marL="90000" marR="90000" marT="40000" marB="40000" anchor="ctr">
                    <a:solidFill>
                      <a:srgbClr val="EFEC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A4540"/>
                          </a:solidFill>
                          <a:latin typeface="Microsoft JhengHei"/>
                        </a:rPr>
                        <a:t>人工目視空桌狀況再安排入座</a:t>
                      </a:r>
                    </a:p>
                  </a:txBody>
                  <a:tcPr marL="90000" marR="90000" marT="40000" marB="40000"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A4540"/>
                          </a:solidFill>
                          <a:latin typeface="Microsoft JhengHei"/>
                        </a:rPr>
                        <a:t>即時候位名單＋雙向簡訊通知，精準預估等待時間</a:t>
                      </a:r>
                    </a:p>
                  </a:txBody>
                  <a:tcPr marL="90000" marR="90000" marT="40000" marB="40000"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dirty="0" err="1">
                          <a:solidFill>
                            <a:srgbClr val="4A4540"/>
                          </a:solidFill>
                          <a:latin typeface="Microsoft JhengHei"/>
                        </a:rPr>
                        <a:t>精準顯示等待時間，降低顧客心理等待成本</a:t>
                      </a:r>
                      <a:endParaRPr sz="1150" b="0" dirty="0">
                        <a:solidFill>
                          <a:srgbClr val="4A4540"/>
                        </a:solidFill>
                        <a:latin typeface="Microsoft JhengHei"/>
                      </a:endParaRPr>
                    </a:p>
                  </a:txBody>
                  <a:tcPr marL="90000" marR="90000" marT="40000" marB="40000" anchor="ctr">
                    <a:solidFill>
                      <a:srgbClr val="F7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67531" y="5250000"/>
            <a:ext cx="11058144" cy="760000"/>
          </a:xfrm>
          <a:prstGeom prst="roundRect">
            <a:avLst>
              <a:gd name="adj" fmla="val 15000"/>
            </a:avLst>
          </a:prstGeom>
          <a:solidFill>
            <a:srgbClr val="112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7531" y="5250000"/>
            <a:ext cx="82296" cy="760000"/>
          </a:xfrm>
          <a:prstGeom prst="rect">
            <a:avLst/>
          </a:prstGeom>
          <a:solidFill>
            <a:srgbClr val="E66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8679" y="5527610"/>
            <a:ext cx="10558144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dirty="0" err="1">
                <a:solidFill>
                  <a:srgbClr val="FFFFFF"/>
                </a:solidFill>
                <a:latin typeface="Microsoft JhengHei"/>
              </a:rPr>
              <a:t>鼎泰豐年服務約</a:t>
            </a:r>
            <a:r>
              <a:rPr sz="1350" b="1" dirty="0">
                <a:solidFill>
                  <a:srgbClr val="FFFFFF"/>
                </a:solidFill>
                <a:latin typeface="Microsoft JhengHei"/>
              </a:rPr>
              <a:t> 300 </a:t>
            </a:r>
            <a:r>
              <a:rPr sz="1350" b="1" dirty="0" err="1">
                <a:solidFill>
                  <a:srgbClr val="FFFFFF"/>
                </a:solidFill>
                <a:latin typeface="Microsoft JhengHei"/>
              </a:rPr>
              <a:t>萬批客人，靠的是流程標準化與資訊系統，而非單純增加人力</a:t>
            </a:r>
            <a:r>
              <a:rPr sz="1350" b="1" dirty="0">
                <a:solidFill>
                  <a:srgbClr val="FFFFFF"/>
                </a:solidFill>
                <a:latin typeface="Microsoft JhengHei"/>
              </a:rPr>
              <a:t>——</a:t>
            </a:r>
            <a:r>
              <a:rPr sz="1350" b="1" dirty="0" err="1">
                <a:solidFill>
                  <a:srgbClr val="FFFFFF"/>
                </a:solidFill>
                <a:latin typeface="Microsoft JhengHei"/>
              </a:rPr>
              <a:t>這正是拆解式啟發法的精神</a:t>
            </a:r>
            <a:r>
              <a:rPr sz="1350" b="1" dirty="0">
                <a:solidFill>
                  <a:srgbClr val="FFFFFF"/>
                </a:solidFill>
                <a:latin typeface="Microsoft JhengHei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22124"/>
            <a:ext cx="6000000" cy="1231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84959C"/>
                </a:solidFill>
                <a:latin typeface="Microsoft JhengHei"/>
              </a:rPr>
              <a:t>西市汕頭館 OR 個案分析 ｜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6B30"/>
          </a:solidFill>
          <a:ln w="12700">
            <a:solidFill>
              <a:srgbClr val="E66B3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06070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2E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不靠催客人：把等待變成可管理的流程</a:t>
            </a:r>
            <a:endParaRPr lang="en-US" sz="2700" dirty="0"/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DF0A5AF5-BDB8-E956-D0C3-22AE7ED5F19A}"/>
              </a:ext>
            </a:extLst>
          </p:cNvPr>
          <p:cNvSpPr/>
          <p:nvPr/>
        </p:nvSpPr>
        <p:spPr>
          <a:xfrm>
            <a:off x="456532" y="1405709"/>
            <a:ext cx="3483864" cy="5005365"/>
          </a:xfrm>
          <a:prstGeom prst="roundRect">
            <a:avLst>
              <a:gd name="adj" fmla="val 2100"/>
            </a:avLst>
          </a:prstGeom>
          <a:solidFill>
            <a:srgbClr val="F7F5F2"/>
          </a:solidFill>
          <a:ln w="15875">
            <a:solidFill>
              <a:srgbClr val="C9C2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4" name="Shape 5">
            <a:extLst>
              <a:ext uri="{FF2B5EF4-FFF2-40B4-BE49-F238E27FC236}">
                <a16:creationId xmlns:a16="http://schemas.microsoft.com/office/drawing/2014/main" id="{6A91D653-EB3D-12E6-8809-EC7A95A3F7CE}"/>
              </a:ext>
            </a:extLst>
          </p:cNvPr>
          <p:cNvSpPr/>
          <p:nvPr/>
        </p:nvSpPr>
        <p:spPr>
          <a:xfrm>
            <a:off x="776572" y="1698318"/>
            <a:ext cx="603504" cy="603504"/>
          </a:xfrm>
          <a:prstGeom prst="ellipse">
            <a:avLst/>
          </a:prstGeom>
          <a:solidFill>
            <a:srgbClr val="F3DFB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25" name="Image 1" descr="/home/claude/build/icons/lightbulb__B6691F.png">
            <a:extLst>
              <a:ext uri="{FF2B5EF4-FFF2-40B4-BE49-F238E27FC236}">
                <a16:creationId xmlns:a16="http://schemas.microsoft.com/office/drawing/2014/main" id="{81292BC7-5EC0-32F8-5B14-4880CA432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83" y="1855229"/>
            <a:ext cx="289682" cy="289682"/>
          </a:xfrm>
          <a:prstGeom prst="rect">
            <a:avLst/>
          </a:prstGeom>
        </p:spPr>
      </p:pic>
      <p:sp>
        <p:nvSpPr>
          <p:cNvPr id="26" name="Text 6">
            <a:extLst>
              <a:ext uri="{FF2B5EF4-FFF2-40B4-BE49-F238E27FC236}">
                <a16:creationId xmlns:a16="http://schemas.microsoft.com/office/drawing/2014/main" id="{3B14F035-5B1A-C024-131E-F2B168B991B8}"/>
              </a:ext>
            </a:extLst>
          </p:cNvPr>
          <p:cNvSpPr/>
          <p:nvPr/>
        </p:nvSpPr>
        <p:spPr>
          <a:xfrm>
            <a:off x="1603373" y="1905519"/>
            <a:ext cx="2898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100" normalizeH="0" baseline="0" noProof="0" dirty="0">
                <a:ln>
                  <a:noFill/>
                </a:ln>
                <a:solidFill>
                  <a:srgbClr val="B6691F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理論背景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3F2232C9-88C1-B9E5-436A-70AF12696E3B}"/>
              </a:ext>
            </a:extLst>
          </p:cNvPr>
          <p:cNvSpPr/>
          <p:nvPr/>
        </p:nvSpPr>
        <p:spPr>
          <a:xfrm>
            <a:off x="721708" y="2363258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1F1D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心理等待成本＋換桌設置時間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789E24E-7EE0-47E4-CAD3-49213261FD1B}"/>
              </a:ext>
            </a:extLst>
          </p:cNvPr>
          <p:cNvSpPr/>
          <p:nvPr/>
        </p:nvSpPr>
        <p:spPr>
          <a:xfrm>
            <a:off x="689882" y="2927277"/>
            <a:ext cx="306781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A4540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無所事事站在門口等待，感覺上的時間比實際時間長達 2 倍</a:t>
            </a: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srgbClr val="4A4540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4A4540"/>
              </a:solidFill>
              <a:effectLst/>
              <a:uLnTx/>
              <a:uFillTx/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algn="l">
              <a:lnSpc>
                <a:spcPct val="125000"/>
              </a:lnSpc>
            </a:pPr>
            <a:endParaRPr lang="en-US" altLang="zh-TW" sz="1400" dirty="0">
              <a:solidFill>
                <a:srgbClr val="4A4540"/>
              </a:solidFill>
              <a:latin typeface="Microsoft JhengHei" pitchFamily="34" charset="0"/>
              <a:ea typeface="Microsoft JhengHei" pitchFamily="34" charset="-122"/>
              <a:cs typeface="Microsoft JhengHei"/>
            </a:endParaRPr>
          </a:p>
          <a:p>
            <a:pPr algn="l">
              <a:lnSpc>
                <a:spcPct val="125000"/>
              </a:lnSpc>
            </a:pPr>
            <a:r>
              <a:rPr lang="zh-TW" altLang="en-US" sz="1400" dirty="0">
                <a:solidFill>
                  <a:srgbClr val="4A4540"/>
                </a:solidFill>
                <a:latin typeface="Microsoft JhengHei" pitchFamily="34" charset="0"/>
                <a:ea typeface="Microsoft JhengHei" pitchFamily="34" charset="-122"/>
              </a:rPr>
              <a:t>海底撈</a:t>
            </a:r>
            <a:r>
              <a:rPr lang="en-US" altLang="zh-TW" sz="1400" dirty="0">
                <a:solidFill>
                  <a:srgbClr val="4A4540"/>
                </a:solidFill>
                <a:latin typeface="Microsoft JhengHei" pitchFamily="34" charset="0"/>
                <a:ea typeface="Microsoft JhengHei" pitchFamily="34" charset="-122"/>
              </a:rPr>
              <a:t>: </a:t>
            </a:r>
            <a:r>
              <a:rPr lang="zh-TW" altLang="en-US" sz="1400" dirty="0">
                <a:solidFill>
                  <a:srgbClr val="4A4540"/>
                </a:solidFill>
                <a:latin typeface="Microsoft JhengHei" pitchFamily="34" charset="0"/>
                <a:ea typeface="Microsoft JhengHei" pitchFamily="34" charset="-122"/>
              </a:rPr>
              <a:t>候位區美甲、修鞋、免費小吃，</a:t>
            </a:r>
          </a:p>
          <a:p>
            <a:pPr algn="l">
              <a:lnSpc>
                <a:spcPct val="125000"/>
              </a:lnSpc>
            </a:pPr>
            <a:r>
              <a:rPr lang="zh-TW" altLang="en-US" sz="1400" dirty="0">
                <a:solidFill>
                  <a:srgbClr val="4A4540"/>
                </a:solidFill>
                <a:latin typeface="Microsoft JhengHei" pitchFamily="34" charset="0"/>
                <a:ea typeface="Microsoft JhengHei" pitchFamily="34" charset="-122"/>
              </a:rPr>
              <a:t>讓「等待」變成一種服務體驗。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1E876081-352F-D07D-E02D-13188DF5D849}"/>
              </a:ext>
            </a:extLst>
          </p:cNvPr>
          <p:cNvSpPr/>
          <p:nvPr/>
        </p:nvSpPr>
        <p:spPr>
          <a:xfrm>
            <a:off x="4287868" y="1405710"/>
            <a:ext cx="3483864" cy="5005364"/>
          </a:xfrm>
          <a:prstGeom prst="roundRect">
            <a:avLst>
              <a:gd name="adj" fmla="val 2100"/>
            </a:avLst>
          </a:prstGeom>
          <a:solidFill>
            <a:srgbClr val="F7F5F2"/>
          </a:solidFill>
          <a:ln w="15875">
            <a:solidFill>
              <a:srgbClr val="C9C2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0" name="Shape 10">
            <a:extLst>
              <a:ext uri="{FF2B5EF4-FFF2-40B4-BE49-F238E27FC236}">
                <a16:creationId xmlns:a16="http://schemas.microsoft.com/office/drawing/2014/main" id="{57008F73-EAEE-5A27-BB6B-20D44B73E929}"/>
              </a:ext>
            </a:extLst>
          </p:cNvPr>
          <p:cNvSpPr/>
          <p:nvPr/>
        </p:nvSpPr>
        <p:spPr>
          <a:xfrm>
            <a:off x="4580476" y="1698318"/>
            <a:ext cx="603504" cy="603504"/>
          </a:xfrm>
          <a:prstGeom prst="ellipse">
            <a:avLst/>
          </a:prstGeom>
          <a:solidFill>
            <a:srgbClr val="C9E6E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31" name="Image 2" descr="/home/claude/build/icons/gear__155C57.png">
            <a:extLst>
              <a:ext uri="{FF2B5EF4-FFF2-40B4-BE49-F238E27FC236}">
                <a16:creationId xmlns:a16="http://schemas.microsoft.com/office/drawing/2014/main" id="{20935D05-5319-AA0D-B893-BEFDD7CA8A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7387" y="1855229"/>
            <a:ext cx="289682" cy="289682"/>
          </a:xfrm>
          <a:prstGeom prst="rect">
            <a:avLst/>
          </a:prstGeom>
        </p:spPr>
      </p:pic>
      <p:sp>
        <p:nvSpPr>
          <p:cNvPr id="32" name="Text 11">
            <a:extLst>
              <a:ext uri="{FF2B5EF4-FFF2-40B4-BE49-F238E27FC236}">
                <a16:creationId xmlns:a16="http://schemas.microsoft.com/office/drawing/2014/main" id="{6D9AFD8B-937F-7379-DAF8-444B9D11BFE8}"/>
              </a:ext>
            </a:extLst>
          </p:cNvPr>
          <p:cNvSpPr/>
          <p:nvPr/>
        </p:nvSpPr>
        <p:spPr>
          <a:xfrm>
            <a:off x="5472119" y="1905519"/>
            <a:ext cx="2898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100" normalizeH="0" baseline="0" noProof="0" dirty="0">
                <a:ln>
                  <a:noFill/>
                </a:ln>
                <a:solidFill>
                  <a:srgbClr val="155C57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實務解法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397B313D-4867-CD22-781B-79B455F80C00}"/>
              </a:ext>
            </a:extLst>
          </p:cNvPr>
          <p:cNvSpPr/>
          <p:nvPr/>
        </p:nvSpPr>
        <p:spPr>
          <a:xfrm>
            <a:off x="4580476" y="2363258"/>
            <a:ext cx="2898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1F1D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候位系統＋預先點餐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13">
            <a:extLst>
              <a:ext uri="{FF2B5EF4-FFF2-40B4-BE49-F238E27FC236}">
                <a16:creationId xmlns:a16="http://schemas.microsoft.com/office/drawing/2014/main" id="{948EE5E8-7C3B-C073-EE0E-28C9EC320C68}"/>
              </a:ext>
            </a:extLst>
          </p:cNvPr>
          <p:cNvSpPr/>
          <p:nvPr/>
        </p:nvSpPr>
        <p:spPr>
          <a:xfrm>
            <a:off x="4580476" y="2924811"/>
            <a:ext cx="289864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srgbClr val="4A4540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導入號碼牌機／LINE 候位系統，</a:t>
            </a: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A4540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客人可先逛市場。</a:t>
            </a:r>
            <a:endParaRPr lang="en-US" altLang="zh-TW" sz="1400" dirty="0">
              <a:solidFill>
                <a:srgbClr val="4A4540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4A4540"/>
              </a:solidFill>
              <a:effectLst/>
              <a:uLnTx/>
              <a:uFillTx/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srgbClr val="4A4540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候位時同步用手機完成點餐， 入 </a:t>
            </a:r>
            <a:endParaRPr lang="en-US" altLang="zh-TW" sz="1400" dirty="0">
              <a:solidFill>
                <a:srgbClr val="4A4540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400" dirty="0">
                <a:solidFill>
                  <a:srgbClr val="4A4540"/>
                </a:solidFill>
                <a:latin typeface="Microsoft JhengHei" pitchFamily="34" charset="0"/>
                <a:ea typeface="Microsoft JhengHei" pitchFamily="34" charset="-122"/>
              </a:rPr>
              <a:t>     座後直接送單，不提早切肉 。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dirty="0">
              <a:solidFill>
                <a:srgbClr val="4A4540"/>
              </a:solidFill>
              <a:latin typeface="Microsoft JhengHei" pitchFamily="34" charset="0"/>
              <a:ea typeface="Microsoft JhengHei" pitchFamily="34" charset="-122"/>
            </a:endParaRPr>
          </a:p>
          <a:p>
            <a:r>
              <a:rPr lang="en-US" altLang="zh-TW" sz="1400" dirty="0">
                <a:solidFill>
                  <a:srgbClr val="4A4540"/>
                </a:solidFill>
                <a:latin typeface="Microsoft JhengHei" pitchFamily="34" charset="0"/>
                <a:ea typeface="Microsoft JhengHei" pitchFamily="34" charset="-122"/>
              </a:rPr>
              <a:t>3. 先上鍋底與套餐；肉品入座後再切，</a:t>
            </a:r>
          </a:p>
          <a:p>
            <a:r>
              <a:rPr lang="zh-TW" altLang="en-US" sz="1400" dirty="0">
                <a:solidFill>
                  <a:srgbClr val="4A4540"/>
                </a:solidFill>
                <a:latin typeface="Microsoft JhengHei" pitchFamily="34" charset="0"/>
                <a:ea typeface="Microsoft JhengHei" pitchFamily="34" charset="-122"/>
              </a:rPr>
              <a:t>     優先顧鮮度。</a:t>
            </a:r>
          </a:p>
          <a:p>
            <a:pPr marL="0" marR="0" lvl="0" indent="0" algn="l" defTabSz="914400" rtl="0" eaLnBrk="1" fontAlgn="auto" latinLnBrk="0" hangingPunct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dirty="0">
              <a:solidFill>
                <a:srgbClr val="4A4540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35" name="Shape 14">
            <a:extLst>
              <a:ext uri="{FF2B5EF4-FFF2-40B4-BE49-F238E27FC236}">
                <a16:creationId xmlns:a16="http://schemas.microsoft.com/office/drawing/2014/main" id="{C653308D-ED5E-D65D-2F75-3BB15C6E00F5}"/>
              </a:ext>
            </a:extLst>
          </p:cNvPr>
          <p:cNvSpPr/>
          <p:nvPr/>
        </p:nvSpPr>
        <p:spPr>
          <a:xfrm>
            <a:off x="8091772" y="1405710"/>
            <a:ext cx="3483864" cy="5005364"/>
          </a:xfrm>
          <a:prstGeom prst="roundRect">
            <a:avLst>
              <a:gd name="adj" fmla="val 2100"/>
            </a:avLst>
          </a:prstGeom>
          <a:solidFill>
            <a:srgbClr val="F7F5F2"/>
          </a:solidFill>
          <a:ln w="15875">
            <a:solidFill>
              <a:srgbClr val="C9C2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 </a:t>
            </a:r>
          </a:p>
        </p:txBody>
      </p:sp>
      <p:sp>
        <p:nvSpPr>
          <p:cNvPr id="36" name="Shape 15">
            <a:extLst>
              <a:ext uri="{FF2B5EF4-FFF2-40B4-BE49-F238E27FC236}">
                <a16:creationId xmlns:a16="http://schemas.microsoft.com/office/drawing/2014/main" id="{943ED198-9A54-F23E-CD95-CB608A29F77D}"/>
              </a:ext>
            </a:extLst>
          </p:cNvPr>
          <p:cNvSpPr/>
          <p:nvPr/>
        </p:nvSpPr>
        <p:spPr>
          <a:xfrm>
            <a:off x="8384380" y="1698318"/>
            <a:ext cx="603504" cy="603504"/>
          </a:xfrm>
          <a:prstGeom prst="ellipse">
            <a:avLst/>
          </a:prstGeom>
          <a:solidFill>
            <a:srgbClr val="F2D6D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37" name="Image 3" descr="/home/claude/build/icons/trend_up__9E2B25.png">
            <a:extLst>
              <a:ext uri="{FF2B5EF4-FFF2-40B4-BE49-F238E27FC236}">
                <a16:creationId xmlns:a16="http://schemas.microsoft.com/office/drawing/2014/main" id="{496EA866-A07B-F077-850B-FD2903F4E8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1291" y="1855229"/>
            <a:ext cx="289682" cy="289682"/>
          </a:xfrm>
          <a:prstGeom prst="rect">
            <a:avLst/>
          </a:prstGeom>
        </p:spPr>
      </p:pic>
      <p:sp>
        <p:nvSpPr>
          <p:cNvPr id="38" name="Text 16">
            <a:extLst>
              <a:ext uri="{FF2B5EF4-FFF2-40B4-BE49-F238E27FC236}">
                <a16:creationId xmlns:a16="http://schemas.microsoft.com/office/drawing/2014/main" id="{5D5D3B40-00CB-0EAF-8EDE-533A99A90353}"/>
              </a:ext>
            </a:extLst>
          </p:cNvPr>
          <p:cNvSpPr/>
          <p:nvPr/>
        </p:nvSpPr>
        <p:spPr>
          <a:xfrm>
            <a:off x="9144795" y="1855229"/>
            <a:ext cx="2898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100" normalizeH="0" baseline="0" noProof="0" dirty="0">
                <a:ln>
                  <a:noFill/>
                </a:ln>
                <a:solidFill>
                  <a:srgbClr val="9E2B25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OR 成效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A6D7B0D3-AE06-D0C9-00C0-E3E89FBA46D2}"/>
              </a:ext>
            </a:extLst>
          </p:cNvPr>
          <p:cNvSpPr/>
          <p:nvPr/>
        </p:nvSpPr>
        <p:spPr>
          <a:xfrm>
            <a:off x="8531812" y="2386584"/>
            <a:ext cx="2898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1F1D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翻桌率提升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A2318B6E-6288-C6D9-36AE-94329FC0A2BD}"/>
              </a:ext>
            </a:extLst>
          </p:cNvPr>
          <p:cNvSpPr/>
          <p:nvPr/>
        </p:nvSpPr>
        <p:spPr>
          <a:xfrm>
            <a:off x="8384380" y="2889504"/>
            <a:ext cx="2898648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srgbClr val="4A4540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</a:t>
            </a:r>
            <a:r>
              <a: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A4540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A4540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等待不再痛苦，流失率下降；入座</a:t>
            </a:r>
            <a:r>
              <a: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A4540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</a:t>
            </a:r>
            <a:endParaRPr kumimoji="0" lang="en-US" altLang="zh-TW" sz="1400" b="0" i="0" u="none" strike="noStrike" kern="1200" cap="none" spc="0" normalizeH="0" baseline="0" noProof="0" dirty="0">
              <a:ln>
                <a:noFill/>
              </a:ln>
              <a:solidFill>
                <a:srgbClr val="4A4540"/>
              </a:solidFill>
              <a:effectLst/>
              <a:uLnTx/>
              <a:uFillTx/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A4540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A4540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即出餐</a:t>
            </a:r>
            <a:r>
              <a:rPr lang="en-US" sz="1400" dirty="0">
                <a:solidFill>
                  <a:srgbClr val="4A4540"/>
                </a:solidFill>
                <a:latin typeface="Microsoft JhengHei" pitchFamily="34" charset="0"/>
                <a:ea typeface="Microsoft JhengHei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en-US" altLang="zh-TW" sz="1400" dirty="0">
                <a:solidFill>
                  <a:srgbClr val="4A4540"/>
                </a:solidFill>
                <a:latin typeface="Microsoft JhengHei" pitchFamily="34" charset="0"/>
                <a:ea typeface="Microsoft JhengHei" pitchFamily="34" charset="-122"/>
              </a:rPr>
              <a:t>2.</a:t>
            </a:r>
            <a:r>
              <a:rPr lang="zh-TW" altLang="en-US" sz="1400" dirty="0">
                <a:solidFill>
                  <a:srgbClr val="4A4540"/>
                </a:solidFill>
                <a:latin typeface="Microsoft JhengHei" pitchFamily="34" charset="0"/>
                <a:ea typeface="Microsoft JhengHei" pitchFamily="34" charset="-122"/>
              </a:rPr>
              <a:t> </a:t>
            </a:r>
            <a:r>
              <a:rPr lang="en-US" altLang="zh-TW" sz="1400" dirty="0" err="1">
                <a:solidFill>
                  <a:srgbClr val="4A4540"/>
                </a:solidFill>
                <a:latin typeface="Microsoft JhengHei" pitchFamily="34" charset="0"/>
                <a:ea typeface="Microsoft JhengHei" pitchFamily="34" charset="-122"/>
              </a:rPr>
              <a:t>收鍋、擦桌、補品固定分工；目標</a:t>
            </a:r>
            <a:endParaRPr lang="en-US" altLang="zh-TW" sz="1400" dirty="0">
              <a:solidFill>
                <a:srgbClr val="4A4540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rgbClr val="4A4540"/>
                </a:solidFill>
                <a:latin typeface="Microsoft JhengHei" pitchFamily="34" charset="0"/>
                <a:ea typeface="Microsoft JhengHei" pitchFamily="34" charset="-122"/>
              </a:rPr>
              <a:t>     </a:t>
            </a:r>
            <a:r>
              <a:rPr lang="en-US" altLang="zh-TW" sz="1400" dirty="0" err="1">
                <a:solidFill>
                  <a:srgbClr val="4A4540"/>
                </a:solidFill>
                <a:latin typeface="Microsoft JhengHei" pitchFamily="34" charset="0"/>
                <a:ea typeface="Microsoft JhengHei" pitchFamily="34" charset="-122"/>
              </a:rPr>
              <a:t>將重置壓到</a:t>
            </a:r>
            <a:r>
              <a:rPr lang="en-US" altLang="zh-TW" sz="1400" dirty="0">
                <a:solidFill>
                  <a:srgbClr val="4A4540"/>
                </a:solidFill>
                <a:latin typeface="Microsoft JhengHei" pitchFamily="34" charset="0"/>
                <a:ea typeface="Microsoft JhengHei" pitchFamily="34" charset="-122"/>
              </a:rPr>
              <a:t> 1–2 </a:t>
            </a:r>
            <a:r>
              <a:rPr lang="en-US" altLang="zh-TW" sz="1400" dirty="0" err="1">
                <a:solidFill>
                  <a:srgbClr val="4A4540"/>
                </a:solidFill>
                <a:latin typeface="Microsoft JhengHei" pitchFamily="34" charset="0"/>
                <a:ea typeface="Microsoft JhengHei" pitchFamily="34" charset="-122"/>
              </a:rPr>
              <a:t>分鐘</a:t>
            </a:r>
            <a:r>
              <a:rPr lang="en-US" altLang="zh-TW" sz="1400" dirty="0">
                <a:solidFill>
                  <a:srgbClr val="4A4540"/>
                </a:solidFill>
                <a:latin typeface="Microsoft JhengHei" pitchFamily="34" charset="0"/>
                <a:ea typeface="Microsoft JhengHei" pitchFamily="34" charset="-122"/>
              </a:rPr>
              <a:t>。</a:t>
            </a:r>
            <a:endParaRPr kumimoji="0" lang="en-US" altLang="zh-TW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algn="l">
              <a:lnSpc>
                <a:spcPct val="125000"/>
              </a:lnSpc>
            </a:pPr>
            <a:r>
              <a:rPr lang="en-US" altLang="zh-TW" sz="1400" dirty="0">
                <a:solidFill>
                  <a:srgbClr val="4A4540"/>
                </a:solidFill>
                <a:latin typeface="Microsoft JhengHei" pitchFamily="34" charset="0"/>
                <a:ea typeface="Microsoft JhengHei" pitchFamily="34" charset="-122"/>
              </a:rPr>
              <a:t>3. </a:t>
            </a:r>
            <a:r>
              <a:rPr lang="zh-TW" altLang="en-US" sz="1400" dirty="0">
                <a:solidFill>
                  <a:srgbClr val="4A4540"/>
                </a:solidFill>
                <a:latin typeface="Microsoft JhengHei" pitchFamily="34" charset="0"/>
                <a:ea typeface="Microsoft JhengHei" pitchFamily="34" charset="-122"/>
              </a:rPr>
              <a:t>科技化排隊叫號、即時追蹤翻桌率。</a:t>
            </a:r>
            <a:endParaRPr lang="en-US" altLang="zh-TW" sz="1400" dirty="0">
              <a:solidFill>
                <a:srgbClr val="4A4540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algn="l">
              <a:lnSpc>
                <a:spcPct val="125000"/>
              </a:lnSpc>
            </a:pPr>
            <a:endParaRPr lang="zh-TW" altLang="en-US" sz="1400" dirty="0">
              <a:solidFill>
                <a:srgbClr val="4A4540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400" dirty="0">
                <a:solidFill>
                  <a:srgbClr val="4A4540"/>
                </a:solidFill>
                <a:latin typeface="Microsoft JhengHei" pitchFamily="34" charset="0"/>
                <a:ea typeface="Microsoft JhengHei" pitchFamily="34" charset="-122"/>
              </a:rPr>
              <a:t>     翻桌率</a:t>
            </a:r>
            <a:r>
              <a:rPr lang="en-US" altLang="zh-TW" sz="1400" dirty="0">
                <a:solidFill>
                  <a:srgbClr val="4A4540"/>
                </a:solidFill>
                <a:latin typeface="Microsoft JhengHei" pitchFamily="34" charset="0"/>
                <a:ea typeface="Microsoft JhengHei" pitchFamily="34" charset="-122"/>
              </a:rPr>
              <a:t>:</a:t>
            </a:r>
            <a:r>
              <a:rPr lang="zh-TW" altLang="en-US" sz="1400" dirty="0">
                <a:solidFill>
                  <a:srgbClr val="4A4540"/>
                </a:solidFill>
                <a:latin typeface="Microsoft JhengHei" pitchFamily="34" charset="0"/>
                <a:ea typeface="Microsoft JhengHei" pitchFamily="34" charset="-122"/>
              </a:rPr>
              <a:t> </a:t>
            </a:r>
            <a:endParaRPr lang="en-US" altLang="zh-TW" sz="1400" dirty="0">
              <a:solidFill>
                <a:srgbClr val="4A4540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400" dirty="0">
                <a:solidFill>
                  <a:srgbClr val="4A4540"/>
                </a:solidFill>
                <a:latin typeface="Microsoft JhengHei" pitchFamily="34" charset="0"/>
                <a:ea typeface="Microsoft JhengHei" pitchFamily="34" charset="-122"/>
              </a:rPr>
              <a:t>                 快餐平均</a:t>
            </a:r>
            <a:r>
              <a:rPr lang="en-US" altLang="zh-TW" sz="1400" dirty="0">
                <a:solidFill>
                  <a:srgbClr val="4A4540"/>
                </a:solidFill>
                <a:latin typeface="Microsoft JhengHei" pitchFamily="34" charset="0"/>
                <a:ea typeface="Microsoft JhengHei" pitchFamily="34" charset="-122"/>
              </a:rPr>
              <a:t>: 5-8</a:t>
            </a:r>
            <a:r>
              <a:rPr lang="zh-TW" altLang="en-US" sz="1400" dirty="0">
                <a:solidFill>
                  <a:srgbClr val="4A4540"/>
                </a:solidFill>
                <a:latin typeface="Microsoft JhengHei" pitchFamily="34" charset="0"/>
                <a:ea typeface="Microsoft JhengHei" pitchFamily="34" charset="-122"/>
              </a:rPr>
              <a:t>次</a:t>
            </a:r>
            <a:r>
              <a:rPr lang="en-US" altLang="zh-TW" sz="1400" dirty="0">
                <a:solidFill>
                  <a:srgbClr val="4A4540"/>
                </a:solidFill>
                <a:latin typeface="Microsoft JhengHei" pitchFamily="34" charset="0"/>
                <a:ea typeface="Microsoft JhengHei" pitchFamily="34" charset="-122"/>
              </a:rPr>
              <a:t>/</a:t>
            </a:r>
            <a:r>
              <a:rPr lang="zh-TW" altLang="en-US" sz="1400" dirty="0">
                <a:solidFill>
                  <a:srgbClr val="4A4540"/>
                </a:solidFill>
                <a:latin typeface="Microsoft JhengHei" pitchFamily="34" charset="0"/>
                <a:ea typeface="Microsoft JhengHei" pitchFamily="34" charset="-122"/>
              </a:rPr>
              <a:t>日</a:t>
            </a:r>
            <a:endParaRPr lang="en-US" altLang="zh-TW" sz="1400" dirty="0">
              <a:solidFill>
                <a:srgbClr val="4A4540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400" dirty="0">
                <a:solidFill>
                  <a:srgbClr val="4A4540"/>
                </a:solidFill>
                <a:latin typeface="Microsoft JhengHei" pitchFamily="34" charset="0"/>
                <a:ea typeface="Microsoft JhengHei" pitchFamily="34" charset="-122"/>
              </a:rPr>
              <a:t>                  鼎泰豐   </a:t>
            </a:r>
            <a:r>
              <a:rPr lang="en-US" altLang="zh-TW" sz="1400" dirty="0">
                <a:solidFill>
                  <a:srgbClr val="4A4540"/>
                </a:solidFill>
                <a:latin typeface="Microsoft JhengHei" pitchFamily="34" charset="0"/>
                <a:ea typeface="Microsoft JhengHei" pitchFamily="34" charset="-122"/>
              </a:rPr>
              <a:t>: 15-18</a:t>
            </a:r>
            <a:r>
              <a:rPr lang="zh-TW" altLang="en-US" sz="1400" dirty="0">
                <a:solidFill>
                  <a:srgbClr val="4A4540"/>
                </a:solidFill>
                <a:latin typeface="Microsoft JhengHei" pitchFamily="34" charset="0"/>
                <a:ea typeface="Microsoft JhengHei" pitchFamily="34" charset="-122"/>
              </a:rPr>
              <a:t>次</a:t>
            </a:r>
            <a:r>
              <a:rPr lang="en-US" altLang="zh-TW" sz="1400" dirty="0">
                <a:solidFill>
                  <a:srgbClr val="4A4540"/>
                </a:solidFill>
                <a:latin typeface="Microsoft JhengHei" pitchFamily="34" charset="0"/>
                <a:ea typeface="Microsoft JhengHei" pitchFamily="34" charset="-122"/>
              </a:rPr>
              <a:t>/</a:t>
            </a:r>
            <a:r>
              <a:rPr lang="zh-TW" altLang="en-US" sz="1400" dirty="0">
                <a:solidFill>
                  <a:srgbClr val="4A4540"/>
                </a:solidFill>
                <a:latin typeface="Microsoft JhengHei" pitchFamily="34" charset="0"/>
                <a:ea typeface="Microsoft JhengHei" pitchFamily="34" charset="-122"/>
              </a:rPr>
              <a:t>日</a:t>
            </a:r>
            <a:endParaRPr lang="en-US" altLang="zh-TW" sz="1400" dirty="0">
              <a:solidFill>
                <a:srgbClr val="4A4540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400" dirty="0">
                <a:solidFill>
                  <a:srgbClr val="4A4540"/>
                </a:solidFill>
                <a:latin typeface="Microsoft JhengHei" pitchFamily="34" charset="0"/>
                <a:ea typeface="Microsoft JhengHei" pitchFamily="34" charset="-122"/>
              </a:rPr>
              <a:t>                  一般餐廳</a:t>
            </a:r>
            <a:r>
              <a:rPr lang="en-US" altLang="zh-TW" sz="1400" dirty="0">
                <a:solidFill>
                  <a:srgbClr val="4A4540"/>
                </a:solidFill>
                <a:latin typeface="Microsoft JhengHei" pitchFamily="34" charset="0"/>
                <a:ea typeface="Microsoft JhengHei" pitchFamily="34" charset="-122"/>
              </a:rPr>
              <a:t>: 2-4</a:t>
            </a:r>
            <a:r>
              <a:rPr lang="zh-TW" altLang="en-US" sz="1400" dirty="0">
                <a:solidFill>
                  <a:srgbClr val="4A4540"/>
                </a:solidFill>
                <a:latin typeface="Microsoft JhengHei" pitchFamily="34" charset="0"/>
                <a:ea typeface="Microsoft JhengHei" pitchFamily="34" charset="-122"/>
              </a:rPr>
              <a:t>次</a:t>
            </a:r>
            <a:r>
              <a:rPr lang="en-US" altLang="zh-TW" sz="1400" dirty="0">
                <a:solidFill>
                  <a:srgbClr val="4A4540"/>
                </a:solidFill>
                <a:latin typeface="Microsoft JhengHei" pitchFamily="34" charset="0"/>
                <a:ea typeface="Microsoft JhengHei" pitchFamily="34" charset="-122"/>
              </a:rPr>
              <a:t>/</a:t>
            </a:r>
            <a:r>
              <a:rPr lang="zh-TW" altLang="en-US" sz="1400" dirty="0">
                <a:solidFill>
                  <a:srgbClr val="4A4540"/>
                </a:solidFill>
                <a:latin typeface="Microsoft JhengHei" pitchFamily="34" charset="0"/>
                <a:ea typeface="Microsoft JhengHei" pitchFamily="34" charset="-122"/>
              </a:rPr>
              <a:t>日</a:t>
            </a:r>
            <a:endParaRPr lang="en-US" sz="1400" dirty="0">
              <a:solidFill>
                <a:srgbClr val="4A4540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pic>
        <p:nvPicPr>
          <p:cNvPr id="41" name="圖片 40">
            <a:extLst>
              <a:ext uri="{FF2B5EF4-FFF2-40B4-BE49-F238E27FC236}">
                <a16:creationId xmlns:a16="http://schemas.microsoft.com/office/drawing/2014/main" id="{DB1D277A-A794-C426-9CE1-DDA2E8E091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686" y="4938017"/>
            <a:ext cx="1639062" cy="1115362"/>
          </a:xfrm>
          <a:prstGeom prst="rect">
            <a:avLst/>
          </a:prstGeom>
        </p:spPr>
      </p:pic>
      <p:pic>
        <p:nvPicPr>
          <p:cNvPr id="42" name="圖片 41">
            <a:extLst>
              <a:ext uri="{FF2B5EF4-FFF2-40B4-BE49-F238E27FC236}">
                <a16:creationId xmlns:a16="http://schemas.microsoft.com/office/drawing/2014/main" id="{C4AA499B-3CF6-7872-8A67-B0E756419D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9180" y="4735813"/>
            <a:ext cx="1386644" cy="148626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66928" y="6522124"/>
            <a:ext cx="600000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>
                <a:solidFill>
                  <a:srgbClr val="84959C"/>
                </a:solidFill>
                <a:latin typeface="Microsoft JhengHei"/>
              </a:rPr>
              <a:t>西市汕頭館 OR 個案分析 ｜ 16</a:t>
            </a:r>
            <a:endParaRPr sz="800" b="0" dirty="0">
              <a:solidFill>
                <a:srgbClr val="84959C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DFA88B8-1012-A303-9DD4-303556E875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98" t="9164" r="15020" b="11292"/>
          <a:stretch/>
        </p:blipFill>
        <p:spPr bwMode="auto">
          <a:xfrm>
            <a:off x="5261724" y="4819933"/>
            <a:ext cx="2291116" cy="1471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064EAA51-02AF-D88A-CB86-9A5A566893F3}"/>
              </a:ext>
            </a:extLst>
          </p:cNvPr>
          <p:cNvSpPr txBox="1"/>
          <p:nvPr/>
        </p:nvSpPr>
        <p:spPr>
          <a:xfrm>
            <a:off x="943824" y="4461157"/>
            <a:ext cx="876891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zh-TW" altLang="en-US" dirty="0"/>
              <a:t>海底撈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0200B22-364D-853F-82B3-782EFF583F52}"/>
              </a:ext>
            </a:extLst>
          </p:cNvPr>
          <p:cNvSpPr txBox="1"/>
          <p:nvPr/>
        </p:nvSpPr>
        <p:spPr>
          <a:xfrm>
            <a:off x="4502021" y="4856178"/>
            <a:ext cx="681959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zh-TW" altLang="en-US" dirty="0"/>
              <a:t>漢來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E66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0704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112E43"/>
                </a:solidFill>
                <a:latin typeface="Microsoft JhengHei"/>
              </a:rPr>
              <a:t>排隊如何再減少？除了分類抽號，還有這些做法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42104"/>
            <a:ext cx="3483864" cy="3900000"/>
          </a:xfrm>
          <a:prstGeom prst="roundRect">
            <a:avLst>
              <a:gd name="adj" fmla="val 6000"/>
            </a:avLst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85616" y="1560792"/>
            <a:ext cx="603504" cy="603504"/>
          </a:xfrm>
          <a:prstGeom prst="ellipse">
            <a:avLst/>
          </a:prstGeom>
          <a:solidFill>
            <a:srgbClr val="F3D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35120" y="1739296"/>
            <a:ext cx="3046488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dirty="0" err="1">
                <a:solidFill>
                  <a:srgbClr val="E66B30"/>
                </a:solidFill>
                <a:latin typeface="Microsoft JhengHei"/>
              </a:rPr>
              <a:t>依桌型分流排隊</a:t>
            </a:r>
            <a:endParaRPr sz="1500" b="1" dirty="0">
              <a:solidFill>
                <a:srgbClr val="E66B30"/>
              </a:solidFill>
              <a:latin typeface="Microsoft Jheng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8679" y="2322436"/>
            <a:ext cx="3046488" cy="9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dirty="0" err="1">
                <a:solidFill>
                  <a:srgbClr val="53666D"/>
                </a:solidFill>
                <a:latin typeface="Microsoft JhengHei"/>
              </a:rPr>
              <a:t>仿照鼎泰豐</a:t>
            </a:r>
            <a:r>
              <a:rPr lang="zh-TW" altLang="en-US" sz="1250" b="0" dirty="0">
                <a:solidFill>
                  <a:srgbClr val="53666D"/>
                </a:solidFill>
                <a:latin typeface="Microsoft JhengHei"/>
              </a:rPr>
              <a:t>及十一街</a:t>
            </a:r>
            <a:r>
              <a:rPr sz="1250" b="0" dirty="0">
                <a:solidFill>
                  <a:srgbClr val="53666D"/>
                </a:solidFill>
                <a:latin typeface="Microsoft JhengHei"/>
              </a:rPr>
              <a:t>做法，1-2人／3-4人／6人以上分開排隊、分開叫號，避免小團體被大團體卡住（排隊理論的 head-of-line blocking），</a:t>
            </a:r>
            <a:r>
              <a:rPr sz="1250" b="0" dirty="0" err="1">
                <a:solidFill>
                  <a:srgbClr val="53666D"/>
                </a:solidFill>
                <a:latin typeface="Microsoft JhengHei"/>
              </a:rPr>
              <a:t>縮短小團體的實際等待</a:t>
            </a:r>
            <a:r>
              <a:rPr sz="1250" b="0" dirty="0">
                <a:solidFill>
                  <a:srgbClr val="53666D"/>
                </a:solidFill>
                <a:latin typeface="Microsoft JhengHei"/>
              </a:rPr>
              <a:t>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6792" y="1342104"/>
            <a:ext cx="3483864" cy="3900000"/>
          </a:xfrm>
          <a:prstGeom prst="roundRect">
            <a:avLst>
              <a:gd name="adj" fmla="val 6000"/>
            </a:avLst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15480" y="1560792"/>
            <a:ext cx="603504" cy="603504"/>
          </a:xfrm>
          <a:prstGeom prst="ellipse">
            <a:avLst/>
          </a:prstGeom>
          <a:solidFill>
            <a:srgbClr val="C9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00608" y="1764296"/>
            <a:ext cx="3046488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E66B30"/>
                </a:solidFill>
                <a:latin typeface="Microsoft JhengHei"/>
              </a:rPr>
              <a:t>精準等待時間顯示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756" y="2425412"/>
            <a:ext cx="3046488" cy="2237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53666D"/>
                </a:solidFill>
                <a:latin typeface="Microsoft JhengHei"/>
              </a:rPr>
              <a:t>結合候位人數與出餐、收桌節奏，即時估算等待時間並主動通知（簡訊／App），降低『不確定感』帶來的心理等待成本。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6656" y="1342104"/>
            <a:ext cx="3483864" cy="3900000"/>
          </a:xfrm>
          <a:prstGeom prst="roundRect">
            <a:avLst>
              <a:gd name="adj" fmla="val 6000"/>
            </a:avLst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245344" y="1560792"/>
            <a:ext cx="603504" cy="603504"/>
          </a:xfrm>
          <a:prstGeom prst="ellipse">
            <a:avLst/>
          </a:prstGeom>
          <a:solidFill>
            <a:srgbClr val="D8D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5512" y="1809296"/>
            <a:ext cx="3046488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dirty="0" err="1">
                <a:solidFill>
                  <a:srgbClr val="E66B30"/>
                </a:solidFill>
                <a:latin typeface="Microsoft JhengHei"/>
              </a:rPr>
              <a:t>稀缺桌型預約保護</a:t>
            </a:r>
            <a:endParaRPr sz="1500" b="1" dirty="0">
              <a:solidFill>
                <a:srgbClr val="E66B30"/>
              </a:solidFill>
              <a:latin typeface="Microsoft Jheng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86833" y="2387531"/>
            <a:ext cx="3046488" cy="9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dirty="0">
                <a:solidFill>
                  <a:srgbClr val="53666D"/>
                </a:solidFill>
                <a:latin typeface="Microsoft JhengHei"/>
              </a:rPr>
              <a:t>10人桌數量有限，</a:t>
            </a:r>
            <a:r>
              <a:rPr lang="zh-TW" altLang="en-US" sz="1250" dirty="0">
                <a:solidFill>
                  <a:srgbClr val="53666D"/>
                </a:solidFill>
              </a:rPr>
              <a:t>目前店裡無法預約，可採取</a:t>
            </a:r>
            <a:r>
              <a:rPr sz="1250" dirty="0" err="1">
                <a:solidFill>
                  <a:srgbClr val="53666D"/>
                </a:solidFill>
              </a:rPr>
              <a:t>尖峰時段開放事先預約</a:t>
            </a:r>
            <a:r>
              <a:rPr sz="1250" b="0" dirty="0" err="1">
                <a:solidFill>
                  <a:srgbClr val="53666D"/>
                </a:solidFill>
                <a:latin typeface="Microsoft JhengHei"/>
              </a:rPr>
              <a:t>，避免臨時候位排隊卻等不到大桌，也讓現場號碼牌預估更準確</a:t>
            </a:r>
            <a:r>
              <a:rPr sz="1250" b="0" dirty="0">
                <a:solidFill>
                  <a:srgbClr val="53666D"/>
                </a:solidFill>
                <a:latin typeface="Microsoft JhengHei"/>
              </a:rPr>
              <a:t>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7531" y="5590352"/>
            <a:ext cx="11058144" cy="700000"/>
          </a:xfrm>
          <a:prstGeom prst="roundRect">
            <a:avLst>
              <a:gd name="adj" fmla="val 15000"/>
            </a:avLst>
          </a:prstGeom>
          <a:solidFill>
            <a:srgbClr val="112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67531" y="5590352"/>
            <a:ext cx="82296" cy="700000"/>
          </a:xfrm>
          <a:prstGeom prst="rect">
            <a:avLst/>
          </a:prstGeom>
          <a:solidFill>
            <a:srgbClr val="E66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8679" y="5616837"/>
            <a:ext cx="10558144" cy="6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核心邏輯：排隊管理不是喊快，而是用資訊降低不確定性、用分流避免不同需求互相卡位。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522124"/>
            <a:ext cx="6000000" cy="1231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84959C"/>
                </a:solidFill>
                <a:latin typeface="Microsoft JhengHei"/>
              </a:rPr>
              <a:t>西市汕頭館 OR 個案分析 ｜ 17</a:t>
            </a:r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49214E0A-9777-C1C5-21D5-5A5DF2ABB8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94"/>
          <a:stretch/>
        </p:blipFill>
        <p:spPr>
          <a:xfrm>
            <a:off x="977575" y="3400752"/>
            <a:ext cx="1715587" cy="1701562"/>
          </a:xfrm>
          <a:prstGeom prst="rect">
            <a:avLst/>
          </a:prstGeom>
        </p:spPr>
      </p:pic>
      <p:sp>
        <p:nvSpPr>
          <p:cNvPr id="22" name="文字方塊 21">
            <a:extLst>
              <a:ext uri="{FF2B5EF4-FFF2-40B4-BE49-F238E27FC236}">
                <a16:creationId xmlns:a16="http://schemas.microsoft.com/office/drawing/2014/main" id="{22D686A6-3423-1438-5308-8998B9F3B1EB}"/>
              </a:ext>
            </a:extLst>
          </p:cNvPr>
          <p:cNvSpPr txBox="1"/>
          <p:nvPr/>
        </p:nvSpPr>
        <p:spPr>
          <a:xfrm>
            <a:off x="2816162" y="3999140"/>
            <a:ext cx="876891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zh-TW" altLang="en-US" dirty="0"/>
              <a:t>十一街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ded6205-6656-4f4d-b9c0-42e8e45d18d2}" enabled="1" method="Privileged" siteId="{a7687ede-7a6b-4ef6-bace-642f677fbe3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2771</TotalTime>
  <Words>890</Words>
  <Application>Microsoft Office PowerPoint</Application>
  <PresentationFormat>寬螢幕</PresentationFormat>
  <Paragraphs>124</Paragraphs>
  <Slides>7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7</vt:i4>
      </vt:variant>
    </vt:vector>
  </HeadingPairs>
  <TitlesOfParts>
    <vt:vector size="15" baseType="lpstr">
      <vt:lpstr>Microsoft JhengHei</vt:lpstr>
      <vt:lpstr>Aptos</vt:lpstr>
      <vt:lpstr>Aptos Display</vt:lpstr>
      <vt:lpstr>Arial</vt:lpstr>
      <vt:lpstr>Calibri</vt:lpstr>
      <vt:lpstr>Times New Roman</vt:lpstr>
      <vt:lpstr>Office Theme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西市汕頭館：用作業研究守住老店的溫度</dc:title>
  <dc:subject>西市汕頭館 OR 個案分析</dc:subject>
  <dc:creator>陳宛亭</dc:creator>
  <cp:lastModifiedBy>Donna Chen (陳宛亭)</cp:lastModifiedBy>
  <cp:revision>89</cp:revision>
  <dcterms:created xsi:type="dcterms:W3CDTF">2026-07-28T08:31:41Z</dcterms:created>
  <dcterms:modified xsi:type="dcterms:W3CDTF">2026-08-25T05:45:44Z</dcterms:modified>
</cp:coreProperties>
</file>