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311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312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619" autoAdjust="0"/>
  </p:normalViewPr>
  <p:slideViewPr>
    <p:cSldViewPr snapToGrid="0" snapToObjects="1">
      <p:cViewPr varScale="1">
        <p:scale>
          <a:sx n="70" d="100"/>
          <a:sy n="70" d="100"/>
        </p:scale>
        <p:origin x="624" y="3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4795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【0-2分】開場</a:t>
            </a:r>
          </a:p>
          <a:p>
            <a:r>
              <a:t>・站在螢幕旁邊，讓大家同時看到你和投影片；不要背對光源。</a:t>
            </a:r>
          </a:p>
          <a:p>
            <a:r>
              <a:t>・先自我介紹（打手語＋螢幕上有字），再確認手語翻譯員／同步聽打是否就位。</a:t>
            </a:r>
          </a:p>
          <a:p>
            <a:r>
              <a:t>・請學員把手機拿出來、放在桌上，插上行動電源或確認電量。</a:t>
            </a:r>
          </a:p>
          <a:p>
            <a:r>
              <a:t>・提醒：今天全程可以拍照、可以錄影，回家慢慢看。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【2-5分】</a:t>
            </a:r>
          </a:p>
          <a:p>
            <a:r>
              <a:t>・逐條指著螢幕說明，每一項問一次：「這個你用過嗎？」請大家舉手，你就知道程度落差。</a:t>
            </a:r>
          </a:p>
          <a:p>
            <a:r>
              <a:t>・強調第2、3單元是「保護自己和家人」，請一定留到最後。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【5-7分】</a:t>
            </a:r>
          </a:p>
          <a:p>
            <a:r>
              <a:t>・把時間表留在螢幕上久一點，讓大家知道「等一下有休息」，長輩比較安心。</a:t>
            </a:r>
          </a:p>
          <a:p>
            <a:r>
              <a:t>・宣布分組：兩人一組，會用手機的坐在不會用的旁邊。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【7-8分】</a:t>
            </a:r>
          </a:p>
          <a:p>
            <a:r>
              <a:rPr dirty="0"/>
              <a:t>・「</a:t>
            </a:r>
            <a:r>
              <a:rPr dirty="0" err="1"/>
              <a:t>舉手」的手勢先全班練一次，等一下才會真的舉手</a:t>
            </a:r>
            <a:r>
              <a:rPr dirty="0"/>
              <a:t>。</a:t>
            </a:r>
          </a:p>
          <a:p>
            <a:r>
              <a:rPr dirty="0"/>
              <a:t>・</a:t>
            </a:r>
            <a:r>
              <a:rPr dirty="0" err="1"/>
              <a:t>提醒手語翻譯員：學員低頭看手機時看不到手語，每次講解前先請大家「抬頭看我</a:t>
            </a:r>
            <a:r>
              <a:rPr dirty="0"/>
              <a:t>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【8-10分】</a:t>
            </a:r>
          </a:p>
          <a:p>
            <a:r>
              <a:rPr dirty="0"/>
              <a:t>・</a:t>
            </a:r>
            <a:r>
              <a:rPr dirty="0" err="1"/>
              <a:t>這一頁最重要：先知道每個人拿什麼手機，後面所有步驟才能分兩邊教</a:t>
            </a:r>
            <a:r>
              <a:rPr dirty="0"/>
              <a:t>。</a:t>
            </a:r>
          </a:p>
          <a:p>
            <a:r>
              <a:rPr dirty="0"/>
              <a:t>・</a:t>
            </a:r>
            <a:r>
              <a:rPr dirty="0" err="1"/>
              <a:t>請助教在教室平面圖上標記</a:t>
            </a:r>
            <a:r>
              <a:rPr dirty="0"/>
              <a:t> </a:t>
            </a:r>
            <a:r>
              <a:rPr dirty="0" err="1"/>
              <a:t>Android／iPhone</a:t>
            </a:r>
            <a:r>
              <a:rPr dirty="0"/>
              <a:t> </a:t>
            </a:r>
            <a:r>
              <a:rPr dirty="0" err="1"/>
              <a:t>的位置</a:t>
            </a:r>
            <a:r>
              <a:rPr dirty="0"/>
              <a:t>。</a:t>
            </a:r>
          </a:p>
          <a:p>
            <a:r>
              <a:rPr dirty="0"/>
              <a:t>・</a:t>
            </a:r>
            <a:r>
              <a:rPr dirty="0" err="1"/>
              <a:t>若有很舊、無法安裝新APP的手機，先記下來，中場休息時個別處理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【</a:t>
            </a:r>
            <a:r>
              <a:rPr dirty="0" err="1"/>
              <a:t>暖身實作，約</a:t>
            </a:r>
            <a:r>
              <a:rPr dirty="0"/>
              <a:t> 5 </a:t>
            </a:r>
            <a:r>
              <a:rPr dirty="0" err="1"/>
              <a:t>分鐘</a:t>
            </a:r>
            <a:r>
              <a:rPr dirty="0"/>
              <a:t>】</a:t>
            </a:r>
          </a:p>
          <a:p>
            <a:r>
              <a:rPr dirty="0"/>
              <a:t>・</a:t>
            </a:r>
            <a:r>
              <a:rPr dirty="0" err="1"/>
              <a:t>這是全場第一個實作，一定要走下台一個一個看，建立信任感</a:t>
            </a:r>
            <a:r>
              <a:rPr dirty="0"/>
              <a:t>。</a:t>
            </a:r>
          </a:p>
          <a:p>
            <a:r>
              <a:rPr dirty="0"/>
              <a:t>・</a:t>
            </a:r>
            <a:r>
              <a:rPr dirty="0" err="1"/>
              <a:t>口令</a:t>
            </a:r>
            <a:r>
              <a:rPr dirty="0"/>
              <a:t>：「</a:t>
            </a:r>
            <a:r>
              <a:rPr dirty="0" err="1"/>
              <a:t>打開設定</a:t>
            </a:r>
            <a:r>
              <a:rPr dirty="0"/>
              <a:t>」→ 等 30 秒 → 「</a:t>
            </a:r>
            <a:r>
              <a:rPr dirty="0" err="1"/>
              <a:t>找到顯示</a:t>
            </a:r>
            <a:r>
              <a:rPr dirty="0"/>
              <a:t>」→ 等 30 秒 …… </a:t>
            </a:r>
            <a:r>
              <a:rPr dirty="0" err="1"/>
              <a:t>一步一停</a:t>
            </a:r>
            <a:r>
              <a:rPr dirty="0"/>
              <a:t>。</a:t>
            </a:r>
          </a:p>
          <a:p>
            <a:r>
              <a:rPr dirty="0"/>
              <a:t>・</a:t>
            </a:r>
            <a:r>
              <a:rPr dirty="0" err="1"/>
              <a:t>做完請大家互相看鄰居的螢幕，確認真的變大了</a:t>
            </a:r>
            <a:r>
              <a:rPr dirty="0"/>
              <a:t>。</a:t>
            </a:r>
          </a:p>
          <a:p>
            <a:r>
              <a:rPr dirty="0"/>
              <a:t>・</a:t>
            </a:r>
            <a:r>
              <a:rPr dirty="0" err="1"/>
              <a:t>字變大之後，後面所有的操作學員才看得清楚，不要跳過這一頁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【09:10 開始，單元一共 75 分鐘】</a:t>
            </a:r>
          </a:p>
          <a:p>
            <a:r>
              <a:t>建議配速：LINE 25分 → 相機 10分 → 地圖 12分 → YouTube 8分 → 溝通工具 15分 → 實作 5分。</a:t>
            </a:r>
          </a:p>
          <a:p>
            <a:r>
              <a:t>每個APP講完，一定停下來讓大家在自己手機上點一次。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【LINE 第1個功能，約 4 分鐘】</a:t>
            </a:r>
          </a:p>
          <a:p>
            <a:r>
              <a:t>・LINE 的字體大小是「LINE 裡面」的設定，跟剛才手機的設定是兩件事，要說清楚。</a:t>
            </a:r>
          </a:p>
          <a:p>
            <a:r>
              <a:t>・示範時把手機投影或用大螢幕；沒有投影設備就走到每桌示範一次。</a:t>
            </a:r>
          </a:p>
          <a:p>
            <a:r>
              <a:t>・做完問：「現在看得比較清楚的請舉手。」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【約 6 分鐘】</a:t>
            </a:r>
          </a:p>
          <a:p>
            <a:r>
              <a:t>・這是聾人最強的功能，值得多花時間。</a:t>
            </a:r>
          </a:p>
          <a:p>
            <a:r>
              <a:t>・現場請兩位學員面對面實際撥一次視訊，投影出來給全班看「光線好」與「背光」的差別。</a:t>
            </a:r>
          </a:p>
          <a:p>
            <a:r>
              <a:t>・示範背光的畫面（站在窗前）→ 大家會馬上懂為什麼看不到手。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【約 8 分鐘】</a:t>
            </a:r>
          </a:p>
          <a:p>
            <a:r>
              <a:t>・請每位學員現在就做一件事：把「身心障礙證明」拍照存進 Keep。</a:t>
            </a:r>
          </a:p>
          <a:p>
            <a:r>
              <a:t>・順便提醒：Keep 裡有個人資料，手機一定要設鎖（密碼或指紋）。</a:t>
            </a:r>
          </a:p>
          <a:p>
            <a:r>
              <a:t>・如果時間不夠，這頁只做 Keep 一項，相簿和記事本口頭帶過。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【</a:t>
            </a:r>
            <a:r>
              <a:rPr dirty="0" err="1"/>
              <a:t>實作</a:t>
            </a:r>
            <a:r>
              <a:rPr dirty="0"/>
              <a:t> 10 分鐘，09:35 </a:t>
            </a:r>
            <a:r>
              <a:rPr dirty="0" err="1"/>
              <a:t>前結束</a:t>
            </a:r>
            <a:r>
              <a:rPr dirty="0"/>
              <a:t>】</a:t>
            </a:r>
          </a:p>
          <a:p>
            <a:r>
              <a:rPr dirty="0"/>
              <a:t>・</a:t>
            </a:r>
            <a:r>
              <a:rPr dirty="0" err="1"/>
              <a:t>助教巡場，每桌至少確認一次</a:t>
            </a:r>
            <a:r>
              <a:rPr dirty="0"/>
              <a:t>。</a:t>
            </a:r>
          </a:p>
          <a:p>
            <a:r>
              <a:rPr dirty="0"/>
              <a:t>・</a:t>
            </a:r>
            <a:r>
              <a:rPr dirty="0" err="1"/>
              <a:t>常見卡點：找不到「三條線」按鈕、群組通知關閉、相機權限沒開</a:t>
            </a:r>
            <a:r>
              <a:rPr dirty="0"/>
              <a:t>。</a:t>
            </a:r>
          </a:p>
          <a:p>
            <a:r>
              <a:rPr dirty="0"/>
              <a:t>・</a:t>
            </a:r>
            <a:r>
              <a:rPr dirty="0" err="1"/>
              <a:t>時間到就收，沒做完的中場休息再補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【約 5 分鐘】</a:t>
            </a:r>
          </a:p>
          <a:p>
            <a:r>
              <a:t>・截圖是今天最跨單元的技能，第二單元「防詐」會一直用到，所以現在務必練到會。</a:t>
            </a:r>
          </a:p>
          <a:p>
            <a:r>
              <a:t>・全班一起按一次，請大家把截好的圖打開來看。</a:t>
            </a:r>
          </a:p>
          <a:p>
            <a:r>
              <a:t>・手指按不同步是最常見的失敗原因，示範「兩指一起放上去、同時壓」。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【約 6 </a:t>
            </a:r>
            <a:r>
              <a:rPr dirty="0" err="1"/>
              <a:t>分鐘</a:t>
            </a:r>
            <a:r>
              <a:rPr dirty="0"/>
              <a:t>】</a:t>
            </a:r>
          </a:p>
          <a:p>
            <a:r>
              <a:rPr dirty="0"/>
              <a:t>・「</a:t>
            </a:r>
            <a:r>
              <a:rPr dirty="0" err="1"/>
              <a:t>拍下來再放大」是長輩馬上能用的招，示範用藥袋或健保卡（注意個資，用自己的</a:t>
            </a:r>
            <a:r>
              <a:rPr dirty="0"/>
              <a:t>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【約 4 </a:t>
            </a:r>
            <a:r>
              <a:rPr dirty="0" err="1"/>
              <a:t>分鐘，實際操作</a:t>
            </a:r>
            <a:r>
              <a:rPr dirty="0"/>
              <a:t>】</a:t>
            </a:r>
          </a:p>
          <a:p>
            <a:r>
              <a:rPr dirty="0"/>
              <a:t>・</a:t>
            </a:r>
            <a:r>
              <a:rPr dirty="0" err="1"/>
              <a:t>這頁的目標不是「多拍照</a:t>
            </a:r>
            <a:r>
              <a:rPr dirty="0"/>
              <a:t>」，</a:t>
            </a:r>
            <a:r>
              <a:rPr dirty="0" err="1"/>
              <a:t>是「找得到</a:t>
            </a:r>
            <a:r>
              <a:rPr dirty="0"/>
              <a:t>」。</a:t>
            </a:r>
            <a:r>
              <a:rPr dirty="0" err="1"/>
              <a:t>長輩手機裡常有上千張照片，全部混在一起</a:t>
            </a:r>
            <a:r>
              <a:rPr dirty="0"/>
              <a:t>。</a:t>
            </a:r>
          </a:p>
          <a:p>
            <a:r>
              <a:rPr dirty="0"/>
              <a:t>・</a:t>
            </a:r>
            <a:r>
              <a:rPr dirty="0" err="1"/>
              <a:t>為什麼要拍：看病（醫師寫的字看不懂，拍給家人看</a:t>
            </a:r>
            <a:r>
              <a:rPr dirty="0"/>
              <a:t>）、</a:t>
            </a:r>
            <a:r>
              <a:rPr dirty="0" err="1"/>
              <a:t>洽公（承辦人資料、號碼牌</a:t>
            </a:r>
            <a:r>
              <a:rPr dirty="0"/>
              <a:t>）、</a:t>
            </a:r>
          </a:p>
          <a:p>
            <a:r>
              <a:rPr dirty="0"/>
              <a:t>　</a:t>
            </a:r>
            <a:r>
              <a:rPr dirty="0" err="1"/>
              <a:t>買東西（收據、保證書，壞掉換貨才有證據</a:t>
            </a:r>
            <a:r>
              <a:rPr dirty="0"/>
              <a:t>）、</a:t>
            </a:r>
            <a:r>
              <a:rPr dirty="0" err="1"/>
              <a:t>出門（站牌時刻表、停車位置</a:t>
            </a:r>
            <a:r>
              <a:rPr dirty="0"/>
              <a:t>）。</a:t>
            </a:r>
            <a:r>
              <a:rPr dirty="0" err="1"/>
              <a:t>可口頭補充</a:t>
            </a:r>
            <a:r>
              <a:rPr dirty="0"/>
              <a:t>。</a:t>
            </a:r>
          </a:p>
          <a:p>
            <a:r>
              <a:rPr dirty="0"/>
              <a:t>・</a:t>
            </a:r>
            <a:r>
              <a:rPr dirty="0" err="1"/>
              <a:t>平台路徑（僅供參考，版本會變</a:t>
            </a:r>
            <a:r>
              <a:rPr dirty="0"/>
              <a:t>）：</a:t>
            </a:r>
          </a:p>
          <a:p>
            <a:r>
              <a:rPr dirty="0"/>
              <a:t>　iPhone </a:t>
            </a:r>
            <a:r>
              <a:rPr dirty="0" err="1"/>
              <a:t>照片</a:t>
            </a:r>
            <a:r>
              <a:rPr dirty="0"/>
              <a:t> App →「</a:t>
            </a:r>
            <a:r>
              <a:rPr dirty="0" err="1"/>
              <a:t>相簿</a:t>
            </a:r>
            <a:r>
              <a:rPr dirty="0"/>
              <a:t>」→ </a:t>
            </a:r>
            <a:r>
              <a:rPr dirty="0" err="1"/>
              <a:t>左上角建立／新增相簿；iOS</a:t>
            </a:r>
            <a:r>
              <a:rPr dirty="0"/>
              <a:t> 18 </a:t>
            </a:r>
            <a:r>
              <a:rPr dirty="0" err="1"/>
              <a:t>介面改過，找不到就走投影片上的做法</a:t>
            </a:r>
            <a:r>
              <a:rPr dirty="0"/>
              <a:t>。</a:t>
            </a:r>
          </a:p>
          <a:p>
            <a:r>
              <a:rPr dirty="0"/>
              <a:t>　Android Google </a:t>
            </a:r>
            <a:r>
              <a:rPr dirty="0" err="1"/>
              <a:t>相簿</a:t>
            </a:r>
            <a:r>
              <a:rPr dirty="0"/>
              <a:t> →「</a:t>
            </a:r>
            <a:r>
              <a:rPr dirty="0" err="1"/>
              <a:t>收藏／相簿</a:t>
            </a:r>
            <a:r>
              <a:rPr dirty="0"/>
              <a:t>」→ </a:t>
            </a:r>
            <a:r>
              <a:rPr dirty="0" err="1"/>
              <a:t>建立相簿；Samsung</a:t>
            </a:r>
            <a:r>
              <a:rPr dirty="0"/>
              <a:t> </a:t>
            </a:r>
            <a:r>
              <a:rPr dirty="0" err="1"/>
              <a:t>圖庫</a:t>
            </a:r>
            <a:r>
              <a:rPr dirty="0"/>
              <a:t> →「</a:t>
            </a:r>
            <a:r>
              <a:rPr dirty="0" err="1"/>
              <a:t>相簿</a:t>
            </a:r>
            <a:r>
              <a:rPr dirty="0"/>
              <a:t>」→ ＋。</a:t>
            </a:r>
          </a:p>
          <a:p>
            <a:r>
              <a:rPr dirty="0"/>
              <a:t>・</a:t>
            </a:r>
            <a:r>
              <a:rPr dirty="0" err="1"/>
              <a:t>現場只要求完成第一個「醫療」相簿，其他三個當回家作業，避免超時</a:t>
            </a:r>
            <a:r>
              <a:rPr dirty="0"/>
              <a:t>。</a:t>
            </a:r>
          </a:p>
          <a:p>
            <a:r>
              <a:rPr dirty="0"/>
              <a:t>・</a:t>
            </a:r>
            <a:r>
              <a:rPr dirty="0" err="1"/>
              <a:t>提醒：把身障證明存進相簿或</a:t>
            </a:r>
            <a:r>
              <a:rPr dirty="0"/>
              <a:t> Keep </a:t>
            </a:r>
            <a:r>
              <a:rPr dirty="0" err="1"/>
              <a:t>之後，一定要幫手機設鎖，這點務必講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【約 6 分鐘】</a:t>
            </a:r>
          </a:p>
          <a:p>
            <a:r>
              <a:t>・現場實作：全班一起查「從協會到新竹火車站」的公車路線。</a:t>
            </a:r>
          </a:p>
          <a:p>
            <a:r>
              <a:t>・強調公車路線圖上的「幾號公車、哪一站下車」用文字顯示，聾人不必問人。</a:t>
            </a:r>
          </a:p>
          <a:p>
            <a:r>
              <a:t>・街景這一招對聾人特別有用：不必開口問路。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【約 4 分鐘】</a:t>
            </a:r>
          </a:p>
          <a:p>
            <a:r>
              <a:t>・請每位學員「現在」就把家的地址存起來，這件事在第三單元求助時會用到。</a:t>
            </a:r>
          </a:p>
          <a:p>
            <a:r>
              <a:t>・注意隱私：不要把家的位置分享到公開群組。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【約 6 分鐘】</a:t>
            </a:r>
          </a:p>
          <a:p>
            <a:r>
              <a:t>・重點放在右邊 LINE 的做法，步驟少、長輩容易記。</a:t>
            </a:r>
          </a:p>
          <a:p>
            <a:r>
              <a:t>・全班互相傳一次位置給旁邊的人，確認對方真的看到地圖。</a:t>
            </a:r>
          </a:p>
          <a:p>
            <a:r>
              <a:t>・這一頁在第三單元「迷路情境」會再用到一次。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【約 8 分鐘】</a:t>
            </a:r>
          </a:p>
          <a:p>
            <a:r>
              <a:t>・現場放一段短影片，示範「有字幕／沒字幕」、「原速／0.5倍」的差別，感受最直接。</a:t>
            </a:r>
          </a:p>
          <a:p>
            <a:r>
              <a:t>・提醒自動翻譯字幕的錯誤率，尤其醫療與金錢資訊不能只信字幕。</a:t>
            </a:r>
          </a:p>
          <a:p>
            <a:r>
              <a:t>・可以推薦協會的頻道或粉絲頁（請主辦單位提供正確名稱後補上）。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【轉場，約 1 分鐘】</a:t>
            </a:r>
          </a:p>
          <a:p>
            <a:r>
              <a:t>・這頁停一下，讓大家把手機放下、抬頭看。</a:t>
            </a:r>
          </a:p>
          <a:p>
            <a:r>
              <a:t>・可以問：「去看病、去銀行，最怕什麼？」用學員的回答帶進下一段。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【約 5 </a:t>
            </a:r>
            <a:r>
              <a:rPr dirty="0" err="1"/>
              <a:t>分鐘</a:t>
            </a:r>
            <a:r>
              <a:rPr dirty="0"/>
              <a:t>】</a:t>
            </a:r>
          </a:p>
          <a:p>
            <a:r>
              <a:rPr dirty="0"/>
              <a:t>・</a:t>
            </a:r>
            <a:r>
              <a:rPr dirty="0" err="1"/>
              <a:t>這是全場「最低技術、最高效果」的一招，請務必留時間讓每個人真的打好那四句</a:t>
            </a:r>
            <a:r>
              <a:rPr dirty="0"/>
              <a:t>。</a:t>
            </a:r>
          </a:p>
          <a:p>
            <a:r>
              <a:rPr dirty="0"/>
              <a:t>・</a:t>
            </a:r>
            <a:r>
              <a:rPr dirty="0" err="1"/>
              <a:t>示範：老師扮演櫃檯人員，請一位學員拿手機來「筆談</a:t>
            </a:r>
            <a:r>
              <a:rPr dirty="0"/>
              <a:t>」，</a:t>
            </a:r>
            <a:r>
              <a:rPr dirty="0" err="1"/>
              <a:t>全班看流程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【約 6 分鐘】</a:t>
            </a:r>
          </a:p>
          <a:p>
            <a:r>
              <a:t>・現場示範一次：老師講一句話，請學員用手機轉成文字，投影出來看準不準。</a:t>
            </a:r>
          </a:p>
          <a:p>
            <a:r>
              <a:t>・故意講快一點、含糊一點，讓大家看到錯字 → 建立「要再確認」的觀念。</a:t>
            </a:r>
          </a:p>
          <a:p>
            <a:r>
              <a:t>・如果現場網路不好，先下載離線語言包（Android 即時轉錄可離線）。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【約 5 </a:t>
            </a:r>
            <a:r>
              <a:rPr dirty="0" err="1"/>
              <a:t>分鐘</a:t>
            </a:r>
            <a:r>
              <a:rPr dirty="0"/>
              <a:t>】</a:t>
            </a:r>
          </a:p>
          <a:p>
            <a:r>
              <a:rPr dirty="0"/>
              <a:t>・</a:t>
            </a:r>
            <a:r>
              <a:rPr dirty="0" err="1"/>
              <a:t>這頁請主辦單位事先確認最新服務時間與註冊流程，現場才不會講錯</a:t>
            </a:r>
            <a:r>
              <a:rPr dirty="0"/>
              <a:t>。</a:t>
            </a:r>
          </a:p>
          <a:p>
            <a:r>
              <a:rPr dirty="0"/>
              <a:t>・</a:t>
            </a:r>
            <a:r>
              <a:rPr dirty="0" err="1"/>
              <a:t>如果現場有</a:t>
            </a:r>
            <a:r>
              <a:rPr dirty="0"/>
              <a:t> </a:t>
            </a:r>
            <a:r>
              <a:rPr dirty="0" err="1"/>
              <a:t>Wi-Fi，可以帶一位學員實際註冊一次示範</a:t>
            </a:r>
            <a:r>
              <a:rPr dirty="0"/>
              <a:t>。</a:t>
            </a:r>
          </a:p>
          <a:p>
            <a:r>
              <a:rPr dirty="0"/>
              <a:t>・</a:t>
            </a:r>
            <a:r>
              <a:rPr dirty="0" err="1"/>
              <a:t>強調：這是「代替打電話」的工具，不是取代現場手語翻譯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TW" altLang="en-US" b="0" u="none" strike="noStrike" dirty="0"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【約 2 </a:t>
            </a:r>
            <a:r>
              <a:rPr dirty="0" err="1"/>
              <a:t>分鐘，補充頁</a:t>
            </a:r>
            <a:r>
              <a:rPr dirty="0"/>
              <a:t>】</a:t>
            </a:r>
          </a:p>
          <a:p>
            <a:r>
              <a:rPr dirty="0"/>
              <a:t>・</a:t>
            </a:r>
            <a:r>
              <a:rPr dirty="0" err="1"/>
              <a:t>這頁是譯聯網的說明圖，帶大家看重點就好，不要逐字念</a:t>
            </a:r>
            <a:r>
              <a:rPr dirty="0"/>
              <a:t>。</a:t>
            </a:r>
          </a:p>
          <a:p>
            <a:r>
              <a:rPr dirty="0"/>
              <a:t>・</a:t>
            </a:r>
            <a:r>
              <a:rPr dirty="0" err="1"/>
              <a:t>重點對比：VRS</a:t>
            </a:r>
            <a:r>
              <a:rPr dirty="0"/>
              <a:t> </a:t>
            </a:r>
            <a:r>
              <a:rPr dirty="0" err="1"/>
              <a:t>是政府的服務、譯聯網是民間（TASLI）的服務；兩個都先申請好，一個不通就換另一個</a:t>
            </a:r>
            <a:r>
              <a:rPr dirty="0"/>
              <a:t>。</a:t>
            </a:r>
          </a:p>
          <a:p>
            <a:r>
              <a:rPr dirty="0"/>
              <a:t>・</a:t>
            </a:r>
            <a:r>
              <a:rPr dirty="0" err="1"/>
              <a:t>提醒：兩者都要事先註冊、驗證身分，急用時才來不及</a:t>
            </a:r>
            <a:r>
              <a:rPr dirty="0"/>
              <a:t>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【約 5 分鐘】</a:t>
            </a:r>
          </a:p>
          <a:p>
            <a:r>
              <a:t>・電話與時間整理自新竹市政府社會處與新竹市聲暉協會公告，上課前請再查核一次。</a:t>
            </a:r>
          </a:p>
          <a:p>
            <a:r>
              <a:t>・這是全場最該「抄下來」的一頁，請放慢速度，並提供紙本讓大家抄。</a:t>
            </a:r>
          </a:p>
          <a:p>
            <a:r>
              <a:t>・可用場合：就醫、教育訓練、福利活動、警政、司法、公共服務單位洽公。</a:t>
            </a:r>
          </a:p>
          <a:p>
            <a:r>
              <a:t>・建議協會事先印成小卡，連同課後餐盒一起發。</a:t>
            </a:r>
          </a:p>
          <a:p>
            <a:r>
              <a:t>・提醒：7 天前申請是關鍵，長輩常常臨時才想到。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【實作 5 分鐘，10:25 前結束，接休息】</a:t>
            </a:r>
          </a:p>
          <a:p>
            <a:r>
              <a:t>・助教確認「電話有沒有真的存進通訊錄」，這是最容易漏掉的一步。</a:t>
            </a:r>
          </a:p>
          <a:p>
            <a:r>
              <a:t>・做完宣布休息 10 分鐘，並在螢幕上留下休息結束時間。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【10:25–10:35】</a:t>
            </a:r>
          </a:p>
          <a:p>
            <a:r>
              <a:t>・螢幕保持這一頁，並在白板寫下「10:35 開始」。</a:t>
            </a:r>
          </a:p>
          <a:p>
            <a:r>
              <a:t>・利用休息時間處理個別問題（手機太舊、找不到設定）。</a:t>
            </a:r>
          </a:p>
          <a:p>
            <a:r>
              <a:t>・下半場開始前先做一次簡短提問回顧，把注意力拉回來。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【10:35 開始，單元二共 55 分鐘】</a:t>
            </a:r>
          </a:p>
          <a:p>
            <a:r>
              <a:t>建議配速：為什麼要學 5分 → 儀錶板 10分 → 五大手法 15分 → LINE詐騙與111 8分 → 三不與查證 7分 → 演練 8分 → 收尾 2分。</a:t>
            </a:r>
          </a:p>
          <a:p>
            <a:r>
              <a:t>這一段語氣要嚴肅但不要嚇人，重點是「有方法可以擋」。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【約 5 分鐘】</a:t>
            </a:r>
          </a:p>
          <a:p>
            <a:r>
              <a:t>・語氣重點：被騙不是丟臉的事，是對方有備而來。降低羞恥感，學員才願意在被騙後求助。</a:t>
            </a:r>
          </a:p>
          <a:p>
            <a:r>
              <a:t>・可以問：「有沒有人收到過奇怪的訊息？」讓學員分享，馬上有共鳴。</a:t>
            </a:r>
          </a:p>
          <a:p>
            <a:r>
              <a:t>・最後那句「催你趕快就是詐騙」，請全班跟著打一次手語。</a:t>
            </a:r>
          </a:p>
          <a:p>
            <a:r>
              <a:t>・可補充的最新數字：2025 年全台詐騙財損接近 900 億元（165 儀錶板統計，2026/09 查閱報導）。</a:t>
            </a:r>
          </a:p>
          <a:p>
            <a:r>
              <a:t>・另一重點：假物流（假包裹）網站數量比過去暴增約 86%，頁面做得跟官網幾乎一樣，</a:t>
            </a:r>
          </a:p>
          <a:p>
            <a:r>
              <a:t>　常用「包裹異常」「需補繳費用」誘你點連結——這類簡訊最容易打到長輩。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【約 5 分鐘】</a:t>
            </a:r>
          </a:p>
          <a:p>
            <a:r>
              <a:t>・現場打開網站投影，直接看「今天」的數字，衝擊力最強。</a:t>
            </a:r>
          </a:p>
          <a:p>
            <a:r>
              <a:t>・如果沒有網路，事先截圖三張（首頁數字、手法排行、新竹市）放在口袋頁備用。</a:t>
            </a:r>
          </a:p>
          <a:p>
            <a:r>
              <a:t>・強調這是政府官方網站，不是傳言。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【實作 3-4 分鐘】</a:t>
            </a:r>
          </a:p>
          <a:p>
            <a:r>
              <a:t>・輸入網址對長輩最難，請把網址寫在白板上，字寫大。</a:t>
            </a:r>
          </a:p>
          <a:p>
            <a:r>
              <a:t>・提醒：不要輸入錯字，錯字可能連到假網站（這本身就是防詐教學）。</a:t>
            </a:r>
          </a:p>
          <a:p>
            <a:r>
              <a:t>・做不出來的人，助教直接幫他加。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【約 4 分鐘】</a:t>
            </a:r>
          </a:p>
          <a:p>
            <a:r>
              <a:t>・注意：排名已經跟前兩年不同。現在件數第一名是「網路購物詐騙」，不再是假投資。</a:t>
            </a:r>
          </a:p>
          <a:p>
            <a:r>
              <a:t>　依 165 儀錶板近月統計，件數序為 網購 → 假投資 → 假交友(投資詐財) → 色情應召詐財 → 假買家騙賣家。</a:t>
            </a:r>
          </a:p>
          <a:p>
            <a:r>
              <a:t>・假投資件數不是第一，但單筆金額最大、財損最嚴重，這點要講清楚，不要讓學員以為投資詐騙不嚴重了。</a:t>
            </a:r>
          </a:p>
          <a:p>
            <a:r>
              <a:t>・先問大家猜第一名是什麼，再揭曉，注意力最集中。</a:t>
            </a:r>
          </a:p>
          <a:p>
            <a:r>
              <a:t>・上課當天務必上 165dashboard.tw 對一次當月排名，有變就直接改這一頁。</a:t>
            </a:r>
          </a:p>
          <a:p>
            <a:r>
              <a:t>・第 4 名「色情應召詐財」若現場不方便細講，一句帶過即可。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【約 4 分鐘】</a:t>
            </a:r>
          </a:p>
          <a:p>
            <a:r>
              <a:t>・「先讓你賺一點小錢」是關鍵套路，一定要講，因為很多人就是因為第一次真的領到錢才上鉤。</a:t>
            </a:r>
          </a:p>
          <a:p>
            <a:r>
              <a:t>・請學員舉手：有沒有被拉進投資群組的？現場多半有。教他們「直接退出、封鎖」。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【約 4 分鐘】</a:t>
            </a:r>
          </a:p>
          <a:p>
            <a:r>
              <a:t>・右邊「假買家」是聾人長輩最容易中的，因為對話全程用文字，看起來很客氣、很專業。</a:t>
            </a:r>
          </a:p>
          <a:p>
            <a:r>
              <a:t>・關鍵句反覆講：「沒有任何買家需要你的驗證碼。」</a:t>
            </a:r>
          </a:p>
          <a:p>
            <a:r>
              <a:t>・可請學員複述一次這句話（用手語打出來）。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【約 4 分鐘】</a:t>
            </a:r>
          </a:p>
          <a:p>
            <a:r>
              <a:t>・假交友對獨居長輩傷害最大，語氣要溫和，不要讓人覺得被責備。</a:t>
            </a:r>
          </a:p>
          <a:p>
            <a:r>
              <a:t>・提供替代方案：想交朋友，來協會的活動，安全又真實。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【約 5 分鐘】</a:t>
            </a:r>
          </a:p>
          <a:p>
            <a:r>
              <a:t>・第二項「視訊確認」是聾人的優勢，要說得驕傲一點：我們本來就習慣視訊。</a:t>
            </a:r>
          </a:p>
          <a:p>
            <a:r>
              <a:t>・第四格「共同動作」四步驟，請全班一起用手語打一遍，加深記憶。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【約 4 分鐘】</a:t>
            </a:r>
          </a:p>
          <a:p>
            <a:r>
              <a:t>・這是本單元最容易記、最好用的一招，值得單獨一頁。</a:t>
            </a:r>
          </a:p>
          <a:p>
            <a:r>
              <a:t>・請學員現在打開簡訊匣，找找看有沒有 111 開頭的簡訊，對照三個特徵。</a:t>
            </a:r>
          </a:p>
          <a:p>
            <a:r>
              <a:t>・提醒：LINE 訊息沒有 111 這個機制，LINE 上自稱政府的一律懷疑。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【約 4 分鐘】</a:t>
            </a:r>
          </a:p>
          <a:p>
            <a:r>
              <a:t>・這一頁請全班站起來，用手語一起打三次「不點、不給、不轉」。</a:t>
            </a:r>
          </a:p>
          <a:p>
            <a:r>
              <a:t>・肢體記憶比文字記憶有效，尤其對長輩。</a:t>
            </a:r>
          </a:p>
          <a:p>
            <a:r>
              <a:t>・告訴他們：這三句話就算今天其他都忘了，也要記住。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【約 4 分鐘】</a:t>
            </a:r>
          </a:p>
          <a:p>
            <a:r>
              <a:t>・協會電話與 LINE ID 取自本次活動海報，請主辦單位確認無誤。</a:t>
            </a:r>
          </a:p>
          <a:p>
            <a:r>
              <a:t>・強調「傳截圖去問」是聾人最方便的查證方式，比打電話容易。</a:t>
            </a:r>
          </a:p>
          <a:p>
            <a:r>
              <a:t>・最後一項常被忽略：騙徒給的電話一定是同夥。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【演練 1，約 3 分鐘】</a:t>
            </a:r>
          </a:p>
          <a:p>
            <a:r>
              <a:t>・先讓大家舉手投票：真的舉左手、假的舉右手。</a:t>
            </a:r>
          </a:p>
          <a:p>
            <a:r>
              <a:t>・不要馬上給答案，請一位學員說出「哪裡怪」，再翻右邊。</a:t>
            </a:r>
          </a:p>
          <a:p>
            <a:r>
              <a:t>・右邊逐條對照剛才教過的判斷點，形成閉環。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【演練 2，約 3 分鐘】</a:t>
            </a:r>
          </a:p>
          <a:p>
            <a:r>
              <a:t>・這一題現場反應通常最激動，因為很多人真的遇過。</a:t>
            </a:r>
          </a:p>
          <a:p>
            <a:r>
              <a:t>・重點：不是不相信女兒，是不相信「這個帳號」。</a:t>
            </a:r>
          </a:p>
          <a:p>
            <a:r>
              <a:t>・示範一次「發起視訊」的手指動作，馬上連結到單元一學過的 LINE 視訊。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【演練 3，約 3 分鐘】</a:t>
            </a:r>
          </a:p>
          <a:p>
            <a:r>
              <a:t>・示範 LINE 群組「退出、封鎖、檢舉」的實際操作步驟。</a:t>
            </a:r>
          </a:p>
          <a:p>
            <a:r>
              <a:t>・請現場正在某個投資群組裡的人，當場退出（很有效）。</a:t>
            </a:r>
          </a:p>
          <a:p>
            <a:r>
              <a:t>・演練結束後，回頭複習「三不」，收束本單元。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【約 3 分鐘，11:30 前結束】</a:t>
            </a:r>
          </a:p>
          <a:p>
            <a:r>
              <a:t>・助教確認每位學員都加了 165 LINE 好友。</a:t>
            </a:r>
          </a:p>
          <a:p>
            <a:r>
              <a:t>・宣布進入最後一個單元，並提醒「這一段可能真的救命，請專心 25 分鐘」。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【11:30 開始，單元三共 25 分鐘】</a:t>
            </a:r>
          </a:p>
          <a:p>
            <a:r>
              <a:t>建議配速：總覽 2分 → 110 App 5分 → 119 App 4分 → 簡訊報案 3分 → 4句公式 5分 → 位置與醫療資訊 4分 → 情境演練 2分。</a:t>
            </a:r>
          </a:p>
          <a:p>
            <a:r>
              <a:t>語氣：這一段是保命，不必嚇人，但要讓大家「現在就裝好」。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【約 3 分鐘】</a:t>
            </a:r>
          </a:p>
          <a:p>
            <a:r>
              <a:t>・先給地圖，再講細節，長輩才不會混亂。</a:t>
            </a:r>
          </a:p>
          <a:p>
            <a:r>
              <a:t>・強調第 1、2 個要「今天就裝」，第 3 個要「今天就存」。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【約 5 分鐘】</a:t>
            </a:r>
          </a:p>
          <a:p>
            <a:r>
              <a:t>・帶全班一起安裝，助教巡場。這是本單元最重要的實作。</a:t>
            </a:r>
          </a:p>
          <a:p>
            <a:r>
              <a:t>・特別強調「事先填好個人資訊與聽語障狀況」——出事時警方一看就知道要用文字。</a:t>
            </a:r>
          </a:p>
          <a:p>
            <a:r>
              <a:t>・示範打開 App 的畫面（用自己的手機投影），但不要真的送出報案。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【約 4 分鐘】</a:t>
            </a:r>
          </a:p>
          <a:p>
            <a:r>
              <a:t>・和 110 App 對照講：警察找 110，救護車與火災找 119。</a:t>
            </a:r>
          </a:p>
          <a:p>
            <a:r>
              <a:t>・請大家把兩個 App 放在同一個資料夾，命名「求救」。</a:t>
            </a:r>
          </a:p>
          <a:p>
            <a:r>
              <a:t>・提醒填寫個人資料（疾病、用藥、聽語障）——救護人員到場就知道怎麼溝通。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【約 3 分鐘】</a:t>
            </a:r>
          </a:p>
          <a:p>
            <a:r>
              <a:t>・請全班「現在」就存這支號碼，助教逐一確認。</a:t>
            </a:r>
          </a:p>
          <a:p>
            <a:r>
              <a:t>・特別說明只能純文字：很多人會想傳照片，傳不出去會慌。</a:t>
            </a:r>
          </a:p>
          <a:p>
            <a:r>
              <a:t>・順便說明：報案後警方可能用簡訊回覆你，記得看簡訊。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【約 5 分鐘】</a:t>
            </a:r>
          </a:p>
          <a:p>
            <a:r>
              <a:t>・建議把第 1 句先打好存在備忘錄或 LINE Keep，緊急時複製就好，可以省 30 秒。</a:t>
            </a:r>
          </a:p>
          <a:p>
            <a:r>
              <a:t>・這是本單元的核心技能，請現場演練：每人在備忘錄打出自己的第 1 句。</a:t>
            </a:r>
          </a:p>
          <a:p>
            <a:r>
              <a:t>・強調「請用簡訊回我」這一句，否則警方會回電話，你接不到。</a:t>
            </a:r>
          </a:p>
          <a:p>
            <a:r>
              <a:t>・地址要有門牌號碼＋地標；沒有門牌時，用 Google 地圖抓位置再分享。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【約 4 分鐘】</a:t>
            </a:r>
          </a:p>
          <a:p>
            <a:r>
              <a:t>・請全班現在打開定位並確認，這一步常被忽略，卻決定救援能不能找到人。</a:t>
            </a:r>
          </a:p>
          <a:p>
            <a:r>
              <a:t>・隱私顧慮：可以說明「定位打開不等於被監視」，只有你按下報案才會送出。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【約 4 分鐘】</a:t>
            </a:r>
          </a:p>
          <a:p>
            <a:r>
              <a:t>・這頁最容易被感動也最容易被忽略，請認真講一次「為什麼」：昏倒時你不能溝通。</a:t>
            </a:r>
          </a:p>
          <a:p>
            <a:r>
              <a:t>・重點是那句「我是聽障人士，請用文字溝通」，一定要寫進去。</a:t>
            </a:r>
          </a:p>
          <a:p>
            <a:r>
              <a:t>・做不完可列為回家作業，並請協會後續協助。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【約 4 分鐘】</a:t>
            </a:r>
          </a:p>
          <a:p>
            <a:r>
              <a:t>・一題一題來，先請學員舉手回答，再揭示做法。</a:t>
            </a:r>
          </a:p>
          <a:p>
            <a:r>
              <a:t>・第③題特別強調「先逃再報案」，不要在火場裡打字。</a:t>
            </a:r>
          </a:p>
          <a:p>
            <a:r>
              <a:t>・第④題連結第二單元，形成整場課程的呼應。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【11:55 開始收尾，約 3 分鐘】</a:t>
            </a:r>
          </a:p>
          <a:p>
            <a:r>
              <a:t>・逐項請大家舉手：「做到的請舉手」，現場就知道還缺什麼。</a:t>
            </a:r>
          </a:p>
          <a:p>
            <a:r>
              <a:t>・沒做完的項目寫在紙上帶回家，並告知協會可以協助。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【約 2 分鐘】</a:t>
            </a:r>
          </a:p>
          <a:p>
            <a:r>
              <a:t>・建議協會把這一頁印成 A5 小卡，隨餐盒發給每位學員。</a:t>
            </a:r>
          </a:p>
          <a:p>
            <a:r>
              <a:t>・提醒大家「現在」拍照存進 Keep，回家找得到。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【最後 1 分鐘】</a:t>
            </a:r>
          </a:p>
          <a:p>
            <a:r>
              <a:t>・不要匆匆結束，留 30 秒讓大家拍最後這一頁。</a:t>
            </a:r>
          </a:p>
          <a:p>
            <a:r>
              <a:t>・提醒下次活動資訊（若有），並謝謝手語翻譯員與同步聽打員。</a:t>
            </a:r>
          </a:p>
          <a:p>
            <a:r>
              <a:t>・領餐盒的位置與順序先說清楚，避免擁擠。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165dashboard.tw/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F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-182880" y="3977639"/>
            <a:ext cx="12557455" cy="3154680"/>
          </a:xfrm>
          <a:prstGeom prst="roundRect">
            <a:avLst>
              <a:gd name="adj" fmla="val 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777240"/>
            <a:ext cx="4114800" cy="502920"/>
          </a:xfrm>
          <a:prstGeom prst="roundRect">
            <a:avLst>
              <a:gd name="adj" fmla="val 50000"/>
            </a:avLst>
          </a:prstGeom>
          <a:solidFill>
            <a:srgbClr val="E8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00" b="1">
                <a:solidFill>
                  <a:srgbClr val="4A3208"/>
                </a:solidFill>
                <a:latin typeface="Microsoft JhengHei"/>
                <a:ea typeface="Microsoft JhengHei"/>
                <a:cs typeface="Microsoft JhengHei"/>
              </a:rPr>
              <a:t>第二場 照顧者紓壓活動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08760"/>
            <a:ext cx="11057839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60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手機APP運用課程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246120"/>
            <a:ext cx="8595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E8A33C"/>
                </a:solidFill>
                <a:latin typeface="Microsoft JhengHei"/>
                <a:ea typeface="Microsoft JhengHei"/>
                <a:cs typeface="Microsoft JhengHei"/>
              </a:rPr>
              <a:t>日常好用APP ｜ 防詐騙 ｜ 緊急求助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343400"/>
            <a:ext cx="6035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115 年 9 月 13 </a:t>
            </a:r>
            <a:r>
              <a:rPr sz="2000" b="0" i="0" dirty="0" err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日（日</a:t>
            </a:r>
            <a:r>
              <a:rPr sz="2000" b="0" i="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818888"/>
            <a:ext cx="6035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上午 9:00 ～ 12:00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294375"/>
            <a:ext cx="6035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 dirty="0" err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新竹市身心障礙福利服務大樓</a:t>
            </a:r>
            <a:r>
              <a:rPr sz="2000" b="0" i="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 8樓 </a:t>
            </a:r>
            <a:r>
              <a:rPr sz="2000" b="0" i="0" dirty="0" err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一般教室</a:t>
            </a:r>
            <a:r>
              <a:rPr sz="2000" b="0" i="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(一)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769863"/>
            <a:ext cx="6035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 dirty="0" err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新竹市東區竹蓮街</a:t>
            </a:r>
            <a:r>
              <a:rPr sz="2000" b="0" i="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 6 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4343400"/>
            <a:ext cx="4675327" cy="15175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 i="0" dirty="0" err="1">
                <a:solidFill>
                  <a:srgbClr val="E8A33C"/>
                </a:solidFill>
                <a:latin typeface="Microsoft JhengHei"/>
                <a:ea typeface="Microsoft JhengHei"/>
                <a:cs typeface="Microsoft JhengHei"/>
              </a:rPr>
              <a:t>主辦</a:t>
            </a:r>
            <a:endParaRPr sz="1600" b="1" i="0" dirty="0">
              <a:solidFill>
                <a:srgbClr val="E8A33C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200" b="1" i="0" dirty="0" err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社團法人新竹市聾人協會</a:t>
            </a:r>
            <a:endParaRPr lang="en-US" sz="2200" b="1" i="0" dirty="0">
              <a:solidFill>
                <a:srgbClr val="FFFFFF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altLang="en-US" sz="1600" b="1" i="0" dirty="0">
                <a:solidFill>
                  <a:srgbClr val="E8A33C"/>
                </a:solidFill>
                <a:latin typeface="Microsoft JhengHei"/>
                <a:ea typeface="Microsoft JhengHei"/>
                <a:cs typeface="Microsoft JhengHei"/>
              </a:rPr>
              <a:t>講者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lang="zh-TW" altLang="en-US" sz="2200" b="1" i="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黃大祐 </a:t>
            </a:r>
            <a:r>
              <a:rPr lang="en-US" altLang="zh-TW" sz="2200" b="1" i="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(</a:t>
            </a:r>
            <a:r>
              <a:rPr lang="zh-TW" altLang="en-US" sz="2200" b="1" i="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痣男</a:t>
            </a:r>
            <a:r>
              <a:rPr lang="en-US" altLang="zh-TW" sz="2200" b="1" i="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)</a:t>
            </a:r>
            <a:endParaRPr sz="2200" b="1" i="0" dirty="0">
              <a:solidFill>
                <a:srgbClr val="FFFFFF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課程目標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今天三個重點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37208"/>
            <a:ext cx="11057839" cy="1298109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841247" y="1866222"/>
            <a:ext cx="640080" cy="640080"/>
          </a:xfrm>
          <a:prstGeom prst="ellipse">
            <a:avLst/>
          </a:prstGeom>
          <a:solidFill>
            <a:srgbClr val="0B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5648" y="1780359"/>
            <a:ext cx="9549079" cy="766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4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手機好用的APP</a:t>
            </a:r>
            <a:endParaRPr sz="2400" b="1" i="0" dirty="0">
              <a:solidFill>
                <a:srgbClr val="0E2F4F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9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LINE、相機、Google</a:t>
            </a:r>
            <a:r>
              <a:rPr sz="1900" b="0" i="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9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地圖、YouTube</a:t>
            </a:r>
            <a:r>
              <a:rPr sz="1900" b="0" i="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，</a:t>
            </a:r>
            <a:r>
              <a:rPr lang="zh-TW" altLang="en-US" sz="190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方便</a:t>
            </a:r>
            <a:r>
              <a:rPr sz="19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跟聽人溝通的工具</a:t>
            </a:r>
            <a:endParaRPr sz="1900" b="0" i="0" dirty="0">
              <a:solidFill>
                <a:srgbClr val="55636E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66928" y="2999909"/>
            <a:ext cx="11057839" cy="1298109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841247" y="3328924"/>
            <a:ext cx="640080" cy="640080"/>
          </a:xfrm>
          <a:prstGeom prst="ellipse">
            <a:avLst/>
          </a:prstGeom>
          <a:solidFill>
            <a:srgbClr val="0B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5648" y="3243060"/>
            <a:ext cx="9549079" cy="8958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4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認識詐騙、學會查證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用「165打詐儀錶板」看最新騙術，學會三個動作，不再上當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462610"/>
            <a:ext cx="11057839" cy="1298109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841247" y="4791625"/>
            <a:ext cx="640080" cy="640080"/>
          </a:xfrm>
          <a:prstGeom prst="ellipse">
            <a:avLst/>
          </a:prstGeom>
          <a:solidFill>
            <a:srgbClr val="0B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5648" y="4705761"/>
            <a:ext cx="9549079" cy="8958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4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緊急的時候可以求助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不用打電話，也能報警、叫救護車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035040"/>
            <a:ext cx="11057839" cy="259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※ </a:t>
            </a:r>
            <a:r>
              <a:rPr sz="1600" b="0" i="1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今天</a:t>
            </a:r>
            <a:r>
              <a:rPr lang="zh-TW" altLang="en-US"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多</a:t>
            </a:r>
            <a:r>
              <a:rPr sz="1600" b="0" i="1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學會一個功能，就是賺到一個</a:t>
            </a:r>
            <a:r>
              <a:rPr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3 小時流程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今天的時間表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37208"/>
            <a:ext cx="11057839" cy="548640"/>
          </a:xfrm>
          <a:prstGeom prst="roundRect">
            <a:avLst>
              <a:gd name="adj" fmla="val 12000"/>
            </a:avLst>
          </a:prstGeom>
          <a:solidFill>
            <a:srgbClr val="0B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56080"/>
            <a:ext cx="250927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時間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97998" y="1656080"/>
            <a:ext cx="604778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內容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11544" y="1656080"/>
            <a:ext cx="140349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長度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085848"/>
            <a:ext cx="11057839" cy="612478"/>
          </a:xfrm>
          <a:prstGeom prst="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085848"/>
            <a:ext cx="2463558" cy="6124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09:00 - 09:10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97998" y="2085848"/>
            <a:ext cx="6002066" cy="6124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開場、暖身：把手機字放大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11544" y="2085848"/>
            <a:ext cx="1357774" cy="6124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10 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98326"/>
            <a:ext cx="2463558" cy="6124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09:10 - 10:25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7998" y="2698326"/>
            <a:ext cx="6002066" cy="6124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單元一：日常好用APP＋溝通工具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11544" y="2698326"/>
            <a:ext cx="1357774" cy="6124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75 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310805"/>
            <a:ext cx="11057839" cy="612478"/>
          </a:xfrm>
          <a:prstGeom prst="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3310805"/>
            <a:ext cx="2463558" cy="6124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10:25 - 10:35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97998" y="3310805"/>
            <a:ext cx="6002066" cy="6124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休息、喝水、上洗手間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11544" y="3310805"/>
            <a:ext cx="1357774" cy="6124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10 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923284"/>
            <a:ext cx="2463558" cy="6124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10:35 - 11:30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97998" y="3923284"/>
            <a:ext cx="6002066" cy="6124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單元二：防詐騙與165打詐儀錶板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1544" y="3923284"/>
            <a:ext cx="1357774" cy="6124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55 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4535762"/>
            <a:ext cx="11057839" cy="612478"/>
          </a:xfrm>
          <a:prstGeom prst="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4535762"/>
            <a:ext cx="2463558" cy="6124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11:30 - 11:55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97998" y="4535762"/>
            <a:ext cx="6002066" cy="6124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單元三：緊急求助與外出安全</a:t>
            </a:r>
            <a:endParaRPr sz="1900" b="0" i="0" dirty="0">
              <a:solidFill>
                <a:srgbClr val="55636E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111544" y="4535762"/>
            <a:ext cx="1357774" cy="6124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25 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148241"/>
            <a:ext cx="2463558" cy="6124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11:55 - 12:00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97998" y="5148241"/>
            <a:ext cx="6002066" cy="6124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總複習、發放餐盒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11544" y="5148241"/>
            <a:ext cx="1357774" cy="6124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5 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2756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TW" altLang="en-US" sz="1700" b="1" dirty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六</a:t>
            </a:r>
            <a:r>
              <a:rPr sz="1700" b="1" i="0" dirty="0" err="1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件小事</a:t>
            </a:r>
            <a:endParaRPr sz="1700" b="1" i="0" dirty="0">
              <a:solidFill>
                <a:srgbClr val="0B5D8C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上課約定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86509"/>
            <a:ext cx="3490874" cy="2291054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25635" y="2184725"/>
            <a:ext cx="2869082" cy="11313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 dirty="0" err="1">
                <a:solidFill>
                  <a:srgbClr val="1C7293"/>
                </a:solidFill>
                <a:latin typeface="Microsoft JhengHei"/>
                <a:ea typeface="Microsoft JhengHei"/>
                <a:cs typeface="Microsoft JhengHei"/>
              </a:rPr>
              <a:t>慢慢來，不趕</a:t>
            </a:r>
            <a:endParaRPr sz="2300" b="1" i="0" dirty="0">
              <a:solidFill>
                <a:srgbClr val="1C7293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lang="zh-TW" altLang="en-US" sz="1900" b="0" i="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如果沒跟上</a:t>
            </a:r>
            <a:r>
              <a:rPr sz="19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就舉手，我會再示範一次</a:t>
            </a:r>
            <a:endParaRPr sz="1900" b="0" i="0" dirty="0">
              <a:solidFill>
                <a:srgbClr val="55636E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350410" y="1586509"/>
            <a:ext cx="3490874" cy="2291054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61306" y="2127462"/>
            <a:ext cx="2869082" cy="12214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>
                <a:solidFill>
                  <a:srgbClr val="1C7293"/>
                </a:solidFill>
                <a:latin typeface="Microsoft JhengHei"/>
                <a:ea typeface="Microsoft JhengHei"/>
                <a:cs typeface="Microsoft JhengHei"/>
              </a:rPr>
              <a:t>一起動手做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我做一步，大家做一步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不要先跑到下一步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3892" y="1586509"/>
            <a:ext cx="3490874" cy="2291054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44788" y="2313767"/>
            <a:ext cx="2869082" cy="8732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>
                <a:solidFill>
                  <a:srgbClr val="1C7293"/>
                </a:solidFill>
                <a:latin typeface="Microsoft JhengHei"/>
                <a:ea typeface="Microsoft JhengHei"/>
                <a:cs typeface="Microsoft JhengHei"/>
              </a:rPr>
              <a:t>可以拍照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投影片可以拍下來帶回家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078732"/>
            <a:ext cx="3490874" cy="2291054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25635" y="4680308"/>
            <a:ext cx="2869082" cy="11313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 dirty="0" err="1">
                <a:solidFill>
                  <a:srgbClr val="1C7293"/>
                </a:solidFill>
                <a:latin typeface="Microsoft JhengHei"/>
                <a:ea typeface="Microsoft JhengHei"/>
                <a:cs typeface="Microsoft JhengHei"/>
              </a:rPr>
              <a:t>互相幫忙</a:t>
            </a:r>
            <a:endParaRPr sz="2300" b="1" i="0" dirty="0">
              <a:solidFill>
                <a:srgbClr val="1C7293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lang="zh-TW" altLang="en-US" sz="1900" b="0" i="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已經完成的可以多幫忙還沒完成的人</a:t>
            </a:r>
            <a:endParaRPr sz="1900" b="0" i="0" dirty="0">
              <a:solidFill>
                <a:srgbClr val="55636E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350410" y="4078732"/>
            <a:ext cx="3490874" cy="2291054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1306" y="4653657"/>
            <a:ext cx="2869082" cy="11579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>
                <a:solidFill>
                  <a:srgbClr val="1C7293"/>
                </a:solidFill>
                <a:latin typeface="Microsoft JhengHei"/>
                <a:ea typeface="Microsoft JhengHei"/>
                <a:cs typeface="Microsoft JhengHei"/>
              </a:rPr>
              <a:t>重要的先記下來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電話、網址寫在紙上，不要只放在腦袋裡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3892" y="4078732"/>
            <a:ext cx="3490874" cy="2291054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44788" y="4805989"/>
            <a:ext cx="2869082" cy="780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 dirty="0" err="1">
                <a:solidFill>
                  <a:srgbClr val="1C7293"/>
                </a:solidFill>
                <a:latin typeface="Microsoft JhengHei"/>
                <a:ea typeface="Microsoft JhengHei"/>
                <a:cs typeface="Microsoft JhengHei"/>
              </a:rPr>
              <a:t>有問題留到最後</a:t>
            </a:r>
            <a:endParaRPr sz="2300" b="1" i="0" dirty="0">
              <a:solidFill>
                <a:srgbClr val="1C7293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最後</a:t>
            </a:r>
            <a:r>
              <a:rPr lang="zh-TW" altLang="en-US" sz="190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都會留時間讓大家問</a:t>
            </a:r>
            <a:endParaRPr sz="1900" b="0" i="0" dirty="0">
              <a:solidFill>
                <a:srgbClr val="55636E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暖身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先分清楚：你的手機是哪一種</a:t>
            </a:r>
            <a:r>
              <a:rPr sz="38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06422"/>
            <a:ext cx="5346039" cy="3885082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944166"/>
            <a:ext cx="4833975" cy="548640"/>
          </a:xfrm>
          <a:prstGeom prst="roundRect">
            <a:avLst>
              <a:gd name="adj" fmla="val 50000"/>
            </a:avLst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Android（安卓）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693974"/>
            <a:ext cx="4760823" cy="2742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常見品牌：Samsung、OPPO、小米、華碩、vivo、realme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設定的圖示是「齒輪」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APP 從「Play 商店」下載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本課程步驟以 Samsung 為例，其他品牌名稱可能略有不同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706422"/>
            <a:ext cx="5346039" cy="3885082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34759" y="1944166"/>
            <a:ext cx="4833975" cy="548640"/>
          </a:xfrm>
          <a:prstGeom prst="roundRect">
            <a:avLst>
              <a:gd name="adj" fmla="val 50000"/>
            </a:avLst>
          </a:prstGeom>
          <a:solidFill>
            <a:srgbClr val="0B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iPhone（蘋果）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1335" y="2693974"/>
            <a:ext cx="4760823" cy="2742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背面有蘋果標誌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設定的圖示是灰色齒輪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APP 從「App Store」下載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步驟以較新的 iOS 版本為例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035040"/>
            <a:ext cx="11057839" cy="259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altLang="zh-TW"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※ </a:t>
            </a:r>
            <a:r>
              <a:rPr lang="zh-TW" altLang="en-US"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若有很舊、無法安裝新</a:t>
            </a:r>
            <a:r>
              <a:rPr lang="en-US" altLang="zh-TW"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APP</a:t>
            </a:r>
            <a:r>
              <a:rPr lang="zh-TW" altLang="en-US"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的手機，中場休息時可以幫你處理。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暖身 2 ｜ 一起動手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暖身：先把手機的字變大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2027123"/>
            <a:ext cx="5346039" cy="3243681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2264867"/>
            <a:ext cx="4833975" cy="548640"/>
          </a:xfrm>
          <a:prstGeom prst="roundRect">
            <a:avLst>
              <a:gd name="adj" fmla="val 50000"/>
            </a:avLst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Android 這樣做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3014675"/>
            <a:ext cx="4760823" cy="21006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設定 → 顯示（螢幕顯示）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→ 字體大小與樣式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把滑桿往右拉到你看得舒服的大小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同一頁可以打開「粗體字」，更清楚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2027123"/>
            <a:ext cx="5346039" cy="3243681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34759" y="2264867"/>
            <a:ext cx="4833975" cy="548640"/>
          </a:xfrm>
          <a:prstGeom prst="roundRect">
            <a:avLst>
              <a:gd name="adj" fmla="val 50000"/>
            </a:avLst>
          </a:prstGeom>
          <a:solidFill>
            <a:srgbClr val="0B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iPhone 這樣做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1335" y="3014675"/>
            <a:ext cx="4760823" cy="21006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設定 → 螢幕顯示與亮度 → 文字大小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想要更大：設定 → 輔助使用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→ 顯示與文字大小 → 更大文字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同一頁可以打開「粗體文字」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035040"/>
            <a:ext cx="11057839" cy="259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※ </a:t>
            </a:r>
            <a:r>
              <a:rPr sz="1600" b="0" i="1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字放大之後，有些畫面的按鈕會換位置，這是正常的</a:t>
            </a:r>
            <a:r>
              <a:rPr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F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1207" y="960120"/>
            <a:ext cx="292608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20000" b="1" i="0">
                <a:solidFill>
                  <a:srgbClr val="1D4A72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51760" y="1417320"/>
            <a:ext cx="8973007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日常好用APP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97480" y="2697480"/>
            <a:ext cx="2103120" cy="502920"/>
          </a:xfrm>
          <a:prstGeom prst="roundRect">
            <a:avLst>
              <a:gd name="adj" fmla="val 50000"/>
            </a:avLst>
          </a:prstGeom>
          <a:solidFill>
            <a:srgbClr val="E8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00" b="1">
                <a:solidFill>
                  <a:srgbClr val="4A3208"/>
                </a:solidFill>
                <a:latin typeface="Microsoft JhengHei"/>
                <a:ea typeface="Microsoft JhengHei"/>
                <a:cs typeface="Microsoft JhengHei"/>
              </a:rPr>
              <a:t>75 分鐘</a:t>
            </a:r>
          </a:p>
        </p:txBody>
      </p:sp>
      <p:sp>
        <p:nvSpPr>
          <p:cNvPr id="5" name="Oval 4"/>
          <p:cNvSpPr/>
          <p:nvPr/>
        </p:nvSpPr>
        <p:spPr>
          <a:xfrm>
            <a:off x="2724912" y="3657600"/>
            <a:ext cx="237744" cy="237744"/>
          </a:xfrm>
          <a:prstGeom prst="ellipse">
            <a:avLst/>
          </a:prstGeom>
          <a:solidFill>
            <a:srgbClr val="E8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0" y="3611880"/>
            <a:ext cx="842436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D7E5F1"/>
                </a:solidFill>
                <a:latin typeface="Microsoft JhengHei"/>
                <a:ea typeface="Microsoft JhengHei"/>
                <a:cs typeface="Microsoft JhengHei"/>
              </a:rPr>
              <a:t>LINE：把字放大、視訊打手語、相簿、Keep</a:t>
            </a:r>
          </a:p>
        </p:txBody>
      </p:sp>
      <p:sp>
        <p:nvSpPr>
          <p:cNvPr id="7" name="Oval 6"/>
          <p:cNvSpPr/>
          <p:nvPr/>
        </p:nvSpPr>
        <p:spPr>
          <a:xfrm>
            <a:off x="2724912" y="4224528"/>
            <a:ext cx="237744" cy="237744"/>
          </a:xfrm>
          <a:prstGeom prst="ellipse">
            <a:avLst/>
          </a:prstGeom>
          <a:solidFill>
            <a:srgbClr val="E8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0" y="4178808"/>
            <a:ext cx="842436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 dirty="0" err="1">
                <a:solidFill>
                  <a:srgbClr val="D7E5F1"/>
                </a:solidFill>
                <a:latin typeface="Microsoft JhengHei"/>
                <a:ea typeface="Microsoft JhengHei"/>
                <a:cs typeface="Microsoft JhengHei"/>
              </a:rPr>
              <a:t>相機：截圖、當放大鏡、掃</a:t>
            </a:r>
            <a:r>
              <a:rPr sz="2200" b="0" i="0" dirty="0">
                <a:solidFill>
                  <a:srgbClr val="D7E5F1"/>
                </a:solidFill>
                <a:latin typeface="Microsoft JhengHei"/>
                <a:ea typeface="Microsoft JhengHei"/>
                <a:cs typeface="Microsoft JhengHei"/>
              </a:rPr>
              <a:t> QR code</a:t>
            </a:r>
          </a:p>
        </p:txBody>
      </p:sp>
      <p:sp>
        <p:nvSpPr>
          <p:cNvPr id="9" name="Oval 8"/>
          <p:cNvSpPr/>
          <p:nvPr/>
        </p:nvSpPr>
        <p:spPr>
          <a:xfrm>
            <a:off x="2724912" y="4791456"/>
            <a:ext cx="237744" cy="237744"/>
          </a:xfrm>
          <a:prstGeom prst="ellipse">
            <a:avLst/>
          </a:prstGeom>
          <a:solidFill>
            <a:srgbClr val="E8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0" y="4745736"/>
            <a:ext cx="842436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D7E5F1"/>
                </a:solidFill>
                <a:latin typeface="Microsoft JhengHei"/>
                <a:ea typeface="Microsoft JhengHei"/>
                <a:cs typeface="Microsoft JhengHei"/>
              </a:rPr>
              <a:t>Google 地圖：查路線、看街景、分享位置</a:t>
            </a:r>
          </a:p>
        </p:txBody>
      </p:sp>
      <p:sp>
        <p:nvSpPr>
          <p:cNvPr id="11" name="Oval 10"/>
          <p:cNvSpPr/>
          <p:nvPr/>
        </p:nvSpPr>
        <p:spPr>
          <a:xfrm>
            <a:off x="2724912" y="5358384"/>
            <a:ext cx="237744" cy="237744"/>
          </a:xfrm>
          <a:prstGeom prst="ellipse">
            <a:avLst/>
          </a:prstGeom>
          <a:solidFill>
            <a:srgbClr val="E8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0" y="5312664"/>
            <a:ext cx="842436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D7E5F1"/>
                </a:solidFill>
                <a:latin typeface="Microsoft JhengHei"/>
                <a:ea typeface="Microsoft JhengHei"/>
                <a:cs typeface="Microsoft JhengHei"/>
              </a:rPr>
              <a:t>YouTube：開字幕、放慢速度</a:t>
            </a:r>
          </a:p>
        </p:txBody>
      </p:sp>
      <p:sp>
        <p:nvSpPr>
          <p:cNvPr id="13" name="Oval 12"/>
          <p:cNvSpPr/>
          <p:nvPr/>
        </p:nvSpPr>
        <p:spPr>
          <a:xfrm>
            <a:off x="2724912" y="5925312"/>
            <a:ext cx="237744" cy="237744"/>
          </a:xfrm>
          <a:prstGeom prst="ellipse">
            <a:avLst/>
          </a:prstGeom>
          <a:solidFill>
            <a:srgbClr val="E8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0" y="5879592"/>
            <a:ext cx="842436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D7E5F1"/>
                </a:solidFill>
                <a:latin typeface="Microsoft JhengHei"/>
                <a:ea typeface="Microsoft JhengHei"/>
                <a:cs typeface="Microsoft JhengHei"/>
              </a:rPr>
              <a:t>溝通工具：語音轉文字、手語視訊翻譯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LINE 1/3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57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LINE ①</a:t>
            </a:r>
            <a:r>
              <a:rPr lang="zh-TW" altLang="en-US" sz="38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  </a:t>
            </a:r>
            <a:r>
              <a:rPr sz="38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把聊天室的字變大</a:t>
            </a:r>
            <a:endParaRPr sz="3800" b="1" i="0" dirty="0">
              <a:solidFill>
                <a:srgbClr val="0E2F4F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66928" y="1537208"/>
            <a:ext cx="11057839" cy="1097026"/>
          </a:xfrm>
          <a:prstGeom prst="roundRect">
            <a:avLst>
              <a:gd name="adj" fmla="val 5000"/>
            </a:avLst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841247" y="1765681"/>
            <a:ext cx="640080" cy="640080"/>
          </a:xfrm>
          <a:prstGeom prst="ellipse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5648" y="1695852"/>
            <a:ext cx="9549079" cy="865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3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打開 LINE，點左下角「主頁」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有一個小房子的圖示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798825"/>
            <a:ext cx="11057839" cy="1097026"/>
          </a:xfrm>
          <a:prstGeom prst="roundRect">
            <a:avLst>
              <a:gd name="adj" fmla="val 5000"/>
            </a:avLst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841247" y="3027298"/>
            <a:ext cx="640080" cy="640080"/>
          </a:xfrm>
          <a:prstGeom prst="ellipse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5648" y="2957470"/>
            <a:ext cx="9549079" cy="865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3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點右上角的「齒輪」（設定）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在畫面最右上角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060443"/>
            <a:ext cx="11057839" cy="1097026"/>
          </a:xfrm>
          <a:prstGeom prst="roundRect">
            <a:avLst>
              <a:gd name="adj" fmla="val 5000"/>
            </a:avLst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841247" y="4288916"/>
            <a:ext cx="640080" cy="640080"/>
          </a:xfrm>
          <a:prstGeom prst="ellipse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5648" y="4219088"/>
            <a:ext cx="9549079" cy="865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3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點「聊天」→「字體大小」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選「特大」最清楚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322061"/>
            <a:ext cx="11057839" cy="1097026"/>
          </a:xfrm>
          <a:prstGeom prst="roundRect">
            <a:avLst>
              <a:gd name="adj" fmla="val 5000"/>
            </a:avLst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Oval 13"/>
          <p:cNvSpPr/>
          <p:nvPr/>
        </p:nvSpPr>
        <p:spPr>
          <a:xfrm>
            <a:off x="841247" y="5550534"/>
            <a:ext cx="640080" cy="640080"/>
          </a:xfrm>
          <a:prstGeom prst="ellipse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5480706"/>
            <a:ext cx="9549079" cy="865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3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回到聊天室看看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字變大了，看訊息不吃力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LINE 2/3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57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LINE </a:t>
            </a:r>
            <a:r>
              <a:rPr lang="en-US" sz="38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②</a:t>
            </a:r>
            <a:r>
              <a:rPr lang="zh-TW" altLang="en-US" sz="38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  </a:t>
            </a:r>
            <a:r>
              <a:rPr sz="38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視訊通話用手語聊天</a:t>
            </a:r>
            <a:endParaRPr sz="3800" b="1" i="0" dirty="0">
              <a:solidFill>
                <a:srgbClr val="0E2F4F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66928" y="1537208"/>
            <a:ext cx="11057839" cy="962575"/>
          </a:xfrm>
          <a:prstGeom prst="roundRect">
            <a:avLst>
              <a:gd name="adj" fmla="val 5000"/>
            </a:avLst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841247" y="1698455"/>
            <a:ext cx="640080" cy="640080"/>
          </a:xfrm>
          <a:prstGeom prst="ellipse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5648" y="1792102"/>
            <a:ext cx="9549079" cy="560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4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一對一：進聊天室 → 右上角電話圖示 → 視訊通話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664375"/>
            <a:ext cx="11057839" cy="962575"/>
          </a:xfrm>
          <a:prstGeom prst="roundRect">
            <a:avLst>
              <a:gd name="adj" fmla="val 5000"/>
            </a:avLst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841247" y="2825623"/>
            <a:ext cx="640080" cy="640080"/>
          </a:xfrm>
          <a:prstGeom prst="ellipse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5648" y="2919270"/>
            <a:ext cx="9549079" cy="560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4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群組：進群組 → 右上角電話圖示 → 視訊通話 → 其他人再加入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791542"/>
            <a:ext cx="11057839" cy="1969177"/>
          </a:xfrm>
          <a:prstGeom prst="roundRect">
            <a:avLst>
              <a:gd name="adj" fmla="val 5000"/>
            </a:avLst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841247" y="4456091"/>
            <a:ext cx="640080" cy="640080"/>
          </a:xfrm>
          <a:prstGeom prst="ellipse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5648" y="4011206"/>
            <a:ext cx="9549079" cy="1566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4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打手語看得清楚的三個訣竅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① 光線在你的前面（不要背對窗戶）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② 手機立起來、手放在胸前，讓手完整入鏡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③ 背景乾淨，穿素色衣服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035040"/>
            <a:ext cx="11057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※ 視訊很耗網路流量，在家連 Wi-Fi 比較省。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LINE 3/3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57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LINE </a:t>
            </a:r>
            <a:r>
              <a:rPr lang="en-US" sz="38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③ </a:t>
            </a:r>
            <a:r>
              <a:rPr lang="zh-TW" altLang="en-US" sz="38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38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照片不會不見：相簿、記事本、Keep</a:t>
            </a:r>
            <a:endParaRPr sz="3800" b="1" i="0" dirty="0">
              <a:solidFill>
                <a:srgbClr val="0E2F4F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66928" y="1586509"/>
            <a:ext cx="5382615" cy="2291054"/>
          </a:xfrm>
          <a:prstGeom prst="roundRect">
            <a:avLst>
              <a:gd name="adj" fmla="val 5000"/>
            </a:avLst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7824" y="1975129"/>
            <a:ext cx="4760823" cy="1506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>
                <a:solidFill>
                  <a:srgbClr val="1E7A46"/>
                </a:solidFill>
                <a:latin typeface="Microsoft JhengHei"/>
                <a:ea typeface="Microsoft JhengHei"/>
                <a:cs typeface="Microsoft JhengHei"/>
              </a:rPr>
              <a:t>相簿：照片長期保存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聊天室 → 右上角三條線 → 相簿 → 建立相簿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放進相簿的照片不會過期消失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2151" y="1586509"/>
            <a:ext cx="5382615" cy="2291054"/>
          </a:xfrm>
          <a:prstGeom prst="roundRect">
            <a:avLst>
              <a:gd name="adj" fmla="val 5000"/>
            </a:avLst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53047" y="2127462"/>
            <a:ext cx="4760823" cy="12214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>
                <a:solidFill>
                  <a:srgbClr val="1E7A46"/>
                </a:solidFill>
                <a:latin typeface="Microsoft JhengHei"/>
                <a:ea typeface="Microsoft JhengHei"/>
                <a:cs typeface="Microsoft JhengHei"/>
              </a:rPr>
              <a:t>記事本：貼公告與固定資料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聊天室 → 三條線 → 記事本 → 新增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適合貼：集合時間、地址、常用句子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078732"/>
            <a:ext cx="5382615" cy="2291054"/>
          </a:xfrm>
          <a:prstGeom prst="roundRect">
            <a:avLst>
              <a:gd name="adj" fmla="val 5000"/>
            </a:avLst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4467352"/>
            <a:ext cx="4760823" cy="1546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 dirty="0" err="1">
                <a:solidFill>
                  <a:srgbClr val="1E7A46"/>
                </a:solidFill>
                <a:latin typeface="Microsoft JhengHei"/>
                <a:ea typeface="Microsoft JhengHei"/>
                <a:cs typeface="Microsoft JhengHei"/>
              </a:rPr>
              <a:t>Keep：只有自己看得到的保險箱</a:t>
            </a:r>
            <a:endParaRPr sz="2300" b="1" i="0" dirty="0">
              <a:solidFill>
                <a:srgbClr val="1E7A46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長按訊息或照片</a:t>
            </a:r>
            <a:r>
              <a:rPr sz="1900" b="0" i="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 → Keep</a:t>
            </a:r>
            <a:r>
              <a:rPr lang="zh-TW" altLang="en-US" sz="1900" b="0" i="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筆記</a:t>
            </a:r>
            <a:r>
              <a:rPr sz="1900" b="0" i="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（</a:t>
            </a:r>
            <a:r>
              <a:rPr lang="zh-TW" altLang="en-US" sz="190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暫</a:t>
            </a:r>
            <a:r>
              <a:rPr sz="1900" b="0" i="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存）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lang="zh-TW" altLang="en-US" sz="19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建議存：身障證明、藥袋、住家地址、家人電話、重要訊息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2151" y="4078732"/>
            <a:ext cx="5382615" cy="2291054"/>
          </a:xfrm>
          <a:prstGeom prst="roundRect">
            <a:avLst>
              <a:gd name="adj" fmla="val 5000"/>
            </a:avLst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53047" y="4619684"/>
            <a:ext cx="4760823" cy="1195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 dirty="0" err="1">
                <a:solidFill>
                  <a:srgbClr val="1E7A46"/>
                </a:solidFill>
                <a:latin typeface="Microsoft JhengHei"/>
                <a:ea typeface="Microsoft JhengHei"/>
                <a:cs typeface="Microsoft JhengHei"/>
              </a:rPr>
              <a:t>為什麼要這樣做</a:t>
            </a:r>
            <a:r>
              <a:rPr sz="2300" b="1" i="0" dirty="0">
                <a:solidFill>
                  <a:srgbClr val="1E7A46"/>
                </a:solidFill>
                <a:latin typeface="Microsoft JhengHei"/>
                <a:ea typeface="Microsoft JhengHei"/>
                <a:cs typeface="Microsoft JhengHei"/>
              </a:rPr>
              <a:t>？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去醫院、洽公，直接翻出來給對方看</a:t>
            </a:r>
            <a:endParaRPr lang="en-US" sz="1900" b="0" i="0" dirty="0">
              <a:solidFill>
                <a:srgbClr val="55636E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lang="zh-TW" altLang="en-US" sz="190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不用擔心資訊遺漏在不同的聊天室裡</a:t>
            </a:r>
            <a:endParaRPr sz="1900" b="0" i="0" dirty="0">
              <a:solidFill>
                <a:srgbClr val="55636E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9C6410"/>
                </a:solidFill>
                <a:latin typeface="Microsoft JhengHei"/>
                <a:ea typeface="Microsoft JhengHei"/>
                <a:cs typeface="Microsoft JhengHei"/>
              </a:rPr>
              <a:t>兩人一組，10 分鐘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實作練習 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37208"/>
            <a:ext cx="11057839" cy="90043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841247" y="1685671"/>
            <a:ext cx="603504" cy="603504"/>
          </a:xfrm>
          <a:prstGeom prst="ellipse">
            <a:avLst/>
          </a:prstGeom>
          <a:solidFill>
            <a:srgbClr val="E8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00" b="1">
                <a:solidFill>
                  <a:srgbClr val="4A3208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19072" y="1802693"/>
            <a:ext cx="9539935" cy="369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打開</a:t>
            </a:r>
            <a:r>
              <a:rPr lang="zh-TW" altLang="en-US" sz="2200" b="0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課程練習</a:t>
            </a:r>
            <a:r>
              <a:rPr sz="2200" b="0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的 LINE </a:t>
            </a:r>
            <a:r>
              <a:rPr sz="2200" b="0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群組，傳一張你今天拍的照片</a:t>
            </a:r>
            <a:endParaRPr sz="2200" b="0" i="0" dirty="0">
              <a:solidFill>
                <a:srgbClr val="0E2F4F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66928" y="2620518"/>
            <a:ext cx="11057839" cy="90043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841247" y="2768981"/>
            <a:ext cx="603504" cy="603504"/>
          </a:xfrm>
          <a:prstGeom prst="ellipse">
            <a:avLst/>
          </a:prstGeom>
          <a:solidFill>
            <a:srgbClr val="E8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00" b="1">
                <a:solidFill>
                  <a:srgbClr val="4A3208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19072" y="2620518"/>
            <a:ext cx="9539935" cy="9004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在群組「記事本」裡找到（或建立）一則公告，念給旁邊的人看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703828"/>
            <a:ext cx="11057839" cy="90043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841247" y="3852291"/>
            <a:ext cx="603504" cy="603504"/>
          </a:xfrm>
          <a:prstGeom prst="ellipse">
            <a:avLst/>
          </a:prstGeom>
          <a:solidFill>
            <a:srgbClr val="E8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00" b="1">
                <a:solidFill>
                  <a:srgbClr val="4A3208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19072" y="3703828"/>
            <a:ext cx="9539935" cy="9004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跟旁邊的同學撥一次視訊通話，用手語說一句「你好」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787138"/>
            <a:ext cx="11057839" cy="90043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Oval 13"/>
          <p:cNvSpPr/>
          <p:nvPr/>
        </p:nvSpPr>
        <p:spPr>
          <a:xfrm>
            <a:off x="841247" y="4935601"/>
            <a:ext cx="603504" cy="603504"/>
          </a:xfrm>
          <a:prstGeom prst="ellipse">
            <a:avLst/>
          </a:prstGeom>
          <a:solidFill>
            <a:srgbClr val="E8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00" b="1">
                <a:solidFill>
                  <a:srgbClr val="4A3208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19072" y="5052623"/>
            <a:ext cx="9539935" cy="369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TW" altLang="en-US" sz="2200" b="0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把一則最近的訊息或是照片</a:t>
            </a:r>
            <a:r>
              <a:rPr sz="2200" b="0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，</a:t>
            </a:r>
            <a:r>
              <a:rPr sz="2200" b="0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存進</a:t>
            </a:r>
            <a:r>
              <a:rPr sz="2200" b="0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 Keep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870448"/>
            <a:ext cx="11057839" cy="3190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 dirty="0" err="1">
                <a:solidFill>
                  <a:srgbClr val="9C6410"/>
                </a:solidFill>
                <a:latin typeface="Microsoft JhengHei"/>
                <a:ea typeface="Microsoft JhengHei"/>
                <a:cs typeface="Microsoft JhengHei"/>
              </a:rPr>
              <a:t>做完舉手，助教會過去確認。四項都完成的人</a:t>
            </a:r>
            <a:r>
              <a:rPr lang="zh-TW" altLang="en-US" sz="1900" b="1" i="0" dirty="0">
                <a:solidFill>
                  <a:srgbClr val="9C6410"/>
                </a:solidFill>
                <a:latin typeface="Microsoft JhengHei"/>
                <a:ea typeface="Microsoft JhengHei"/>
                <a:cs typeface="Microsoft JhengHei"/>
              </a:rPr>
              <a:t>可以</a:t>
            </a:r>
            <a:r>
              <a:rPr sz="1900" b="1" i="0" dirty="0" err="1">
                <a:solidFill>
                  <a:srgbClr val="9C6410"/>
                </a:solidFill>
                <a:latin typeface="Microsoft JhengHei"/>
                <a:ea typeface="Microsoft JhengHei"/>
                <a:cs typeface="Microsoft JhengHei"/>
              </a:rPr>
              <a:t>幫忙旁邊還沒完成的同學</a:t>
            </a:r>
            <a:r>
              <a:rPr sz="1900" b="1" i="0" dirty="0">
                <a:solidFill>
                  <a:srgbClr val="9C6410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相機 1/3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相機 ①　螢幕截圖怎麼截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934718"/>
            <a:ext cx="5346039" cy="3428492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2172462"/>
            <a:ext cx="4833975" cy="548640"/>
          </a:xfrm>
          <a:prstGeom prst="roundRect">
            <a:avLst>
              <a:gd name="adj" fmla="val 50000"/>
            </a:avLst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Android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922270"/>
            <a:ext cx="4760823" cy="2285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同時按住「電源鍵」＋「音量－」約 1 秒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聽到快門聲或畫面閃一下就成功了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部分機型可用「手掌側面滑過螢幕」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934718"/>
            <a:ext cx="5346039" cy="3428492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34759" y="2172462"/>
            <a:ext cx="4833975" cy="548640"/>
          </a:xfrm>
          <a:prstGeom prst="roundRect">
            <a:avLst>
              <a:gd name="adj" fmla="val 50000"/>
            </a:avLst>
          </a:prstGeom>
          <a:solidFill>
            <a:srgbClr val="0B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iPhone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1335" y="2922270"/>
            <a:ext cx="4760823" cy="20696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沒有</a:t>
            </a:r>
            <a:r>
              <a:rPr sz="20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 Home 鍵：「</a:t>
            </a:r>
            <a:r>
              <a:rPr sz="20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側邊鍵</a:t>
            </a:r>
            <a:r>
              <a:rPr sz="20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」＋「</a:t>
            </a:r>
            <a:r>
              <a:rPr sz="20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音量</a:t>
            </a:r>
            <a:r>
              <a:rPr sz="20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＋」</a:t>
            </a:r>
            <a:r>
              <a:rPr sz="20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同時按</a:t>
            </a:r>
            <a:endParaRPr sz="2000" b="1" i="0" dirty="0">
              <a:solidFill>
                <a:srgbClr val="0E2F4F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有 Home 鍵：「</a:t>
            </a:r>
            <a:r>
              <a:rPr sz="20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側邊鍵</a:t>
            </a:r>
            <a:r>
              <a:rPr sz="20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」＋「Home </a:t>
            </a:r>
            <a:r>
              <a:rPr sz="20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鍵」同時按</a:t>
            </a:r>
            <a:endParaRPr sz="2000" b="1" i="0" dirty="0">
              <a:solidFill>
                <a:srgbClr val="0E2F4F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截圖</a:t>
            </a:r>
            <a:r>
              <a:rPr lang="zh-TW" altLang="en-US" sz="2000" b="0" i="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在編輯後</a:t>
            </a:r>
            <a:r>
              <a:rPr sz="20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會存到「照片」裡</a:t>
            </a:r>
            <a:endParaRPr sz="2000" b="0" i="0" dirty="0">
              <a:solidFill>
                <a:srgbClr val="55636E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6928" y="6035040"/>
            <a:ext cx="11057839" cy="259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※ </a:t>
            </a:r>
            <a:r>
              <a:rPr sz="1600" b="0" i="1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截圖非常重要：收到可疑訊息時，先截圖再處理</a:t>
            </a:r>
            <a:r>
              <a:rPr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，</a:t>
            </a:r>
            <a:r>
              <a:rPr lang="zh-TW" altLang="en-US" sz="160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可以做為</a:t>
            </a:r>
            <a:r>
              <a:rPr sz="1600" b="0" i="1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之後報案的證據</a:t>
            </a:r>
            <a:r>
              <a:rPr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相機 2/3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相機 ②　把手機當放大鏡、掃 QR 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37208"/>
            <a:ext cx="11057839" cy="1404958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841247" y="1919647"/>
            <a:ext cx="640080" cy="640080"/>
          </a:xfrm>
          <a:prstGeom prst="ellipse">
            <a:avLst/>
          </a:prstGeom>
          <a:solidFill>
            <a:srgbClr val="0B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5648" y="1683512"/>
            <a:ext cx="9549079" cy="11120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3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看不清楚的小字：拍下來再放大</a:t>
            </a:r>
            <a:endParaRPr sz="2300" b="1" i="0" dirty="0">
              <a:solidFill>
                <a:srgbClr val="0E2F4F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相機對準藥袋、菜單、單據</a:t>
            </a:r>
            <a:r>
              <a:rPr sz="1800" b="0" i="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 → </a:t>
            </a:r>
            <a:r>
              <a:rPr sz="18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拍照</a:t>
            </a:r>
            <a:r>
              <a:rPr sz="1800" b="0" i="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 → </a:t>
            </a:r>
            <a:r>
              <a:rPr sz="18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到相簿用兩指放大</a:t>
            </a:r>
            <a:endParaRPr sz="1800" b="0" i="0" dirty="0">
              <a:solidFill>
                <a:srgbClr val="55636E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內建放大鏡：iPhone「放大鏡」App／Android</a:t>
            </a:r>
            <a:r>
              <a:rPr sz="1800" b="0" i="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8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設定</a:t>
            </a:r>
            <a:r>
              <a:rPr sz="1800" b="0" i="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 → </a:t>
            </a:r>
            <a:r>
              <a:rPr sz="18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輔助使用</a:t>
            </a:r>
            <a:r>
              <a:rPr sz="1800" b="0" i="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 → </a:t>
            </a:r>
            <a:r>
              <a:rPr sz="18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放大</a:t>
            </a:r>
            <a:endParaRPr sz="1800" b="0" i="0" dirty="0">
              <a:solidFill>
                <a:srgbClr val="55636E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66928" y="3106758"/>
            <a:ext cx="11057839" cy="1404958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841247" y="3489197"/>
            <a:ext cx="640080" cy="640080"/>
          </a:xfrm>
          <a:prstGeom prst="ellipse">
            <a:avLst/>
          </a:prstGeom>
          <a:solidFill>
            <a:srgbClr val="0B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5648" y="3253062"/>
            <a:ext cx="9549079" cy="11864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3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掃 QR code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iPhone：打開相機對準</a:t>
            </a:r>
            <a:r>
              <a:rPr sz="1800" b="0" i="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 → </a:t>
            </a:r>
            <a:r>
              <a:rPr sz="18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出現提示點一下</a:t>
            </a:r>
            <a:endParaRPr sz="1800" b="0" i="0" dirty="0">
              <a:solidFill>
                <a:srgbClr val="55636E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Android：打開相機或</a:t>
            </a:r>
            <a:r>
              <a:rPr sz="1800" b="0" i="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 Google </a:t>
            </a:r>
            <a:r>
              <a:rPr sz="18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鏡頭對準</a:t>
            </a:r>
            <a:endParaRPr sz="1800" b="0" i="0" dirty="0">
              <a:solidFill>
                <a:srgbClr val="55636E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66928" y="4676309"/>
            <a:ext cx="11057839" cy="1084410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841247" y="4898474"/>
            <a:ext cx="640080" cy="640080"/>
          </a:xfrm>
          <a:prstGeom prst="ellipse">
            <a:avLst/>
          </a:prstGeom>
          <a:solidFill>
            <a:srgbClr val="0B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5648" y="4828646"/>
            <a:ext cx="9549079" cy="865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3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⚠ 陌生的 QR code 不要掃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路邊貼紙、來路不明的傳單、陌生人給的 QR code，掃了可能被騙錢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7" y="6144766"/>
            <a:ext cx="11057839" cy="259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※ </a:t>
            </a:r>
            <a:r>
              <a:rPr lang="zh-TW" altLang="en-US"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 放大鏡可以比相機放的要來的更大，也可以拍照</a:t>
            </a:r>
            <a:r>
              <a:rPr lang="en-US" altLang="zh-TW"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!</a:t>
            </a:r>
            <a:endParaRPr sz="1600" b="0" i="1" dirty="0">
              <a:solidFill>
                <a:srgbClr val="55636E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相機 3/3 ｜ 一起動手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相機 ③　把照片分類，以後才找得到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37208"/>
            <a:ext cx="11057839" cy="1404958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841247" y="1919647"/>
            <a:ext cx="640080" cy="640080"/>
          </a:xfrm>
          <a:prstGeom prst="ellipse">
            <a:avLst/>
          </a:prstGeom>
          <a:solidFill>
            <a:srgbClr val="0B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5648" y="1683512"/>
            <a:ext cx="9549079" cy="11864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3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先決定要分哪幾類（建議 4 個）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醫療（藥袋、藥單、回診單）　｜　證件（身障證明、健保卡）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單據（收據、保證書）　｜　地址（家的門牌、停車位置）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106758"/>
            <a:ext cx="11057839" cy="1084410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841247" y="3328924"/>
            <a:ext cx="640080" cy="640080"/>
          </a:xfrm>
          <a:prstGeom prst="ellipse">
            <a:avLst/>
          </a:prstGeom>
          <a:solidFill>
            <a:srgbClr val="0B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5648" y="3259095"/>
            <a:ext cx="9549079" cy="865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3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建立相簿：最不會失敗的做法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在照片裡先選幾張 → 點「加入相簿／新增至相簿」→ 選「新增相簿」→ 命名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355761"/>
            <a:ext cx="11057839" cy="1404958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841247" y="4738200"/>
            <a:ext cx="640080" cy="640080"/>
          </a:xfrm>
          <a:prstGeom prst="ellipse">
            <a:avLst/>
          </a:prstGeom>
          <a:solidFill>
            <a:srgbClr val="0B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5648" y="4502065"/>
            <a:ext cx="9549079" cy="11864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3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兩個小提醒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常看的照片點「愛心／收藏」，下次一秒找到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證件照片有個人資料：手機一定要設密碼或指紋鎖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035040"/>
            <a:ext cx="11057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※ 各廠牌與版本的選單名稱不同（iPhone 照片、Google 相簿、Samsung 圖庫），照上面的順序做最保險。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地圖 1/3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Google 地圖 ①　查路怎麼走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37208"/>
            <a:ext cx="11057839" cy="1180909"/>
          </a:xfrm>
          <a:prstGeom prst="roundRect">
            <a:avLst>
              <a:gd name="adj" fmla="val 5000"/>
            </a:avLst>
          </a:prstGeom>
          <a:solidFill>
            <a:srgbClr val="E7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841247" y="1807622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5648" y="1721759"/>
            <a:ext cx="9549079" cy="8958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4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在最上面的白色框框輸入地點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例如：新竹市東區竹蓮街6號、新竹馬偕醫院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882709"/>
            <a:ext cx="11057839" cy="845375"/>
          </a:xfrm>
          <a:prstGeom prst="roundRect">
            <a:avLst>
              <a:gd name="adj" fmla="val 5000"/>
            </a:avLst>
          </a:prstGeom>
          <a:solidFill>
            <a:srgbClr val="E7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875760" y="3019869"/>
            <a:ext cx="571055" cy="571055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5648" y="3079004"/>
            <a:ext cx="9549079" cy="560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4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點藍色的「路線」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892677"/>
            <a:ext cx="11057839" cy="1180909"/>
          </a:xfrm>
          <a:prstGeom prst="roundRect">
            <a:avLst>
              <a:gd name="adj" fmla="val 5000"/>
            </a:avLst>
          </a:prstGeom>
          <a:solidFill>
            <a:srgbClr val="E7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841247" y="4163091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5648" y="4077228"/>
            <a:ext cx="9549079" cy="8958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4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選交通方式的圖示（公車／走路）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公車捷運：會告訴你搭幾號、在哪一站下車、走幾分鐘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238178"/>
            <a:ext cx="11057839" cy="1180909"/>
          </a:xfrm>
          <a:prstGeom prst="roundRect">
            <a:avLst>
              <a:gd name="adj" fmla="val 5000"/>
            </a:avLst>
          </a:prstGeom>
          <a:solidFill>
            <a:srgbClr val="E7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Oval 13"/>
          <p:cNvSpPr/>
          <p:nvPr/>
        </p:nvSpPr>
        <p:spPr>
          <a:xfrm>
            <a:off x="841247" y="5508593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5422729"/>
            <a:ext cx="9549079" cy="8958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4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先看街景認門口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搜尋地點 → 點照片 → 轉動看四周，先認得門口長什麼樣子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地圖 2/3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Google 地圖 ②　把常去的地方存起來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37208"/>
            <a:ext cx="11057839" cy="929258"/>
          </a:xfrm>
          <a:prstGeom prst="roundRect">
            <a:avLst>
              <a:gd name="adj" fmla="val 5000"/>
            </a:avLst>
          </a:prstGeom>
          <a:solidFill>
            <a:srgbClr val="E7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841247" y="1681797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5648" y="1775444"/>
            <a:ext cx="9549079" cy="560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4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搜尋地點 → 點「儲存」→ 選「我的最愛」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631059"/>
            <a:ext cx="11057839" cy="1264793"/>
          </a:xfrm>
          <a:prstGeom prst="roundRect">
            <a:avLst>
              <a:gd name="adj" fmla="val 5000"/>
            </a:avLst>
          </a:prstGeom>
          <a:solidFill>
            <a:srgbClr val="E7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841247" y="2943415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5648" y="2857552"/>
            <a:ext cx="9549079" cy="8958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4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建議存這幾個地方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家（最重要）、聾人協會、常去的醫院、最近的派出所、里長辦公處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060443"/>
            <a:ext cx="11057839" cy="929258"/>
          </a:xfrm>
          <a:prstGeom prst="roundRect">
            <a:avLst>
              <a:gd name="adj" fmla="val 5000"/>
            </a:avLst>
          </a:prstGeom>
          <a:solidFill>
            <a:srgbClr val="E7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841247" y="4205033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5648" y="4298680"/>
            <a:ext cx="9549079" cy="560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4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下次要用：點下面的「已儲存」就找得到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154295"/>
            <a:ext cx="11057839" cy="1264793"/>
          </a:xfrm>
          <a:prstGeom prst="roundRect">
            <a:avLst>
              <a:gd name="adj" fmla="val 5000"/>
            </a:avLst>
          </a:prstGeom>
          <a:solidFill>
            <a:srgbClr val="E7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Oval 13"/>
          <p:cNvSpPr/>
          <p:nvPr/>
        </p:nvSpPr>
        <p:spPr>
          <a:xfrm>
            <a:off x="841247" y="5466651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5380788"/>
            <a:ext cx="9549079" cy="8958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4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為什麼要存「家」？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迷路的時候，點一下就能導航回家；求助時也能直接把地址給對方看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地圖 3/3 ｜ 迷路時最重要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Google 地圖 ③　分享我現在的位置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866772"/>
            <a:ext cx="5346039" cy="3564382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2104516"/>
            <a:ext cx="4833975" cy="54864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用 Google 地圖分享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854325"/>
            <a:ext cx="4760823" cy="24213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點右上角自己的大頭貼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→「位置資訊分享」→「分享位置資訊」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選要分享多久（1 小時）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選 LINE，傳給家人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866772"/>
            <a:ext cx="5346039" cy="3564382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34759" y="2104516"/>
            <a:ext cx="4833975" cy="548640"/>
          </a:xfrm>
          <a:prstGeom prst="roundRect">
            <a:avLst>
              <a:gd name="adj" fmla="val 50000"/>
            </a:avLst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用 LINE 直接傳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1335" y="2854325"/>
            <a:ext cx="4760823" cy="24213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進聊天室 → 點左下角「＋」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→「位置資訊」→「傳送這個位置」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對方點開就看到你在哪裡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最快、最少步驟，建議先學這個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035040"/>
            <a:ext cx="11057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※ 分享位置有時間限制比較安全；不需要的時候記得關掉。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YouTube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YouTube　看得懂才有用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37208"/>
            <a:ext cx="11057839" cy="1097026"/>
          </a:xfrm>
          <a:prstGeom prst="roundRect">
            <a:avLst>
              <a:gd name="adj" fmla="val 5000"/>
            </a:avLst>
          </a:prstGeom>
          <a:solidFill>
            <a:srgbClr val="FB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841247" y="1765681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5648" y="1695852"/>
            <a:ext cx="9549079" cy="865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3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打開字幕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點影片畫面 → 右上角「CC」圖示 → 字幕就出現了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798825"/>
            <a:ext cx="11057839" cy="1097026"/>
          </a:xfrm>
          <a:prstGeom prst="roundRect">
            <a:avLst>
              <a:gd name="adj" fmla="val 5000"/>
            </a:avLst>
          </a:prstGeom>
          <a:solidFill>
            <a:srgbClr val="FB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841247" y="3027298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5648" y="2957470"/>
            <a:ext cx="9549079" cy="865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3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沒有中文字幕？試自動翻譯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齒輪 → 字幕 → 自動翻譯 → 選「中文（繁體）」（常有錯字，不要全信）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060443"/>
            <a:ext cx="11057839" cy="1097026"/>
          </a:xfrm>
          <a:prstGeom prst="roundRect">
            <a:avLst>
              <a:gd name="adj" fmla="val 5000"/>
            </a:avLst>
          </a:prstGeom>
          <a:solidFill>
            <a:srgbClr val="FB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841247" y="4288916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5648" y="4219088"/>
            <a:ext cx="9549079" cy="865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3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把速度放慢，看手語更清楚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齒輪 → 播放速度 → 選 0.75 或 0.5 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322061"/>
            <a:ext cx="11057839" cy="1097026"/>
          </a:xfrm>
          <a:prstGeom prst="roundRect">
            <a:avLst>
              <a:gd name="adj" fmla="val 5000"/>
            </a:avLst>
          </a:prstGeom>
          <a:solidFill>
            <a:srgbClr val="FB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Oval 13"/>
          <p:cNvSpPr/>
          <p:nvPr/>
        </p:nvSpPr>
        <p:spPr>
          <a:xfrm>
            <a:off x="841247" y="5550534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5480706"/>
            <a:ext cx="9549079" cy="865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3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建議搜尋的關鍵字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台灣手語、手語教學、手語新聞、聽聽看、防詐騙 手語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F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51560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E8A33C"/>
                </a:solidFill>
                <a:latin typeface="Microsoft JhengHei"/>
                <a:ea typeface="Microsoft JhengHei"/>
                <a:cs typeface="Microsoft JhengHei"/>
              </a:rPr>
              <a:t>接下來是這一單元最重要的部分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691640"/>
            <a:ext cx="11057839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手機可以幫我們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跟聽人溝通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566160"/>
            <a:ext cx="11057839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1200"/>
              </a:spcAft>
            </a:pPr>
            <a:r>
              <a:rPr sz="2200" b="0" i="0">
                <a:solidFill>
                  <a:srgbClr val="CFE0EE"/>
                </a:solidFill>
                <a:latin typeface="Microsoft JhengHei"/>
                <a:ea typeface="Microsoft JhengHei"/>
                <a:cs typeface="Microsoft JhengHei"/>
              </a:rPr>
              <a:t>不必每次都要找人陪、也不必一直寫紙條</a:t>
            </a:r>
          </a:p>
          <a:p>
            <a:pPr algn="l">
              <a:lnSpc>
                <a:spcPct val="128000"/>
              </a:lnSpc>
              <a:spcAft>
                <a:spcPts val="1200"/>
              </a:spcAft>
            </a:pPr>
            <a:r>
              <a:rPr sz="2200" b="0" i="0">
                <a:solidFill>
                  <a:srgbClr val="CFE0EE"/>
                </a:solidFill>
                <a:latin typeface="Microsoft JhengHei"/>
                <a:ea typeface="Microsoft JhengHei"/>
                <a:cs typeface="Microsoft JhengHei"/>
              </a:rPr>
              <a:t>下面五個工具，選一個學會就夠用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溝通 1/5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溝通工具 ①　手機就是你的筆談本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06422"/>
            <a:ext cx="5346039" cy="3885082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944166"/>
            <a:ext cx="4833975" cy="548640"/>
          </a:xfrm>
          <a:prstGeom prst="roundRect">
            <a:avLst>
              <a:gd name="adj" fmla="val 50000"/>
            </a:avLst>
          </a:prstGeom>
          <a:solidFill>
            <a:srgbClr val="0B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怎麼做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693974"/>
            <a:ext cx="4760823" cy="2742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打開「備忘錄」或「記事本」App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把字級調到最大、開粗體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打好字，把手機轉給對方看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對方也可以直接打字回你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706422"/>
            <a:ext cx="5346039" cy="3885082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34759" y="1944166"/>
            <a:ext cx="4833975" cy="548640"/>
          </a:xfrm>
          <a:prstGeom prst="roundRect">
            <a:avLst>
              <a:gd name="adj" fmla="val 50000"/>
            </a:avLst>
          </a:prstGeom>
          <a:solidFill>
            <a:srgbClr val="9C6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先存好這幾句（重要）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1335" y="2693974"/>
            <a:ext cx="4760823" cy="2742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「我是聽障人士，聽不到，請打字或寫字給我看，謝謝。」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「請問我要去哪個櫃檯？」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「請幫我叫手語翻譯，謝謝。」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「我的家人電話是 09XX-XXX-XXX，可以請你傳簡訊給他嗎？」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035040"/>
            <a:ext cx="11057839" cy="259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※ </a:t>
            </a:r>
            <a:r>
              <a:rPr sz="1600" b="0" i="1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存好之後，去任何地方都不</a:t>
            </a:r>
            <a:r>
              <a:rPr lang="zh-TW" altLang="en-US"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用擔心想不到</a:t>
            </a:r>
            <a:r>
              <a:rPr sz="1600" b="0" i="1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怎麼說</a:t>
            </a:r>
            <a:r>
              <a:rPr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溝通 2/5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溝通工具 ②　把對方的話變成文字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37208"/>
            <a:ext cx="11057839" cy="1084410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841247" y="1759373"/>
            <a:ext cx="640080" cy="640080"/>
          </a:xfrm>
          <a:prstGeom prst="ellipse">
            <a:avLst/>
          </a:prstGeom>
          <a:solidFill>
            <a:srgbClr val="0B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5648" y="1689544"/>
            <a:ext cx="9549079" cy="865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3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Android：安裝「即時轉錄」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Play 商店搜尋「即時轉錄」，或用鍵盤上的麥克風圖示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786210"/>
            <a:ext cx="11057839" cy="1404958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841247" y="3168650"/>
            <a:ext cx="640080" cy="640080"/>
          </a:xfrm>
          <a:prstGeom prst="ellipse">
            <a:avLst/>
          </a:prstGeom>
          <a:solidFill>
            <a:srgbClr val="0B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5648" y="2932514"/>
            <a:ext cx="9549079" cy="11864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3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iPhone：打開「即時聽寫」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設定 → 輔助使用 → 即時聽寫（字幕）→ 打開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或用「語音備忘錄」錄下來，再看轉出的文字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355761"/>
            <a:ext cx="11057839" cy="1404958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841247" y="4738200"/>
            <a:ext cx="640080" cy="640080"/>
          </a:xfrm>
          <a:prstGeom prst="ellipse">
            <a:avLst/>
          </a:prstGeom>
          <a:solidFill>
            <a:srgbClr val="0B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5648" y="4502065"/>
            <a:ext cx="9549079" cy="11864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3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⚠ 限制：環境吵、講太快，文字就會錯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醫療、金錢的內容，看完一定再確認一次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先跟對方說：「請看著我、慢慢講、一句一句講」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035040"/>
            <a:ext cx="11057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※ 手機不同版本名稱略有差異，找不到就在「設定」裡搜尋「聽寫」或「轉錄」。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溝通 3/5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溝通工具</a:t>
            </a:r>
            <a:r>
              <a:rPr sz="38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 ③　</a:t>
            </a:r>
            <a:r>
              <a:rPr sz="38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手語視訊轉譯服務（VRS</a:t>
            </a:r>
            <a:r>
              <a:rPr sz="38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37208"/>
            <a:ext cx="11057839" cy="1521798"/>
          </a:xfrm>
          <a:prstGeom prst="roundRect">
            <a:avLst>
              <a:gd name="adj" fmla="val 5000"/>
            </a:avLst>
          </a:prstGeom>
          <a:solidFill>
            <a:srgbClr val="E7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841247" y="1978067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5648" y="1712693"/>
            <a:ext cx="9549079" cy="12313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4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這是什麼？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政府提供的服務：手語翻譯員透過視訊，幫你和聽人溝通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你打手語 → 翻譯員說給對方聽 → 對方回答 → 翻譯員打手語給你看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223598"/>
            <a:ext cx="11057839" cy="1186264"/>
          </a:xfrm>
          <a:prstGeom prst="roundRect">
            <a:avLst>
              <a:gd name="adj" fmla="val 5000"/>
            </a:avLst>
          </a:prstGeom>
          <a:solidFill>
            <a:srgbClr val="E7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841247" y="3496691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5648" y="3410827"/>
            <a:ext cx="9549079" cy="8958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4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怎麼用</a:t>
            </a:r>
            <a:endParaRPr sz="2400" b="1" i="0" dirty="0">
              <a:solidFill>
                <a:srgbClr val="0E2F4F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9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下載「手語視訊轉譯」App，或上網站</a:t>
            </a:r>
            <a:r>
              <a:rPr sz="1900" b="0" i="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lang="en-US" sz="19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vrs.sfaa.gov.tw</a:t>
            </a:r>
            <a:r>
              <a:rPr sz="19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（要先註冊驗證身分</a:t>
            </a:r>
            <a:r>
              <a:rPr sz="1900" b="0" i="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574455"/>
            <a:ext cx="11057839" cy="1186264"/>
          </a:xfrm>
          <a:prstGeom prst="roundRect">
            <a:avLst>
              <a:gd name="adj" fmla="val 5000"/>
            </a:avLst>
          </a:prstGeom>
          <a:solidFill>
            <a:srgbClr val="E7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841247" y="4847547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5648" y="4761684"/>
            <a:ext cx="9549079" cy="766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lang="zh-TW" altLang="en-US" sz="24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服務範圍</a:t>
            </a:r>
            <a:endParaRPr sz="2400" b="1" i="0" dirty="0">
              <a:solidFill>
                <a:srgbClr val="0E2F4F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lang="zh-TW" altLang="en-US" sz="1900" b="0" i="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主要以協助聽語障者處理訂餐、訂房、叫車等簡易私人日常事務為主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035040"/>
            <a:ext cx="11057839" cy="259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※ </a:t>
            </a:r>
            <a:r>
              <a:rPr sz="1600" b="0" i="1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服務時間</a:t>
            </a:r>
            <a:r>
              <a:rPr lang="en-US" altLang="zh-TW"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:</a:t>
            </a:r>
            <a:r>
              <a:rPr lang="zh-TW" altLang="en-US"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 每週一至六（國定假日除外）上午</a:t>
            </a:r>
            <a:r>
              <a:rPr lang="en-US" altLang="zh-TW"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9</a:t>
            </a:r>
            <a:r>
              <a:rPr lang="zh-TW" altLang="en-US"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時至下午</a:t>
            </a:r>
            <a:r>
              <a:rPr lang="en-US" altLang="zh-TW"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7</a:t>
            </a:r>
            <a:r>
              <a:rPr lang="zh-TW" altLang="en-US"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時提供手語視訊轉譯或文字對話服務</a:t>
            </a:r>
            <a:endParaRPr sz="1600" b="0" i="1" dirty="0">
              <a:solidFill>
                <a:srgbClr val="55636E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 dirty="0" err="1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溝通</a:t>
            </a:r>
            <a:r>
              <a:rPr sz="1700" b="1" i="0" dirty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 4/5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溝通工具</a:t>
            </a:r>
            <a:r>
              <a:rPr sz="38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 ④　</a:t>
            </a:r>
            <a:r>
              <a:rPr sz="38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譯聯網（民間手語視訊</a:t>
            </a:r>
            <a:r>
              <a:rPr sz="38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37208"/>
            <a:ext cx="11057839" cy="1084410"/>
          </a:xfrm>
          <a:prstGeom prst="roundRect">
            <a:avLst>
              <a:gd name="adj" fmla="val 5000"/>
            </a:avLst>
          </a:prstGeom>
          <a:solidFill>
            <a:srgbClr val="E7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841247" y="1759373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5648" y="1689544"/>
            <a:ext cx="9549079" cy="11120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3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提供單位</a:t>
            </a:r>
            <a:endParaRPr sz="2300" b="1" i="0" dirty="0">
              <a:solidFill>
                <a:srgbClr val="0E2F4F"/>
              </a:solidFill>
              <a:latin typeface="Microsoft JhengHei"/>
              <a:ea typeface="Microsoft JhengHei"/>
              <a:cs typeface="Microsoft JhengHei"/>
            </a:endParaRPr>
          </a:p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8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社團法人台灣手語翻譯協會</a:t>
            </a:r>
            <a:r>
              <a:rPr lang="zh-TW" altLang="en-US" sz="1800" b="0" i="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，服務</a:t>
            </a:r>
            <a:r>
              <a:rPr lang="zh-TW" altLang="en-US" dirty="0">
                <a:solidFill>
                  <a:srgbClr val="55636E"/>
                </a:solidFill>
                <a:latin typeface="Microsoft JhengHei"/>
                <a:ea typeface="Microsoft JhengHei"/>
              </a:rPr>
              <a:t>不符合當地手語翻譯窗口與 </a:t>
            </a:r>
            <a:r>
              <a:rPr lang="en-US" altLang="zh-TW" dirty="0">
                <a:solidFill>
                  <a:srgbClr val="55636E"/>
                </a:solidFill>
                <a:latin typeface="Microsoft JhengHei"/>
                <a:ea typeface="Microsoft JhengHei"/>
              </a:rPr>
              <a:t>1999 </a:t>
            </a:r>
            <a:r>
              <a:rPr lang="zh-TW" altLang="en-US" dirty="0">
                <a:solidFill>
                  <a:srgbClr val="55636E"/>
                </a:solidFill>
                <a:latin typeface="Microsoft JhengHei"/>
                <a:ea typeface="Microsoft JhengHei"/>
              </a:rPr>
              <a:t>手語服務類型的案子。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endParaRPr sz="1800" b="0" i="0" dirty="0">
              <a:solidFill>
                <a:srgbClr val="55636E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66928" y="2786210"/>
            <a:ext cx="11057839" cy="1404958"/>
          </a:xfrm>
          <a:prstGeom prst="roundRect">
            <a:avLst>
              <a:gd name="adj" fmla="val 5000"/>
            </a:avLst>
          </a:prstGeom>
          <a:solidFill>
            <a:srgbClr val="E7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841247" y="3168650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5648" y="2932514"/>
            <a:ext cx="9549079" cy="11864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3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怎麼開始</a:t>
            </a:r>
            <a:endParaRPr sz="2300" b="1" i="0" dirty="0">
              <a:solidFill>
                <a:srgbClr val="0E2F4F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用 LINE </a:t>
            </a:r>
            <a:r>
              <a:rPr sz="18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把「譯聯網」加為好友</a:t>
            </a:r>
            <a:endParaRPr sz="1800" b="0" i="0" dirty="0">
              <a:solidFill>
                <a:srgbClr val="55636E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第一次使用要上傳身分證明，通過確認後才能使用</a:t>
            </a:r>
            <a:endParaRPr sz="1800" b="0" i="0" dirty="0">
              <a:solidFill>
                <a:srgbClr val="55636E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66928" y="4355761"/>
            <a:ext cx="11057839" cy="1404958"/>
          </a:xfrm>
          <a:prstGeom prst="roundRect">
            <a:avLst>
              <a:gd name="adj" fmla="val 5000"/>
            </a:avLst>
          </a:prstGeom>
          <a:solidFill>
            <a:srgbClr val="E7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841247" y="4738200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5648" y="4502065"/>
            <a:ext cx="9549079" cy="11864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3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和 VRS </a:t>
            </a:r>
            <a:r>
              <a:rPr sz="23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一起準備</a:t>
            </a:r>
            <a:endParaRPr sz="2300" b="1" i="0" dirty="0">
              <a:solidFill>
                <a:srgbClr val="0E2F4F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兩個都申請好，一個不通就換另一個</a:t>
            </a:r>
            <a:endParaRPr sz="1800" b="0" i="0" dirty="0">
              <a:solidFill>
                <a:srgbClr val="55636E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不要等到急事發生才註冊</a:t>
            </a:r>
            <a:endParaRPr sz="1800" b="0" i="0" dirty="0">
              <a:solidFill>
                <a:srgbClr val="55636E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6928" y="6035040"/>
            <a:ext cx="11057839" cy="8257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altLang="zh-TW"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※ </a:t>
            </a:r>
            <a:r>
              <a:rPr lang="zh-TW" altLang="en-US"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立即翻譯：每週一至週五，上午 </a:t>
            </a:r>
            <a:r>
              <a:rPr lang="en-US" altLang="zh-TW"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8 </a:t>
            </a:r>
            <a:r>
              <a:rPr lang="zh-TW" altLang="en-US"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點至下午 </a:t>
            </a:r>
            <a:r>
              <a:rPr lang="en-US" altLang="zh-TW"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4 </a:t>
            </a:r>
            <a:r>
              <a:rPr lang="zh-TW" altLang="en-US"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點。</a:t>
            </a:r>
          </a:p>
          <a:p>
            <a:pPr algn="l">
              <a:lnSpc>
                <a:spcPct val="115000"/>
              </a:lnSpc>
            </a:pPr>
            <a:r>
              <a:rPr lang="en-US" altLang="zh-TW"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※ </a:t>
            </a:r>
            <a:r>
              <a:rPr lang="zh-TW" altLang="en-US"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預約翻譯：每週一至週日，上午 </a:t>
            </a:r>
            <a:r>
              <a:rPr lang="en-US" altLang="zh-TW"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8 </a:t>
            </a:r>
            <a:r>
              <a:rPr lang="zh-TW" altLang="en-US"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點至下午 </a:t>
            </a:r>
            <a:r>
              <a:rPr lang="en-US" altLang="zh-TW"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10 </a:t>
            </a:r>
            <a:r>
              <a:rPr lang="zh-TW" altLang="en-US"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點（建議提前申請）。</a:t>
            </a:r>
          </a:p>
          <a:p>
            <a:pPr algn="l">
              <a:lnSpc>
                <a:spcPct val="115000"/>
              </a:lnSpc>
            </a:pPr>
            <a:endParaRPr lang="zh-TW" altLang="en-US" sz="1600" b="0" i="1" dirty="0">
              <a:solidFill>
                <a:srgbClr val="55636E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A52D416-E2B3-D01C-98C5-E030A0BD39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3087" y="1663716"/>
            <a:ext cx="8184614" cy="4616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C812D970-E00B-29DD-40E7-1CEEBDAA2464}"/>
              </a:ext>
            </a:extLst>
          </p:cNvPr>
          <p:cNvSpPr txBox="1"/>
          <p:nvPr/>
        </p:nvSpPr>
        <p:spPr>
          <a:xfrm>
            <a:off x="566928" y="758952"/>
            <a:ext cx="11057839" cy="57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zh-TW" altLang="en-US" sz="38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溝通工具 </a:t>
            </a:r>
            <a:r>
              <a:rPr lang="en-US" sz="38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④　</a:t>
            </a:r>
            <a:r>
              <a:rPr sz="38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譯聯網</a:t>
            </a:r>
            <a:r>
              <a:rPr lang="zh-TW" altLang="en-US" sz="38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有什麼不同</a:t>
            </a:r>
            <a:r>
              <a:rPr lang="en-US" altLang="zh-TW" sz="38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?</a:t>
            </a:r>
            <a:endParaRPr sz="3800" b="1" i="0" dirty="0">
              <a:solidFill>
                <a:srgbClr val="0E2F4F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D8AA4EA6-9A87-A6AD-9CE9-2FDE134952B1}"/>
              </a:ext>
            </a:extLst>
          </p:cNvPr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 dirty="0" err="1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溝通</a:t>
            </a:r>
            <a:r>
              <a:rPr sz="1700" b="1" i="0" dirty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 4/5 ｜ 補充</a:t>
            </a:r>
          </a:p>
        </p:txBody>
      </p:sp>
    </p:spTree>
    <p:extLst>
      <p:ext uri="{BB962C8B-B14F-4D97-AF65-F5344CB8AC3E}">
        <p14:creationId xmlns:p14="http://schemas.microsoft.com/office/powerpoint/2010/main" val="29296837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溝通 5/5 ｜ 請抄下來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溝通工具 ⑤　手語翻譯／同步聽打怎麼申請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37208"/>
            <a:ext cx="11057839" cy="1410715"/>
          </a:xfrm>
          <a:prstGeom prst="roundRect">
            <a:avLst>
              <a:gd name="adj" fmla="val 5000"/>
            </a:avLst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841247" y="1922526"/>
            <a:ext cx="640080" cy="640080"/>
          </a:xfrm>
          <a:prstGeom prst="ellipse">
            <a:avLst/>
          </a:prstGeom>
          <a:solidFill>
            <a:srgbClr val="9C6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5648" y="1683512"/>
            <a:ext cx="9549079" cy="11120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3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手語翻譯服務：新竹市政府社會處</a:t>
            </a:r>
            <a:r>
              <a:rPr sz="23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23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身心障礙福利科</a:t>
            </a:r>
            <a:endParaRPr sz="2300" b="1" i="0" dirty="0">
              <a:solidFill>
                <a:srgbClr val="0E2F4F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電話</a:t>
            </a:r>
            <a:r>
              <a:rPr sz="1800" b="0" i="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 03-535-2386 轉 505　｜　</a:t>
            </a:r>
            <a:r>
              <a:rPr sz="18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服務時間：週一～週日</a:t>
            </a:r>
            <a:r>
              <a:rPr sz="1800" b="0" i="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 08:00–21:00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請於活動</a:t>
            </a:r>
            <a:r>
              <a:rPr sz="1800" b="0" i="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lang="en-US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10 </a:t>
            </a:r>
            <a:r>
              <a:rPr sz="18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天前申請；可用於就醫、洽公、警政做筆錄、司法開庭</a:t>
            </a:r>
            <a:endParaRPr sz="1800" b="0" i="0" dirty="0">
              <a:solidFill>
                <a:srgbClr val="55636E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66928" y="3112516"/>
            <a:ext cx="11057839" cy="1731264"/>
          </a:xfrm>
          <a:prstGeom prst="roundRect">
            <a:avLst>
              <a:gd name="adj" fmla="val 5000"/>
            </a:avLst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841247" y="3658108"/>
            <a:ext cx="640080" cy="640080"/>
          </a:xfrm>
          <a:prstGeom prst="ellipse">
            <a:avLst/>
          </a:prstGeom>
          <a:solidFill>
            <a:srgbClr val="9C6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5648" y="3258820"/>
            <a:ext cx="9549079" cy="15069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3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同步聽打服務：社團法人新竹市聲暉協會</a:t>
            </a:r>
            <a:endParaRPr sz="2300" b="1" i="0" dirty="0">
              <a:solidFill>
                <a:srgbClr val="0E2F4F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電話</a:t>
            </a:r>
            <a:r>
              <a:rPr sz="1800" b="0" i="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 03-562-0030　｜　</a:t>
            </a:r>
            <a:r>
              <a:rPr sz="18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免付費</a:t>
            </a:r>
            <a:r>
              <a:rPr sz="1800" b="0" i="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 0800-035-002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服務時間：週一～週日</a:t>
            </a:r>
            <a:r>
              <a:rPr sz="1800" b="0" i="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 08:00–22:00；受理申請：週一～週五 08:30–17:30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同樣請於</a:t>
            </a:r>
            <a:r>
              <a:rPr sz="1800" b="0" i="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 7 </a:t>
            </a:r>
            <a:r>
              <a:rPr sz="18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天前提出申請</a:t>
            </a:r>
            <a:endParaRPr sz="1800" b="0" i="0" dirty="0">
              <a:solidFill>
                <a:srgbClr val="55636E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66928" y="5008372"/>
            <a:ext cx="11057839" cy="1410715"/>
          </a:xfrm>
          <a:prstGeom prst="roundRect">
            <a:avLst>
              <a:gd name="adj" fmla="val 5000"/>
            </a:avLst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841247" y="5393690"/>
            <a:ext cx="640080" cy="640080"/>
          </a:xfrm>
          <a:prstGeom prst="ellipse">
            <a:avLst/>
          </a:prstGeom>
          <a:solidFill>
            <a:srgbClr val="9C6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5648" y="5154676"/>
            <a:ext cx="9549079" cy="11864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3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小提醒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先把兩支電話存進手機，命名「手語翻譯」、「聽打」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臨時緊急（如做筆錄）可請警方協助聯繫；申請不上先找協會</a:t>
            </a: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07619C12-0474-EB72-76C1-E8E19498DE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618" y="1418336"/>
            <a:ext cx="2865382" cy="173126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9C6410"/>
                </a:solidFill>
                <a:latin typeface="Microsoft JhengHei"/>
                <a:ea typeface="Microsoft JhengHei"/>
                <a:cs typeface="Microsoft JhengHei"/>
              </a:rPr>
              <a:t>兩人一組，5 分鐘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實作練習</a:t>
            </a:r>
            <a:r>
              <a:rPr sz="38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 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37208"/>
            <a:ext cx="11057839" cy="126153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841247" y="1866222"/>
            <a:ext cx="603504" cy="603504"/>
          </a:xfrm>
          <a:prstGeom prst="ellipse">
            <a:avLst/>
          </a:prstGeom>
          <a:solidFill>
            <a:srgbClr val="E8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00" b="1">
                <a:solidFill>
                  <a:srgbClr val="4A3208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19072" y="1537208"/>
            <a:ext cx="9539935" cy="12615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在備忘錄打好「我是聽障人士，請打字給我看」並放大字級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81621"/>
            <a:ext cx="11057839" cy="126153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841247" y="3310636"/>
            <a:ext cx="603504" cy="603504"/>
          </a:xfrm>
          <a:prstGeom prst="ellipse">
            <a:avLst/>
          </a:prstGeom>
          <a:solidFill>
            <a:srgbClr val="E8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00" b="1">
                <a:solidFill>
                  <a:srgbClr val="4A3208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19072" y="2981621"/>
            <a:ext cx="9539935" cy="12615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用手機的語音轉文字，把老師講的一句話變成文字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426034"/>
            <a:ext cx="11057839" cy="126153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841247" y="4755049"/>
            <a:ext cx="603504" cy="603504"/>
          </a:xfrm>
          <a:prstGeom prst="ellipse">
            <a:avLst/>
          </a:prstGeom>
          <a:solidFill>
            <a:srgbClr val="E8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00" b="1">
                <a:solidFill>
                  <a:srgbClr val="4A3208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19072" y="4872070"/>
            <a:ext cx="9539935" cy="369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把「手語翻譯</a:t>
            </a:r>
            <a:r>
              <a:rPr sz="2200" b="0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 03-535-2386#505」和「聽打 0800-035-002」存進通訊錄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870448"/>
            <a:ext cx="11057839" cy="3190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 dirty="0" err="1">
                <a:solidFill>
                  <a:srgbClr val="9C6410"/>
                </a:solidFill>
                <a:latin typeface="Microsoft JhengHei"/>
                <a:ea typeface="Microsoft JhengHei"/>
                <a:cs typeface="Microsoft JhengHei"/>
              </a:rPr>
              <a:t>現在就存好，不要等回家</a:t>
            </a:r>
            <a:r>
              <a:rPr sz="1900" b="1" i="0" dirty="0">
                <a:solidFill>
                  <a:srgbClr val="9C6410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51560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E8A33C"/>
                </a:solidFill>
                <a:latin typeface="Microsoft JhengHei"/>
                <a:ea typeface="Microsoft JhengHei"/>
                <a:cs typeface="Microsoft JhengHei"/>
              </a:rPr>
              <a:t>休息時間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691640"/>
            <a:ext cx="11057839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休息 10 分鐘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566160"/>
            <a:ext cx="11057839" cy="9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1200"/>
              </a:spcAft>
            </a:pPr>
            <a:r>
              <a:rPr sz="2200" b="0" i="0" dirty="0" err="1">
                <a:solidFill>
                  <a:srgbClr val="CFE0EE"/>
                </a:solidFill>
                <a:latin typeface="Microsoft JhengHei"/>
                <a:ea typeface="Microsoft JhengHei"/>
                <a:cs typeface="Microsoft JhengHei"/>
              </a:rPr>
              <a:t>喝水、上洗手間、幫手機充電</a:t>
            </a:r>
            <a:endParaRPr sz="2200" b="0" i="0" dirty="0">
              <a:solidFill>
                <a:srgbClr val="CFE0EE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28000"/>
              </a:lnSpc>
              <a:spcAft>
                <a:spcPts val="1200"/>
              </a:spcAft>
            </a:pPr>
            <a:r>
              <a:rPr sz="2200" b="0" i="0" dirty="0" err="1">
                <a:solidFill>
                  <a:srgbClr val="CFE0EE"/>
                </a:solidFill>
                <a:latin typeface="Microsoft JhengHei"/>
                <a:ea typeface="Microsoft JhengHei"/>
                <a:cs typeface="Microsoft JhengHei"/>
              </a:rPr>
              <a:t>有問題的人可以來前面問，我會在這裡</a:t>
            </a:r>
            <a:endParaRPr sz="2200" b="0" i="0" dirty="0">
              <a:solidFill>
                <a:srgbClr val="CFE0EE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F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1207" y="960120"/>
            <a:ext cx="292608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20000" b="1" i="0">
                <a:solidFill>
                  <a:srgbClr val="1D4A72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51760" y="1417320"/>
            <a:ext cx="8973007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防詐騙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97480" y="2697480"/>
            <a:ext cx="2103120" cy="502920"/>
          </a:xfrm>
          <a:prstGeom prst="roundRect">
            <a:avLst>
              <a:gd name="adj" fmla="val 50000"/>
            </a:avLst>
          </a:prstGeom>
          <a:solidFill>
            <a:srgbClr val="E8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00" b="1">
                <a:solidFill>
                  <a:srgbClr val="4A3208"/>
                </a:solidFill>
                <a:latin typeface="Microsoft JhengHei"/>
                <a:ea typeface="Microsoft JhengHei"/>
                <a:cs typeface="Microsoft JhengHei"/>
              </a:rPr>
              <a:t>55 分鐘</a:t>
            </a:r>
          </a:p>
        </p:txBody>
      </p:sp>
      <p:sp>
        <p:nvSpPr>
          <p:cNvPr id="5" name="Oval 4"/>
          <p:cNvSpPr/>
          <p:nvPr/>
        </p:nvSpPr>
        <p:spPr>
          <a:xfrm>
            <a:off x="2724912" y="3657600"/>
            <a:ext cx="237744" cy="237744"/>
          </a:xfrm>
          <a:prstGeom prst="ellipse">
            <a:avLst/>
          </a:prstGeom>
          <a:solidFill>
            <a:srgbClr val="E8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0" y="3611880"/>
            <a:ext cx="842436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D7E5F1"/>
                </a:solidFill>
                <a:latin typeface="Microsoft JhengHei"/>
                <a:ea typeface="Microsoft JhengHei"/>
                <a:cs typeface="Microsoft JhengHei"/>
              </a:rPr>
              <a:t>165 打詐儀錶板：看今天全國多少人被騙</a:t>
            </a:r>
          </a:p>
        </p:txBody>
      </p:sp>
      <p:sp>
        <p:nvSpPr>
          <p:cNvPr id="7" name="Oval 6"/>
          <p:cNvSpPr/>
          <p:nvPr/>
        </p:nvSpPr>
        <p:spPr>
          <a:xfrm>
            <a:off x="2724912" y="4224528"/>
            <a:ext cx="237744" cy="237744"/>
          </a:xfrm>
          <a:prstGeom prst="ellipse">
            <a:avLst/>
          </a:prstGeom>
          <a:solidFill>
            <a:srgbClr val="E8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0" y="4178808"/>
            <a:ext cx="842436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D7E5F1"/>
                </a:solidFill>
                <a:latin typeface="Microsoft JhengHei"/>
                <a:ea typeface="Microsoft JhengHei"/>
                <a:cs typeface="Microsoft JhengHei"/>
              </a:rPr>
              <a:t>最常見的五種騙術，怎麼一眼看破</a:t>
            </a:r>
          </a:p>
        </p:txBody>
      </p:sp>
      <p:sp>
        <p:nvSpPr>
          <p:cNvPr id="9" name="Oval 8"/>
          <p:cNvSpPr/>
          <p:nvPr/>
        </p:nvSpPr>
        <p:spPr>
          <a:xfrm>
            <a:off x="2724912" y="4791456"/>
            <a:ext cx="237744" cy="237744"/>
          </a:xfrm>
          <a:prstGeom prst="ellipse">
            <a:avLst/>
          </a:prstGeom>
          <a:solidFill>
            <a:srgbClr val="E8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0" y="4745736"/>
            <a:ext cx="842436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D7E5F1"/>
                </a:solidFill>
                <a:latin typeface="Microsoft JhengHei"/>
                <a:ea typeface="Microsoft JhengHei"/>
                <a:cs typeface="Microsoft JhengHei"/>
              </a:rPr>
              <a:t>政府簡訊只有一個號碼：111</a:t>
            </a:r>
          </a:p>
        </p:txBody>
      </p:sp>
      <p:sp>
        <p:nvSpPr>
          <p:cNvPr id="11" name="Oval 10"/>
          <p:cNvSpPr/>
          <p:nvPr/>
        </p:nvSpPr>
        <p:spPr>
          <a:xfrm>
            <a:off x="2724912" y="5358384"/>
            <a:ext cx="237744" cy="237744"/>
          </a:xfrm>
          <a:prstGeom prst="ellipse">
            <a:avLst/>
          </a:prstGeom>
          <a:solidFill>
            <a:srgbClr val="E8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0" y="5312664"/>
            <a:ext cx="842436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D7E5F1"/>
                </a:solidFill>
                <a:latin typeface="Microsoft JhengHei"/>
                <a:ea typeface="Microsoft JhengHei"/>
                <a:cs typeface="Microsoft JhengHei"/>
              </a:rPr>
              <a:t>防詐三不：不點、不給、不轉</a:t>
            </a:r>
          </a:p>
        </p:txBody>
      </p:sp>
      <p:sp>
        <p:nvSpPr>
          <p:cNvPr id="13" name="Oval 12"/>
          <p:cNvSpPr/>
          <p:nvPr/>
        </p:nvSpPr>
        <p:spPr>
          <a:xfrm>
            <a:off x="2724912" y="5925312"/>
            <a:ext cx="237744" cy="237744"/>
          </a:xfrm>
          <a:prstGeom prst="ellipse">
            <a:avLst/>
          </a:prstGeom>
          <a:solidFill>
            <a:srgbClr val="E8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0" y="5879592"/>
            <a:ext cx="842436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D7E5F1"/>
                </a:solidFill>
                <a:latin typeface="Microsoft JhengHei"/>
                <a:ea typeface="Microsoft JhengHei"/>
                <a:cs typeface="Microsoft JhengHei"/>
              </a:rPr>
              <a:t>真假訊息實戰演練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不是你笨，是他們專門挑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57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為什麼</a:t>
            </a:r>
            <a:r>
              <a:rPr lang="zh-TW" altLang="en-US" sz="38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我們要</a:t>
            </a:r>
            <a:r>
              <a:rPr sz="38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特別小心</a:t>
            </a:r>
            <a:r>
              <a:rPr sz="38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37208"/>
            <a:ext cx="11057839" cy="1186264"/>
          </a:xfrm>
          <a:prstGeom prst="roundRect">
            <a:avLst>
              <a:gd name="adj" fmla="val 5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841247" y="1810300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5648" y="1724436"/>
            <a:ext cx="9549079" cy="766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4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消息</a:t>
            </a:r>
            <a:r>
              <a:rPr lang="zh-TW" altLang="en-US" sz="24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可能</a:t>
            </a:r>
            <a:r>
              <a:rPr sz="24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比別人慢</a:t>
            </a:r>
            <a:endParaRPr sz="2400" b="1" i="0" dirty="0">
              <a:solidFill>
                <a:srgbClr val="0E2F4F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lang="zh-TW" altLang="en-US" sz="1900" b="0" i="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每天新資訊很多，如果沒有常常追蹤</a:t>
            </a:r>
            <a:r>
              <a:rPr sz="19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新騙術</a:t>
            </a:r>
            <a:r>
              <a:rPr lang="zh-TW" altLang="en-US" sz="1900" b="0" i="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就會太晚</a:t>
            </a:r>
            <a:r>
              <a:rPr sz="1900" b="0" i="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才</a:t>
            </a:r>
            <a:r>
              <a:rPr lang="zh-TW" altLang="en-US" sz="1900" b="0" i="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發現</a:t>
            </a:r>
            <a:endParaRPr sz="1900" b="0" i="0" dirty="0">
              <a:solidFill>
                <a:srgbClr val="55636E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66928" y="2888064"/>
            <a:ext cx="11057839" cy="1186264"/>
          </a:xfrm>
          <a:prstGeom prst="roundRect">
            <a:avLst>
              <a:gd name="adj" fmla="val 5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841247" y="3161156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5648" y="3075293"/>
            <a:ext cx="9549079" cy="8958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4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文字訊息看起來都很像真的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假的網站、假的簡訊做得跟真的一模一樣，看字看不出來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238921"/>
            <a:ext cx="11057839" cy="1521798"/>
          </a:xfrm>
          <a:prstGeom prst="roundRect">
            <a:avLst>
              <a:gd name="adj" fmla="val 5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841247" y="4679780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78507" y="4616510"/>
            <a:ext cx="9549079" cy="766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lang="zh-TW" altLang="en-US" sz="24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沒有馬上</a:t>
            </a:r>
            <a:r>
              <a:rPr sz="24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查證</a:t>
            </a:r>
            <a:r>
              <a:rPr lang="zh-TW" altLang="en-US" sz="24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，導致受騙機率增加</a:t>
            </a:r>
            <a:endParaRPr sz="2400" b="1" i="0" dirty="0">
              <a:solidFill>
                <a:srgbClr val="0E2F4F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9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騙徒就是抓住這一點，一直催你「現在就要處理</a:t>
            </a:r>
            <a:r>
              <a:rPr sz="1900" b="0" i="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035040"/>
            <a:ext cx="11057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※ 記住一句話：只要對方「催你趕快」，十之八九是詐騙。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 dirty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網址：165dashboard.tw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165 打詐儀錶板：政府每天更新的防詐看板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934601"/>
            <a:ext cx="5382615" cy="1613778"/>
          </a:xfrm>
          <a:prstGeom prst="roundRect">
            <a:avLst>
              <a:gd name="adj" fmla="val 5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7824" y="2323221"/>
            <a:ext cx="4760823" cy="8732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① 每天的詐騙件數與金額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看到數字就知道，這不是別人的事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2151" y="1934601"/>
            <a:ext cx="5382615" cy="1613778"/>
          </a:xfrm>
          <a:prstGeom prst="roundRect">
            <a:avLst>
              <a:gd name="adj" fmla="val 5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53047" y="2323221"/>
            <a:ext cx="4760823" cy="8732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② 最常見的手法排行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排第一名的手法，就是最近最兇的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749547"/>
            <a:ext cx="5382615" cy="1613778"/>
          </a:xfrm>
          <a:prstGeom prst="roundRect">
            <a:avLst>
              <a:gd name="adj" fmla="val 5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4138167"/>
            <a:ext cx="4760823" cy="8732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③ 各縣市統計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可以看新竹市的情況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2151" y="3749547"/>
            <a:ext cx="5382615" cy="1613778"/>
          </a:xfrm>
          <a:prstGeom prst="roundRect">
            <a:avLst>
              <a:gd name="adj" fmla="val 5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53047" y="4138167"/>
            <a:ext cx="4760823" cy="8732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④ 最新案例、防詐秘笈、影片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有圖有影片，看得懂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035040"/>
            <a:ext cx="11057839" cy="259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※ 資料來源：內政部警政署「165打詐儀錶板」</a:t>
            </a:r>
            <a:r>
              <a:rPr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165dashboard.tw</a:t>
            </a:r>
            <a:endParaRPr sz="1600" b="0" i="1" dirty="0">
              <a:solidFill>
                <a:srgbClr val="55636E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9C6410"/>
                </a:solidFill>
                <a:latin typeface="Microsoft JhengHei"/>
                <a:ea typeface="Microsoft JhengHei"/>
                <a:cs typeface="Microsoft JhengHei"/>
              </a:rPr>
              <a:t>3 分鐘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一起做：把防詐看板放到手機桌面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37208"/>
            <a:ext cx="11057839" cy="90043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841247" y="1685671"/>
            <a:ext cx="603504" cy="603504"/>
          </a:xfrm>
          <a:prstGeom prst="ellipse">
            <a:avLst/>
          </a:prstGeom>
          <a:solidFill>
            <a:srgbClr val="E8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00" b="1">
                <a:solidFill>
                  <a:srgbClr val="4A3208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19072" y="1537208"/>
            <a:ext cx="9539935" cy="9004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打開手機的瀏覽器（Chrome 或 Safari）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620518"/>
            <a:ext cx="11057839" cy="90043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841247" y="2768981"/>
            <a:ext cx="603504" cy="603504"/>
          </a:xfrm>
          <a:prstGeom prst="ellipse">
            <a:avLst/>
          </a:prstGeom>
          <a:solidFill>
            <a:srgbClr val="E8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00" b="1">
                <a:solidFill>
                  <a:srgbClr val="4A3208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19072" y="2620518"/>
            <a:ext cx="9539935" cy="9004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在網址欄輸入：165dashboard.tw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703828"/>
            <a:ext cx="11057839" cy="90043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841247" y="3852291"/>
            <a:ext cx="603504" cy="603504"/>
          </a:xfrm>
          <a:prstGeom prst="ellipse">
            <a:avLst/>
          </a:prstGeom>
          <a:solidFill>
            <a:srgbClr val="E8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00" b="1">
                <a:solidFill>
                  <a:srgbClr val="4A3208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19072" y="3766180"/>
            <a:ext cx="9539935" cy="7757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Android：右上角</a:t>
            </a:r>
            <a:r>
              <a:rPr sz="2200" b="0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「⋮」→ </a:t>
            </a:r>
            <a:r>
              <a:rPr sz="2200" b="0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加到主畫面</a:t>
            </a:r>
            <a:endParaRPr lang="en-US" sz="2200" b="0" i="0" dirty="0">
              <a:solidFill>
                <a:srgbClr val="0E2F4F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20000"/>
              </a:lnSpc>
            </a:pPr>
            <a:r>
              <a:rPr sz="2200" b="0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iPhone：下方分享圖示</a:t>
            </a:r>
            <a:r>
              <a:rPr sz="2200" b="0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 → </a:t>
            </a:r>
            <a:r>
              <a:rPr sz="2200" b="0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加入主畫面</a:t>
            </a:r>
            <a:endParaRPr sz="2200" b="0" i="0" dirty="0">
              <a:solidFill>
                <a:srgbClr val="0E2F4F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66928" y="4787138"/>
            <a:ext cx="11057839" cy="90043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Oval 13"/>
          <p:cNvSpPr/>
          <p:nvPr/>
        </p:nvSpPr>
        <p:spPr>
          <a:xfrm>
            <a:off x="841247" y="4935601"/>
            <a:ext cx="603504" cy="603504"/>
          </a:xfrm>
          <a:prstGeom prst="ellipse">
            <a:avLst/>
          </a:prstGeom>
          <a:solidFill>
            <a:srgbClr val="E8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00" b="1">
                <a:solidFill>
                  <a:srgbClr val="4A3208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19072" y="4787138"/>
            <a:ext cx="9539935" cy="9004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回到桌面，確認出現一個新的圖示，點一下能打開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870448"/>
            <a:ext cx="1105783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9C6410"/>
                </a:solidFill>
                <a:latin typeface="Microsoft JhengHei"/>
                <a:ea typeface="Microsoft JhengHei"/>
                <a:cs typeface="Microsoft JhengHei"/>
              </a:rPr>
              <a:t>以後不用記網址，點桌面圖示就能看最新騙術。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資料來源：165打詐儀錶板（排名每月會變動，2026/09 查閱）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最常見的詐騙手法 前五名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37208"/>
            <a:ext cx="11057839" cy="548640"/>
          </a:xfrm>
          <a:prstGeom prst="roundRect">
            <a:avLst>
              <a:gd name="adj" fmla="val 12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56080"/>
            <a:ext cx="140349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排名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92214" y="1656080"/>
            <a:ext cx="671125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手法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69231" y="1656080"/>
            <a:ext cx="18458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特徵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085848"/>
            <a:ext cx="11057839" cy="731520"/>
          </a:xfrm>
          <a:prstGeom prst="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grpSp>
        <p:nvGrpSpPr>
          <p:cNvPr id="31" name="群組 30">
            <a:extLst>
              <a:ext uri="{FF2B5EF4-FFF2-40B4-BE49-F238E27FC236}">
                <a16:creationId xmlns:a16="http://schemas.microsoft.com/office/drawing/2014/main" id="{403122F6-D939-4015-260D-2F3F45816D4F}"/>
              </a:ext>
            </a:extLst>
          </p:cNvPr>
          <p:cNvGrpSpPr/>
          <p:nvPr/>
        </p:nvGrpSpPr>
        <p:grpSpPr>
          <a:xfrm>
            <a:off x="822960" y="2085848"/>
            <a:ext cx="10646358" cy="731520"/>
            <a:chOff x="822960" y="2085848"/>
            <a:chExt cx="10646358" cy="731520"/>
          </a:xfrm>
        </p:grpSpPr>
        <p:sp>
          <p:nvSpPr>
            <p:cNvPr id="9" name="TextBox 8"/>
            <p:cNvSpPr txBox="1"/>
            <p:nvPr/>
          </p:nvSpPr>
          <p:spPr>
            <a:xfrm>
              <a:off x="822960" y="2085848"/>
              <a:ext cx="1357774" cy="7315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900" b="1" i="0" dirty="0">
                  <a:solidFill>
                    <a:srgbClr val="0E2F4F"/>
                  </a:solidFill>
                  <a:latin typeface="Microsoft JhengHei"/>
                  <a:ea typeface="Microsoft JhengHei"/>
                  <a:cs typeface="Microsoft JhengHei"/>
                </a:rPr>
                <a:t>第 1 名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592214" y="2085848"/>
              <a:ext cx="6665537" cy="7315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900" b="1" i="0">
                  <a:solidFill>
                    <a:srgbClr val="0E2F4F"/>
                  </a:solidFill>
                  <a:latin typeface="Microsoft JhengHei"/>
                  <a:ea typeface="Microsoft JhengHei"/>
                  <a:cs typeface="Microsoft JhengHei"/>
                </a:rPr>
                <a:t>網路購物詐騙（假網站、假貨、假物流）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669231" y="2085848"/>
              <a:ext cx="1800087" cy="7315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900" b="1" i="0">
                  <a:solidFill>
                    <a:srgbClr val="0E2F4F"/>
                  </a:solidFill>
                  <a:latin typeface="Microsoft JhengHei"/>
                  <a:ea typeface="Microsoft JhengHei"/>
                  <a:cs typeface="Microsoft JhengHei"/>
                </a:rPr>
                <a:t>件數第一</a:t>
              </a:r>
            </a:p>
          </p:txBody>
        </p:sp>
      </p:grp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FFDA9D74-6F89-6EFC-E56D-B6B03BDB0FD1}"/>
              </a:ext>
            </a:extLst>
          </p:cNvPr>
          <p:cNvGrpSpPr/>
          <p:nvPr/>
        </p:nvGrpSpPr>
        <p:grpSpPr>
          <a:xfrm>
            <a:off x="822960" y="2817368"/>
            <a:ext cx="10646358" cy="731520"/>
            <a:chOff x="822960" y="2817368"/>
            <a:chExt cx="10646358" cy="731520"/>
          </a:xfrm>
        </p:grpSpPr>
        <p:sp>
          <p:nvSpPr>
            <p:cNvPr id="12" name="TextBox 11"/>
            <p:cNvSpPr txBox="1"/>
            <p:nvPr/>
          </p:nvSpPr>
          <p:spPr>
            <a:xfrm>
              <a:off x="822960" y="2817368"/>
              <a:ext cx="1357774" cy="7315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900" b="0" i="0" dirty="0">
                  <a:solidFill>
                    <a:srgbClr val="55636E"/>
                  </a:solidFill>
                  <a:latin typeface="Microsoft JhengHei"/>
                  <a:ea typeface="Microsoft JhengHei"/>
                  <a:cs typeface="Microsoft JhengHei"/>
                </a:rPr>
                <a:t>第 2 名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592214" y="2817368"/>
              <a:ext cx="6665537" cy="7315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900" b="0" i="0" dirty="0" err="1">
                  <a:solidFill>
                    <a:srgbClr val="55636E"/>
                  </a:solidFill>
                  <a:latin typeface="Microsoft JhengHei"/>
                  <a:ea typeface="Microsoft JhengHei"/>
                  <a:cs typeface="Microsoft JhengHei"/>
                </a:rPr>
                <a:t>假投資（保證獲利、穩賺不賠）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669231" y="2817368"/>
              <a:ext cx="1800087" cy="7315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900" b="0" i="0">
                  <a:solidFill>
                    <a:srgbClr val="55636E"/>
                  </a:solidFill>
                  <a:latin typeface="Microsoft JhengHei"/>
                  <a:ea typeface="Microsoft JhengHei"/>
                  <a:cs typeface="Microsoft JhengHei"/>
                </a:rPr>
                <a:t>財損最大</a:t>
              </a:r>
            </a:p>
          </p:txBody>
        </p:sp>
      </p:grpSp>
      <p:sp>
        <p:nvSpPr>
          <p:cNvPr id="15" name="Rectangle 14"/>
          <p:cNvSpPr/>
          <p:nvPr/>
        </p:nvSpPr>
        <p:spPr>
          <a:xfrm>
            <a:off x="566928" y="3548888"/>
            <a:ext cx="11057839" cy="731520"/>
          </a:xfrm>
          <a:prstGeom prst="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grpSp>
        <p:nvGrpSpPr>
          <p:cNvPr id="29" name="群組 28">
            <a:extLst>
              <a:ext uri="{FF2B5EF4-FFF2-40B4-BE49-F238E27FC236}">
                <a16:creationId xmlns:a16="http://schemas.microsoft.com/office/drawing/2014/main" id="{A119819E-A9E4-8091-8EC2-9391F9F6E8A7}"/>
              </a:ext>
            </a:extLst>
          </p:cNvPr>
          <p:cNvGrpSpPr/>
          <p:nvPr/>
        </p:nvGrpSpPr>
        <p:grpSpPr>
          <a:xfrm>
            <a:off x="822960" y="3548888"/>
            <a:ext cx="10646358" cy="731520"/>
            <a:chOff x="822960" y="3548888"/>
            <a:chExt cx="10646358" cy="731520"/>
          </a:xfrm>
        </p:grpSpPr>
        <p:sp>
          <p:nvSpPr>
            <p:cNvPr id="16" name="TextBox 15"/>
            <p:cNvSpPr txBox="1"/>
            <p:nvPr/>
          </p:nvSpPr>
          <p:spPr>
            <a:xfrm>
              <a:off x="822960" y="3548888"/>
              <a:ext cx="1357774" cy="7315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900" b="0" i="0" dirty="0">
                  <a:solidFill>
                    <a:srgbClr val="55636E"/>
                  </a:solidFill>
                  <a:latin typeface="Microsoft JhengHei"/>
                  <a:ea typeface="Microsoft JhengHei"/>
                  <a:cs typeface="Microsoft JhengHei"/>
                </a:rPr>
                <a:t>第 3 名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592214" y="3548888"/>
              <a:ext cx="6665537" cy="7315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900" b="0" i="0" dirty="0" err="1">
                  <a:solidFill>
                    <a:srgbClr val="55636E"/>
                  </a:solidFill>
                  <a:latin typeface="Microsoft JhengHei"/>
                  <a:ea typeface="Microsoft JhengHei"/>
                  <a:cs typeface="Microsoft JhengHei"/>
                </a:rPr>
                <a:t>假交友（交往後叫你投資）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669231" y="3548888"/>
              <a:ext cx="1800087" cy="7315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900" b="0" i="0">
                  <a:solidFill>
                    <a:srgbClr val="55636E"/>
                  </a:solidFill>
                  <a:latin typeface="Microsoft JhengHei"/>
                  <a:ea typeface="Microsoft JhengHei"/>
                  <a:cs typeface="Microsoft JhengHei"/>
                </a:rPr>
                <a:t>越來越多</a:t>
              </a:r>
            </a:p>
          </p:txBody>
        </p:sp>
      </p:grp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957AC45F-62A8-4041-5EE3-EBA585B919A2}"/>
              </a:ext>
            </a:extLst>
          </p:cNvPr>
          <p:cNvGrpSpPr/>
          <p:nvPr/>
        </p:nvGrpSpPr>
        <p:grpSpPr>
          <a:xfrm>
            <a:off x="822960" y="4280408"/>
            <a:ext cx="10646358" cy="731520"/>
            <a:chOff x="822960" y="4280408"/>
            <a:chExt cx="10646358" cy="731520"/>
          </a:xfrm>
        </p:grpSpPr>
        <p:sp>
          <p:nvSpPr>
            <p:cNvPr id="19" name="TextBox 18"/>
            <p:cNvSpPr txBox="1"/>
            <p:nvPr/>
          </p:nvSpPr>
          <p:spPr>
            <a:xfrm>
              <a:off x="822960" y="4280408"/>
              <a:ext cx="1357774" cy="7315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900" b="0" i="0" dirty="0">
                  <a:solidFill>
                    <a:srgbClr val="55636E"/>
                  </a:solidFill>
                  <a:latin typeface="Microsoft JhengHei"/>
                  <a:ea typeface="Microsoft JhengHei"/>
                  <a:cs typeface="Microsoft JhengHei"/>
                </a:rPr>
                <a:t>第 4 名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592214" y="4280408"/>
              <a:ext cx="6665537" cy="7315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900" b="0" i="0" dirty="0" err="1">
                  <a:solidFill>
                    <a:srgbClr val="55636E"/>
                  </a:solidFill>
                  <a:latin typeface="Microsoft JhengHei"/>
                  <a:ea typeface="Microsoft JhengHei"/>
                  <a:cs typeface="Microsoft JhengHei"/>
                </a:rPr>
                <a:t>色情應召詐財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669231" y="4280408"/>
              <a:ext cx="1800087" cy="7315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900" b="0" i="0">
                  <a:solidFill>
                    <a:srgbClr val="55636E"/>
                  </a:solidFill>
                  <a:latin typeface="Microsoft JhengHei"/>
                  <a:ea typeface="Microsoft JhengHei"/>
                  <a:cs typeface="Microsoft JhengHei"/>
                </a:rPr>
                <a:t>陌生邀約</a:t>
              </a:r>
            </a:p>
          </p:txBody>
        </p:sp>
      </p:grpSp>
      <p:sp>
        <p:nvSpPr>
          <p:cNvPr id="22" name="Rectangle 21"/>
          <p:cNvSpPr/>
          <p:nvPr/>
        </p:nvSpPr>
        <p:spPr>
          <a:xfrm>
            <a:off x="566928" y="5011928"/>
            <a:ext cx="11057839" cy="731520"/>
          </a:xfrm>
          <a:prstGeom prst="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41B06F9B-F6FC-E1DF-CF5A-4AC5BCED3CB7}"/>
              </a:ext>
            </a:extLst>
          </p:cNvPr>
          <p:cNvGrpSpPr/>
          <p:nvPr/>
        </p:nvGrpSpPr>
        <p:grpSpPr>
          <a:xfrm>
            <a:off x="822960" y="5011928"/>
            <a:ext cx="10646358" cy="731520"/>
            <a:chOff x="822960" y="5011928"/>
            <a:chExt cx="10646358" cy="731520"/>
          </a:xfrm>
        </p:grpSpPr>
        <p:sp>
          <p:nvSpPr>
            <p:cNvPr id="23" name="TextBox 22"/>
            <p:cNvSpPr txBox="1"/>
            <p:nvPr/>
          </p:nvSpPr>
          <p:spPr>
            <a:xfrm>
              <a:off x="822960" y="5011928"/>
              <a:ext cx="1357774" cy="7315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900" b="0" i="0">
                  <a:solidFill>
                    <a:srgbClr val="55636E"/>
                  </a:solidFill>
                  <a:latin typeface="Microsoft JhengHei"/>
                  <a:ea typeface="Microsoft JhengHei"/>
                  <a:cs typeface="Microsoft JhengHei"/>
                </a:rPr>
                <a:t>第 5 名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592214" y="5011928"/>
              <a:ext cx="6665537" cy="7315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900" b="0" i="0">
                  <a:solidFill>
                    <a:srgbClr val="55636E"/>
                  </a:solidFill>
                  <a:latin typeface="Microsoft JhengHei"/>
                  <a:ea typeface="Microsoft JhengHei"/>
                  <a:cs typeface="Microsoft JhengHei"/>
                </a:rPr>
                <a:t>假買家騙賣家（你賣東西，他來騙你）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9669231" y="5011928"/>
              <a:ext cx="1800087" cy="7315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900" b="0" i="0">
                  <a:solidFill>
                    <a:srgbClr val="55636E"/>
                  </a:solidFill>
                  <a:latin typeface="Microsoft JhengHei"/>
                  <a:ea typeface="Microsoft JhengHei"/>
                  <a:cs typeface="Microsoft JhengHei"/>
                </a:rPr>
                <a:t>二手買賣</a:t>
              </a: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566928" y="6035040"/>
            <a:ext cx="11057839" cy="259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※ 排名每月都不一樣，上課當天請上 165dashboard.tw 看當月最新。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五大手法 1/5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手法① 假投資：騙最多錢的一種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37208"/>
            <a:ext cx="11057839" cy="1404958"/>
          </a:xfrm>
          <a:prstGeom prst="roundRect">
            <a:avLst>
              <a:gd name="adj" fmla="val 5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841247" y="1919647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5648" y="1683512"/>
            <a:ext cx="9549079" cy="11864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3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他會這樣說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「保證獲利」「穩賺不賠」「低風險高報酬」「老師帶你操作」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先讓你賺一點小錢，再叫你投入大錢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106758"/>
            <a:ext cx="11057839" cy="1084410"/>
          </a:xfrm>
          <a:prstGeom prst="roundRect">
            <a:avLst>
              <a:gd name="adj" fmla="val 5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841247" y="3328924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5648" y="3259095"/>
            <a:ext cx="9549079" cy="865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3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他會叫你做這些事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下載沒聽過的投資 App、加投資群組，把錢匯到「個人帳戶」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355761"/>
            <a:ext cx="11057839" cy="1404958"/>
          </a:xfrm>
          <a:prstGeom prst="roundRect">
            <a:avLst>
              <a:gd name="adj" fmla="val 5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841247" y="4738200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5648" y="4502065"/>
            <a:ext cx="9549079" cy="11864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3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破解：記住三句話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投資只走合法管道（銀行、券商）；私人管道、群組老師一律不碰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聽到「保證賺」＝100% 詐騙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035040"/>
            <a:ext cx="11057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※ 真正的投資沒有人敢保證獲利。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五大手法 2、3/5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手法② 網路購物 ／ 手法③ 假買家騙賣家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46072"/>
            <a:ext cx="5346039" cy="4205782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783816"/>
            <a:ext cx="4833975" cy="54864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你買東西被騙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533624"/>
            <a:ext cx="4760823" cy="30627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假網站、超便宜的商品、只收匯款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只有 LINE 客服、沒有電話與地址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破解：用有信用的購物平台、貨到付款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破解：便宜到不合理，就是假的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546072"/>
            <a:ext cx="5346039" cy="4205782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34759" y="1783816"/>
            <a:ext cx="4833975" cy="54864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你賣東西被騙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1335" y="2533624"/>
            <a:ext cx="4760823" cy="30627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對方說「我要買，但要先驗證你的帳號」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傳一個連結給你，叫你輸入銀行帳號、密碼、驗證碼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破解：買家不需要你的密碼和驗證碼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破解：任何連結都不要點，一律面交或用平台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035040"/>
            <a:ext cx="11057839" cy="259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※ </a:t>
            </a:r>
            <a:r>
              <a:rPr sz="1600" b="0" i="1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最近暴增的是「假物流」簡訊</a:t>
            </a:r>
            <a:r>
              <a:rPr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：「</a:t>
            </a:r>
            <a:r>
              <a:rPr sz="1600" b="0" i="1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包裹異常、請補繳費用</a:t>
            </a:r>
            <a:r>
              <a:rPr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」，</a:t>
            </a:r>
            <a:r>
              <a:rPr lang="zh-TW" altLang="en-US"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來路不明的到貨付款簡訊</a:t>
            </a:r>
            <a:r>
              <a:rPr sz="1600" b="0" i="1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連結一律不點</a:t>
            </a:r>
            <a:r>
              <a:rPr lang="en-US"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!</a:t>
            </a:r>
            <a:endParaRPr sz="1600" b="0" i="1" dirty="0">
              <a:solidFill>
                <a:srgbClr val="55636E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pic>
        <p:nvPicPr>
          <p:cNvPr id="1026" name="Picture 2" descr="來路不明的到貨付款簡訊帶來詐騙集團的山寨假貨- 鷹眼觀察">
            <a:extLst>
              <a:ext uri="{FF2B5EF4-FFF2-40B4-BE49-F238E27FC236}">
                <a16:creationId xmlns:a16="http://schemas.microsoft.com/office/drawing/2014/main" id="{4936B3C0-13AA-9FA0-C0C0-18B3799B1B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5349" y="5843551"/>
            <a:ext cx="1286444" cy="901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五大手法 4、5/5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手法④ 假交友　手法⑤ 假中獎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37208"/>
            <a:ext cx="11057839" cy="2029460"/>
          </a:xfrm>
          <a:prstGeom prst="roundRect">
            <a:avLst>
              <a:gd name="adj" fmla="val 5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841247" y="2231898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5648" y="1787013"/>
            <a:ext cx="9549079" cy="1566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4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假交友：先談感情，再談錢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網路上認識、很關心你、天天聊天，但永遠不能見面、不能視訊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聊一陣子後開始說：我有一個賺錢的方法／我遇到困難需要錢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破解：沒見過面的人要錢、要你投資 → 停止聯絡，告訴家人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731260"/>
            <a:ext cx="11057839" cy="2029460"/>
          </a:xfrm>
          <a:prstGeom prst="roundRect">
            <a:avLst>
              <a:gd name="adj" fmla="val 5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841247" y="4425950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5648" y="3981065"/>
            <a:ext cx="9549079" cy="1566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4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假中獎：先給你好消息，再要錢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「恭喜中獎」「有一筆退費要退給你」「包裹待領」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接著要你付手續費、稅金，或點連結填帳號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破解：中獎不需要先付錢；政府退費不會用簡訊連結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035040"/>
            <a:ext cx="11057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※ 共同點：先給糖，再要錢。只要出現「先付一點錢」，就停下來。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特別注意：全部都是文字，看不出真假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LINE 上面最常見的三種詐騙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37208"/>
            <a:ext cx="5382615" cy="2340356"/>
          </a:xfrm>
          <a:prstGeom prst="roundRect">
            <a:avLst>
              <a:gd name="adj" fmla="val 5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7824" y="1844348"/>
            <a:ext cx="4760823" cy="17045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100" b="1" i="0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假客服／假官方帳號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7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說你的訂單有問題、要你重新付款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7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官方帳號名字旁邊有盾牌標記，但也會被模仿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7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破解：自己回到原本的平台查訂單，不要點他的連結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2151" y="1537208"/>
            <a:ext cx="5382615" cy="2340356"/>
          </a:xfrm>
          <a:prstGeom prst="roundRect">
            <a:avLst>
              <a:gd name="adj" fmla="val 5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53047" y="1844348"/>
            <a:ext cx="4760823" cy="17045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100" b="1" i="0" dirty="0" err="1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帳號被盜，假裝是熟人借錢</a:t>
            </a:r>
            <a:endParaRPr sz="2100" b="1" i="0" dirty="0">
              <a:solidFill>
                <a:srgbClr val="C0392B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700" b="0" i="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「</a:t>
            </a:r>
            <a:r>
              <a:rPr sz="17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我手機壞了，先幫我代付一下</a:t>
            </a:r>
            <a:r>
              <a:rPr sz="1700" b="0" i="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」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7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破解：一定要視訊確認是本人（我們是聾人，視訊最方便</a:t>
            </a:r>
            <a:r>
              <a:rPr sz="17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！）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7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破解：問一個只有你們兩人知道的事</a:t>
            </a:r>
            <a:endParaRPr sz="1700" b="1" i="0" dirty="0">
              <a:solidFill>
                <a:srgbClr val="0E2F4F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66928" y="4078732"/>
            <a:ext cx="5382615" cy="2340356"/>
          </a:xfrm>
          <a:prstGeom prst="roundRect">
            <a:avLst>
              <a:gd name="adj" fmla="val 5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4556142"/>
            <a:ext cx="4760823" cy="1386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100" b="1" i="0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被拉進投資群組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7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群組裡很多人在「感謝老師」，其實都是同一夥人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7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破解：直接退出、封鎖、檢舉，不要辯論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2151" y="4078732"/>
            <a:ext cx="5382615" cy="2340356"/>
          </a:xfrm>
          <a:prstGeom prst="roundRect">
            <a:avLst>
              <a:gd name="adj" fmla="val 5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53047" y="4351900"/>
            <a:ext cx="4760823" cy="14706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100" b="1" i="0" dirty="0" err="1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共同動作</a:t>
            </a:r>
            <a:endParaRPr sz="2100" b="1" i="0" dirty="0">
              <a:solidFill>
                <a:srgbClr val="C0392B"/>
              </a:solidFill>
              <a:latin typeface="Microsoft JhengHei"/>
              <a:ea typeface="Microsoft JhengHei"/>
              <a:cs typeface="Microsoft JhengHei"/>
            </a:endParaRPr>
          </a:p>
          <a:p>
            <a:pPr marL="342900" indent="-342900" algn="l">
              <a:lnSpc>
                <a:spcPct val="120000"/>
              </a:lnSpc>
              <a:spcAft>
                <a:spcPts val="500"/>
              </a:spcAft>
              <a:buFont typeface="+mj-lt"/>
              <a:buAutoNum type="arabicPeriod"/>
            </a:pPr>
            <a:r>
              <a:rPr sz="17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先截圖</a:t>
            </a:r>
            <a:r>
              <a:rPr lang="zh-TW" altLang="en-US" sz="17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、</a:t>
            </a:r>
            <a:r>
              <a:rPr sz="17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再封鎖</a:t>
            </a:r>
            <a:endParaRPr sz="1700" b="1" i="0" dirty="0">
              <a:solidFill>
                <a:srgbClr val="0E2F4F"/>
              </a:solidFill>
              <a:latin typeface="Microsoft JhengHei"/>
              <a:ea typeface="Microsoft JhengHei"/>
              <a:cs typeface="Microsoft JhengHei"/>
            </a:endParaRPr>
          </a:p>
          <a:p>
            <a:pPr marL="342900" indent="-342900" algn="l">
              <a:lnSpc>
                <a:spcPct val="120000"/>
              </a:lnSpc>
              <a:spcAft>
                <a:spcPts val="500"/>
              </a:spcAft>
              <a:buFont typeface="+mj-lt"/>
              <a:buAutoNum type="arabicPeriod"/>
            </a:pPr>
            <a:r>
              <a:rPr sz="17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告訴家人或協會</a:t>
            </a:r>
            <a:endParaRPr sz="1700" b="1" i="0" dirty="0">
              <a:solidFill>
                <a:srgbClr val="0E2F4F"/>
              </a:solidFill>
              <a:latin typeface="Microsoft JhengHei"/>
              <a:ea typeface="Microsoft JhengHei"/>
              <a:cs typeface="Microsoft JhengHei"/>
            </a:endParaRPr>
          </a:p>
          <a:p>
            <a:pPr marL="342900" indent="-342900" algn="l">
              <a:lnSpc>
                <a:spcPct val="120000"/>
              </a:lnSpc>
              <a:spcAft>
                <a:spcPts val="500"/>
              </a:spcAft>
              <a:buFont typeface="+mj-lt"/>
              <a:buAutoNum type="arabicPeriod"/>
            </a:pPr>
            <a:r>
              <a:rPr sz="17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最後通報</a:t>
            </a:r>
            <a:r>
              <a:rPr sz="17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 165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F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51560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E8A33C"/>
                </a:solidFill>
                <a:latin typeface="Microsoft JhengHei"/>
                <a:ea typeface="Microsoft JhengHei"/>
                <a:cs typeface="Microsoft JhengHei"/>
              </a:rPr>
              <a:t>一個超好用的判斷方法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691640"/>
            <a:ext cx="11057839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政府的簡訊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只會用「111」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566160"/>
            <a:ext cx="11057839" cy="15642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1200"/>
              </a:spcAft>
            </a:pPr>
            <a:r>
              <a:rPr sz="2200" b="0" i="0" dirty="0" err="1">
                <a:solidFill>
                  <a:srgbClr val="CFE0EE"/>
                </a:solidFill>
                <a:latin typeface="Microsoft JhengHei"/>
                <a:ea typeface="Microsoft JhengHei"/>
                <a:cs typeface="Microsoft JhengHei"/>
              </a:rPr>
              <a:t>真的政府簡訊三個特徵</a:t>
            </a:r>
            <a:r>
              <a:rPr sz="2200" b="0" i="0" dirty="0">
                <a:solidFill>
                  <a:srgbClr val="CFE0EE"/>
                </a:solidFill>
                <a:latin typeface="Microsoft JhengHei"/>
                <a:ea typeface="Microsoft JhengHei"/>
                <a:cs typeface="Microsoft JhengHei"/>
              </a:rPr>
              <a:t>：① </a:t>
            </a:r>
            <a:r>
              <a:rPr sz="2200" b="0" i="0" dirty="0" err="1">
                <a:solidFill>
                  <a:srgbClr val="CFE0EE"/>
                </a:solidFill>
                <a:latin typeface="Microsoft JhengHei"/>
                <a:ea typeface="Microsoft JhengHei"/>
                <a:cs typeface="Microsoft JhengHei"/>
              </a:rPr>
              <a:t>號碼是</a:t>
            </a:r>
            <a:r>
              <a:rPr sz="2200" b="0" i="0" dirty="0">
                <a:solidFill>
                  <a:srgbClr val="CFE0EE"/>
                </a:solidFill>
                <a:latin typeface="Microsoft JhengHei"/>
                <a:ea typeface="Microsoft JhengHei"/>
                <a:cs typeface="Microsoft JhengHei"/>
              </a:rPr>
              <a:t> 111　② </a:t>
            </a:r>
            <a:r>
              <a:rPr sz="2200" b="0" i="0" dirty="0" err="1">
                <a:solidFill>
                  <a:srgbClr val="CFE0EE"/>
                </a:solidFill>
                <a:latin typeface="Microsoft JhengHei"/>
                <a:ea typeface="Microsoft JhengHei"/>
                <a:cs typeface="Microsoft JhengHei"/>
              </a:rPr>
              <a:t>開頭有你手機號碼的末</a:t>
            </a:r>
            <a:r>
              <a:rPr sz="2200" b="0" i="0" dirty="0">
                <a:solidFill>
                  <a:srgbClr val="CFE0EE"/>
                </a:solidFill>
                <a:latin typeface="Microsoft JhengHei"/>
                <a:ea typeface="Microsoft JhengHei"/>
                <a:cs typeface="Microsoft JhengHei"/>
              </a:rPr>
              <a:t> 3 碼　③ </a:t>
            </a:r>
            <a:r>
              <a:rPr lang="zh-TW" altLang="en-US" sz="2200" b="0" i="0" dirty="0">
                <a:solidFill>
                  <a:srgbClr val="CFE0EE"/>
                </a:solidFill>
                <a:latin typeface="Microsoft JhengHei"/>
                <a:ea typeface="Microsoft JhengHei"/>
                <a:cs typeface="Microsoft JhengHei"/>
              </a:rPr>
              <a:t>有</a:t>
            </a:r>
            <a:r>
              <a:rPr sz="2200" b="0" i="0" dirty="0" err="1">
                <a:solidFill>
                  <a:srgbClr val="CFE0EE"/>
                </a:solidFill>
                <a:latin typeface="Microsoft JhengHei"/>
                <a:ea typeface="Microsoft JhengHei"/>
                <a:cs typeface="Microsoft JhengHei"/>
              </a:rPr>
              <a:t>機關名稱</a:t>
            </a:r>
            <a:endParaRPr sz="2200" b="0" i="0" dirty="0">
              <a:solidFill>
                <a:srgbClr val="CFE0EE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28000"/>
              </a:lnSpc>
              <a:spcAft>
                <a:spcPts val="1200"/>
              </a:spcAft>
            </a:pPr>
            <a:r>
              <a:rPr sz="2200" b="0" i="0" dirty="0" err="1">
                <a:solidFill>
                  <a:srgbClr val="CFE0EE"/>
                </a:solidFill>
                <a:latin typeface="Microsoft JhengHei"/>
                <a:ea typeface="Microsoft JhengHei"/>
                <a:cs typeface="Microsoft JhengHei"/>
              </a:rPr>
              <a:t>號碼不是</a:t>
            </a:r>
            <a:r>
              <a:rPr sz="2200" b="0" i="0" dirty="0">
                <a:solidFill>
                  <a:srgbClr val="CFE0EE"/>
                </a:solidFill>
                <a:latin typeface="Microsoft JhengHei"/>
                <a:ea typeface="Microsoft JhengHei"/>
                <a:cs typeface="Microsoft JhengHei"/>
              </a:rPr>
              <a:t> 111 </a:t>
            </a:r>
            <a:r>
              <a:rPr sz="2200" b="0" i="0" dirty="0" err="1">
                <a:solidFill>
                  <a:srgbClr val="CFE0EE"/>
                </a:solidFill>
                <a:latin typeface="Microsoft JhengHei"/>
                <a:ea typeface="Microsoft JhengHei"/>
                <a:cs typeface="Microsoft JhengHei"/>
              </a:rPr>
              <a:t>卻說自己是政府（健保、勞保、國稅局、警察</a:t>
            </a:r>
            <a:r>
              <a:rPr sz="2200" b="0" i="0" dirty="0">
                <a:solidFill>
                  <a:srgbClr val="CFE0EE"/>
                </a:solidFill>
                <a:latin typeface="Microsoft JhengHei"/>
                <a:ea typeface="Microsoft JhengHei"/>
                <a:cs typeface="Microsoft JhengHei"/>
              </a:rPr>
              <a:t>）→ </a:t>
            </a:r>
            <a:r>
              <a:rPr sz="2200" b="0" i="0" dirty="0" err="1">
                <a:solidFill>
                  <a:srgbClr val="CFE0EE"/>
                </a:solidFill>
                <a:latin typeface="Microsoft JhengHei"/>
                <a:ea typeface="Microsoft JhengHei"/>
                <a:cs typeface="Microsoft JhengHei"/>
              </a:rPr>
              <a:t>假的</a:t>
            </a:r>
            <a:endParaRPr sz="2200" b="0" i="0" dirty="0">
              <a:solidFill>
                <a:srgbClr val="CFE0EE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28000"/>
              </a:lnSpc>
              <a:spcAft>
                <a:spcPts val="1200"/>
              </a:spcAft>
            </a:pPr>
            <a:r>
              <a:rPr sz="2200" b="0" i="0" dirty="0" err="1">
                <a:solidFill>
                  <a:srgbClr val="CFE0EE"/>
                </a:solidFill>
                <a:latin typeface="Microsoft JhengHei"/>
                <a:ea typeface="Microsoft JhengHei"/>
                <a:cs typeface="Microsoft JhengHei"/>
              </a:rPr>
              <a:t>資料來源：數位發展部「政府專屬</a:t>
            </a:r>
            <a:r>
              <a:rPr sz="2200" b="0" i="0" dirty="0">
                <a:solidFill>
                  <a:srgbClr val="CFE0EE"/>
                </a:solidFill>
                <a:latin typeface="Microsoft JhengHei"/>
                <a:ea typeface="Microsoft JhengHei"/>
                <a:cs typeface="Microsoft JhengHei"/>
              </a:rPr>
              <a:t> 111 </a:t>
            </a:r>
            <a:r>
              <a:rPr sz="2200" b="0" i="0" dirty="0" err="1">
                <a:solidFill>
                  <a:srgbClr val="CFE0EE"/>
                </a:solidFill>
                <a:latin typeface="Microsoft JhengHei"/>
                <a:ea typeface="Microsoft JhengHei"/>
                <a:cs typeface="Microsoft JhengHei"/>
              </a:rPr>
              <a:t>短碼簡訊</a:t>
            </a:r>
            <a:r>
              <a:rPr sz="2200" b="0" i="0" dirty="0">
                <a:solidFill>
                  <a:srgbClr val="CFE0EE"/>
                </a:solidFill>
                <a:latin typeface="Microsoft JhengHei"/>
                <a:ea typeface="Microsoft JhengHei"/>
                <a:cs typeface="Microsoft JhengHei"/>
              </a:rPr>
              <a:t>」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全場最重要的一頁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防詐三不：只要記這三個動作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37208"/>
            <a:ext cx="11057839" cy="1298109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841247" y="1866222"/>
            <a:ext cx="640080" cy="640080"/>
          </a:xfrm>
          <a:prstGeom prst="ellipse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5648" y="1780359"/>
            <a:ext cx="9549079" cy="8958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4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不點連結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簡訊、LINE 裡的連結，一律不點；要查就自己打開官方 App 或網站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99909"/>
            <a:ext cx="11057839" cy="1298109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841247" y="3328924"/>
            <a:ext cx="640080" cy="640080"/>
          </a:xfrm>
          <a:prstGeom prst="ellipse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5648" y="3243060"/>
            <a:ext cx="9549079" cy="8958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4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不給密碼、不給驗證碼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驗證碼＝你家鑰匙。銀行、警察、公司，沒有人會問你的驗證碼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462610"/>
            <a:ext cx="11057839" cy="1298109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841247" y="4791625"/>
            <a:ext cx="640080" cy="640080"/>
          </a:xfrm>
          <a:prstGeom prst="ellipse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5648" y="4705761"/>
            <a:ext cx="9549079" cy="8958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4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不轉帳、不下載陌生 App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對方催你越急，越要停下來；不明來源的 App 絕對不裝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035040"/>
            <a:ext cx="11057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※ 做不到「三不」的時候，就做第四件事：先問人再行動。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查證的四條路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先問人，再行動：可以問誰？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37208"/>
            <a:ext cx="5382615" cy="2011172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7824" y="1938219"/>
            <a:ext cx="4760823" cy="12214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>
                <a:solidFill>
                  <a:srgbClr val="1E7A46"/>
                </a:solidFill>
                <a:latin typeface="Microsoft JhengHei"/>
                <a:ea typeface="Microsoft JhengHei"/>
                <a:cs typeface="Microsoft JhengHei"/>
              </a:rPr>
              <a:t>家人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先傳截圖給孩子或信任的親人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問法：「這個是真的嗎？」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2151" y="1537208"/>
            <a:ext cx="5382615" cy="2011172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53047" y="1751914"/>
            <a:ext cx="4760823" cy="1569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 dirty="0" err="1">
                <a:solidFill>
                  <a:srgbClr val="1E7A46"/>
                </a:solidFill>
                <a:latin typeface="Microsoft JhengHei"/>
                <a:ea typeface="Microsoft JhengHei"/>
                <a:cs typeface="Microsoft JhengHei"/>
              </a:rPr>
              <a:t>聾人協會</a:t>
            </a:r>
            <a:endParaRPr sz="2300" b="1" i="0" dirty="0">
              <a:solidFill>
                <a:srgbClr val="1E7A46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協會電話</a:t>
            </a:r>
            <a:r>
              <a:rPr sz="19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 0932-203-673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LINE ID：5356896（聯絡人：莊秀鈺）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傳截圖過去問，比自己猜安全</a:t>
            </a:r>
            <a:endParaRPr sz="1900" b="0" i="0" dirty="0">
              <a:solidFill>
                <a:srgbClr val="55636E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66928" y="3749548"/>
            <a:ext cx="5382615" cy="2011172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3964254"/>
            <a:ext cx="4760823" cy="1569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>
                <a:solidFill>
                  <a:srgbClr val="1E7A46"/>
                </a:solidFill>
                <a:latin typeface="Microsoft JhengHei"/>
                <a:ea typeface="Microsoft JhengHei"/>
                <a:cs typeface="Microsoft JhengHei"/>
              </a:rPr>
              <a:t>165 全民防騙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LINE 搜尋 ID：@tw165 加好友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網站：165dashboard.tw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電話 165（可請家人代打）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2151" y="3749548"/>
            <a:ext cx="5382615" cy="2011172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53047" y="4150559"/>
            <a:ext cx="4760823" cy="12214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>
                <a:solidFill>
                  <a:srgbClr val="1E7A46"/>
                </a:solidFill>
                <a:latin typeface="Microsoft JhengHei"/>
                <a:ea typeface="Microsoft JhengHei"/>
                <a:cs typeface="Microsoft JhengHei"/>
              </a:rPr>
              <a:t>銀行或原本的商家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用你本來就有的電話、App 去問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不要用對方給你的電話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035040"/>
            <a:ext cx="11057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※ 停下來問一句話，只花 5 分鐘；被騙一次，可能是好幾年的積蓄。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真假判斷 1/3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演練 ①　這個是真的還是假的？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37208"/>
            <a:ext cx="5346039" cy="4881880"/>
          </a:xfrm>
          <a:prstGeom prst="roundRect">
            <a:avLst>
              <a:gd name="adj" fmla="val 5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756664"/>
            <a:ext cx="2834640" cy="475488"/>
          </a:xfrm>
          <a:prstGeom prst="roundRect">
            <a:avLst>
              <a:gd name="adj" fmla="val 50000"/>
            </a:avLst>
          </a:prstGeom>
          <a:solidFill>
            <a:srgbClr val="556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手機收到的訊息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451608"/>
            <a:ext cx="4760823" cy="3830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20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【簡訊，號碼 0987-XXX-XXX】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20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「國稅局通知：您有一筆退稅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20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款項尚未領取，請於今日內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20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點選下方連結完成身分驗證，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20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逾期作廢。 http://gov-tw.xyz/ok」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537208"/>
            <a:ext cx="5346039" cy="4881880"/>
          </a:xfrm>
          <a:prstGeom prst="roundRect">
            <a:avLst>
              <a:gd name="adj" fmla="val 5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9623" y="1774952"/>
            <a:ext cx="472424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假的！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9623" y="2652776"/>
            <a:ext cx="4724247" cy="3601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65176" indent="-265176" algn="l">
              <a:lnSpc>
                <a:spcPct val="120000"/>
              </a:lnSpc>
              <a:spcAft>
                <a:spcPts val="1000"/>
              </a:spcAft>
            </a:pPr>
            <a:r>
              <a:rPr sz="20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・號碼不是 111，卻說自己是政府</a:t>
            </a:r>
          </a:p>
          <a:p>
            <a:pPr marL="265176" indent="-265176" algn="l">
              <a:lnSpc>
                <a:spcPct val="120000"/>
              </a:lnSpc>
              <a:spcAft>
                <a:spcPts val="1000"/>
              </a:spcAft>
            </a:pPr>
            <a:r>
              <a:rPr sz="20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・沒有你手機的末 3 碼</a:t>
            </a:r>
          </a:p>
          <a:p>
            <a:pPr marL="265176" indent="-265176" algn="l">
              <a:lnSpc>
                <a:spcPct val="120000"/>
              </a:lnSpc>
              <a:spcAft>
                <a:spcPts val="1000"/>
              </a:spcAft>
            </a:pPr>
            <a:r>
              <a:rPr sz="20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・網址看起來像政府，其實不是 gov.tw</a:t>
            </a:r>
          </a:p>
          <a:p>
            <a:pPr marL="265176" indent="-265176" algn="l">
              <a:lnSpc>
                <a:spcPct val="120000"/>
              </a:lnSpc>
              <a:spcAft>
                <a:spcPts val="1000"/>
              </a:spcAft>
            </a:pPr>
            <a:r>
              <a:rPr sz="20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・催你「今日內、逾期作廢」</a:t>
            </a:r>
          </a:p>
          <a:p>
            <a:pPr marL="265176" indent="-265176" algn="l">
              <a:lnSpc>
                <a:spcPct val="120000"/>
              </a:lnSpc>
              <a:spcAft>
                <a:spcPts val="1000"/>
              </a:spcAft>
            </a:pPr>
            <a:r>
              <a:rPr sz="20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・正確做法：截圖 → 不點 → 問家人或 165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真假判斷 2/3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演練 ②　這個是真的還是假的？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37208"/>
            <a:ext cx="5346039" cy="4881880"/>
          </a:xfrm>
          <a:prstGeom prst="roundRect">
            <a:avLst>
              <a:gd name="adj" fmla="val 5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756664"/>
            <a:ext cx="2834640" cy="475488"/>
          </a:xfrm>
          <a:prstGeom prst="roundRect">
            <a:avLst>
              <a:gd name="adj" fmla="val 50000"/>
            </a:avLst>
          </a:prstGeom>
          <a:solidFill>
            <a:srgbClr val="556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手機收到的訊息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451608"/>
            <a:ext cx="4760823" cy="3830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20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【LINE，來自你女兒的帳號】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20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「媽，我手機壞掉了，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20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現在用同事的手機。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20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我有一筆錢要繳，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20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你先幫我匯 3 萬到這個帳號，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20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我回家再給你。不要打電話喔。」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537208"/>
            <a:ext cx="5346039" cy="4881880"/>
          </a:xfrm>
          <a:prstGeom prst="roundRect">
            <a:avLst>
              <a:gd name="adj" fmla="val 5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9623" y="1774952"/>
            <a:ext cx="472424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假的！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9623" y="2652776"/>
            <a:ext cx="4724247" cy="26954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65176" indent="-265176" algn="l">
              <a:lnSpc>
                <a:spcPct val="120000"/>
              </a:lnSpc>
              <a:spcAft>
                <a:spcPts val="1000"/>
              </a:spcAft>
            </a:pPr>
            <a:r>
              <a:rPr sz="2000" b="0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・「</a:t>
            </a:r>
            <a:r>
              <a:rPr sz="2000" b="0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不要打電話</a:t>
            </a:r>
            <a:r>
              <a:rPr sz="2000" b="0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」＝</a:t>
            </a:r>
            <a:r>
              <a:rPr sz="2000" b="0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怕你確認</a:t>
            </a:r>
            <a:endParaRPr sz="2000" b="0" i="0" dirty="0">
              <a:solidFill>
                <a:srgbClr val="0E2F4F"/>
              </a:solidFill>
              <a:latin typeface="Microsoft JhengHei"/>
              <a:ea typeface="Microsoft JhengHei"/>
              <a:cs typeface="Microsoft JhengHei"/>
            </a:endParaRPr>
          </a:p>
          <a:p>
            <a:pPr marL="265176" indent="-265176" algn="l">
              <a:lnSpc>
                <a:spcPct val="120000"/>
              </a:lnSpc>
              <a:spcAft>
                <a:spcPts val="1000"/>
              </a:spcAft>
            </a:pPr>
            <a:r>
              <a:rPr sz="2000" b="0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2000" b="0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帳號可能被盜，訊息不是本人打的</a:t>
            </a:r>
            <a:endParaRPr sz="2000" b="0" i="0" dirty="0">
              <a:solidFill>
                <a:srgbClr val="0E2F4F"/>
              </a:solidFill>
              <a:latin typeface="Microsoft JhengHei"/>
              <a:ea typeface="Microsoft JhengHei"/>
              <a:cs typeface="Microsoft JhengHei"/>
            </a:endParaRPr>
          </a:p>
          <a:p>
            <a:pPr marL="265176" indent="-265176" algn="l">
              <a:lnSpc>
                <a:spcPct val="120000"/>
              </a:lnSpc>
              <a:spcAft>
                <a:spcPts val="1000"/>
              </a:spcAft>
            </a:pPr>
            <a:r>
              <a:rPr sz="2000" b="0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2000" b="0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聾人的優勢：直接視訊，看到本人才算</a:t>
            </a:r>
            <a:endParaRPr sz="2000" b="0" i="0" dirty="0">
              <a:solidFill>
                <a:srgbClr val="0E2F4F"/>
              </a:solidFill>
              <a:latin typeface="Microsoft JhengHei"/>
              <a:ea typeface="Microsoft JhengHei"/>
              <a:cs typeface="Microsoft JhengHei"/>
            </a:endParaRPr>
          </a:p>
          <a:p>
            <a:pPr marL="265176" indent="-265176" algn="l">
              <a:lnSpc>
                <a:spcPct val="120000"/>
              </a:lnSpc>
              <a:spcAft>
                <a:spcPts val="1000"/>
              </a:spcAft>
            </a:pPr>
            <a:r>
              <a:rPr sz="2000" b="0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2000" b="0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也可以問只有你們知道的事</a:t>
            </a:r>
            <a:endParaRPr sz="2000" b="0" i="0" dirty="0">
              <a:solidFill>
                <a:srgbClr val="0E2F4F"/>
              </a:solidFill>
              <a:latin typeface="Microsoft JhengHei"/>
              <a:ea typeface="Microsoft JhengHei"/>
              <a:cs typeface="Microsoft JhengHei"/>
            </a:endParaRPr>
          </a:p>
          <a:p>
            <a:pPr marL="265176" indent="-265176" algn="l">
              <a:lnSpc>
                <a:spcPct val="120000"/>
              </a:lnSpc>
              <a:spcAft>
                <a:spcPts val="1000"/>
              </a:spcAft>
            </a:pPr>
            <a:r>
              <a:rPr sz="2000" b="0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2000" b="0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正確做法：不匯錢</a:t>
            </a:r>
            <a:r>
              <a:rPr sz="2000" b="0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 → </a:t>
            </a:r>
            <a:r>
              <a:rPr sz="2000" b="0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視訊確認</a:t>
            </a:r>
            <a:r>
              <a:rPr sz="2000" b="0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 → </a:t>
            </a:r>
            <a:r>
              <a:rPr sz="2000" b="0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截圖</a:t>
            </a:r>
            <a:r>
              <a:rPr sz="2000" b="0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 → </a:t>
            </a:r>
            <a:r>
              <a:rPr sz="2000" b="0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告訴其他家人</a:t>
            </a:r>
            <a:endParaRPr sz="2000" b="0" i="0" dirty="0">
              <a:solidFill>
                <a:srgbClr val="0E2F4F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真假判斷 3/3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演練</a:t>
            </a:r>
            <a:r>
              <a:rPr sz="38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 ③　</a:t>
            </a:r>
            <a:r>
              <a:rPr sz="38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這個是真的還是假的</a:t>
            </a:r>
            <a:r>
              <a:rPr sz="38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37208"/>
            <a:ext cx="5346039" cy="4881880"/>
          </a:xfrm>
          <a:prstGeom prst="roundRect">
            <a:avLst>
              <a:gd name="adj" fmla="val 5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756664"/>
            <a:ext cx="2834640" cy="475488"/>
          </a:xfrm>
          <a:prstGeom prst="roundRect">
            <a:avLst>
              <a:gd name="adj" fmla="val 50000"/>
            </a:avLst>
          </a:prstGeom>
          <a:solidFill>
            <a:srgbClr val="556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手機收到的訊息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451608"/>
            <a:ext cx="4760823" cy="3830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20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【被加入一個 LINE 群組】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20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群組名稱：「穩健獲利交流區」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20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「老師」每天發截圖：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20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「今日獲利 8%」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20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群裡很多人說：「感謝老師！」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20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小助理私訊你：下載這個 App 就能跟單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537208"/>
            <a:ext cx="5346039" cy="4881880"/>
          </a:xfrm>
          <a:prstGeom prst="roundRect">
            <a:avLst>
              <a:gd name="adj" fmla="val 5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9623" y="1774952"/>
            <a:ext cx="472424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假的！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9623" y="2652776"/>
            <a:ext cx="4724247" cy="3601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65176" indent="-265176" algn="l">
              <a:lnSpc>
                <a:spcPct val="120000"/>
              </a:lnSpc>
              <a:spcAft>
                <a:spcPts val="1000"/>
              </a:spcAft>
            </a:pPr>
            <a:r>
              <a:rPr sz="20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・「保證獲利」「穩賺」＝100% 詐騙</a:t>
            </a:r>
          </a:p>
          <a:p>
            <a:pPr marL="265176" indent="-265176" algn="l">
              <a:lnSpc>
                <a:spcPct val="120000"/>
              </a:lnSpc>
              <a:spcAft>
                <a:spcPts val="1000"/>
              </a:spcAft>
            </a:pPr>
            <a:r>
              <a:rPr sz="20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・群裡感謝的人多半是同一夥</a:t>
            </a:r>
          </a:p>
          <a:p>
            <a:pPr marL="265176" indent="-265176" algn="l">
              <a:lnSpc>
                <a:spcPct val="120000"/>
              </a:lnSpc>
              <a:spcAft>
                <a:spcPts val="1000"/>
              </a:spcAft>
            </a:pPr>
            <a:r>
              <a:rPr sz="20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・叫你下載不明 App，就是要騙你的錢</a:t>
            </a:r>
          </a:p>
          <a:p>
            <a:pPr marL="265176" indent="-265176" algn="l">
              <a:lnSpc>
                <a:spcPct val="120000"/>
              </a:lnSpc>
              <a:spcAft>
                <a:spcPts val="1000"/>
              </a:spcAft>
            </a:pPr>
            <a:r>
              <a:rPr sz="20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・正確做法：退出群組 → 封鎖 → 檢舉 → 不要跟他辯論</a:t>
            </a:r>
          </a:p>
          <a:p>
            <a:pPr marL="265176" indent="-265176" algn="l">
              <a:lnSpc>
                <a:spcPct val="120000"/>
              </a:lnSpc>
              <a:spcAft>
                <a:spcPts val="1000"/>
              </a:spcAft>
            </a:pPr>
            <a:r>
              <a:rPr sz="20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・有加入過的，回家馬上退出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9C6410"/>
                </a:solidFill>
                <a:latin typeface="Microsoft JhengHei"/>
                <a:ea typeface="Microsoft JhengHei"/>
                <a:cs typeface="Microsoft JhengHei"/>
              </a:rPr>
              <a:t>3 分鐘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57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zh-TW" altLang="en-US" sz="38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實作練習 </a:t>
            </a:r>
            <a:r>
              <a:rPr lang="en-US" sz="38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③</a:t>
            </a:r>
            <a:endParaRPr lang="zh-TW" altLang="en-US" sz="3800" b="1" i="0" dirty="0">
              <a:solidFill>
                <a:srgbClr val="0E2F4F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66928" y="1537208"/>
            <a:ext cx="11057839" cy="126153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841247" y="1866222"/>
            <a:ext cx="603504" cy="603504"/>
          </a:xfrm>
          <a:prstGeom prst="ellipse">
            <a:avLst/>
          </a:prstGeom>
          <a:solidFill>
            <a:srgbClr val="E8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00" b="1">
                <a:solidFill>
                  <a:srgbClr val="4A3208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19072" y="1537208"/>
            <a:ext cx="9539935" cy="12615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LINE 搜尋 ID「@tw165」，加為好友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81621"/>
            <a:ext cx="11057839" cy="126153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841247" y="3310636"/>
            <a:ext cx="603504" cy="603504"/>
          </a:xfrm>
          <a:prstGeom prst="ellipse">
            <a:avLst/>
          </a:prstGeom>
          <a:solidFill>
            <a:srgbClr val="E8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00" b="1">
                <a:solidFill>
                  <a:srgbClr val="4A3208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19072" y="2981621"/>
            <a:ext cx="9539935" cy="12615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把「協會 0932-203-673」存進通訊錄，命名「協會 求助」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426034"/>
            <a:ext cx="11057839" cy="126153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841247" y="4755049"/>
            <a:ext cx="603504" cy="603504"/>
          </a:xfrm>
          <a:prstGeom prst="ellipse">
            <a:avLst/>
          </a:prstGeom>
          <a:solidFill>
            <a:srgbClr val="E8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00" b="1">
                <a:solidFill>
                  <a:srgbClr val="4A3208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19072" y="4426034"/>
            <a:ext cx="9539935" cy="12615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回家跟家人說一次今天學到的「三不」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870448"/>
            <a:ext cx="1105783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9C6410"/>
                </a:solidFill>
                <a:latin typeface="Microsoft JhengHei"/>
                <a:ea typeface="Microsoft JhengHei"/>
                <a:cs typeface="Microsoft JhengHei"/>
              </a:rPr>
              <a:t>收到可疑訊息 → 截圖 → 傳給協會或家人 → 不點、不給、不轉。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F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1207" y="960120"/>
            <a:ext cx="292608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20000" b="1" i="0">
                <a:solidFill>
                  <a:srgbClr val="1D4A72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51760" y="1417320"/>
            <a:ext cx="8973007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緊急求助與外出安全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97480" y="2697480"/>
            <a:ext cx="2103120" cy="502920"/>
          </a:xfrm>
          <a:prstGeom prst="roundRect">
            <a:avLst>
              <a:gd name="adj" fmla="val 50000"/>
            </a:avLst>
          </a:prstGeom>
          <a:solidFill>
            <a:srgbClr val="E8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00" b="1">
                <a:solidFill>
                  <a:srgbClr val="4A3208"/>
                </a:solidFill>
                <a:latin typeface="Microsoft JhengHei"/>
                <a:ea typeface="Microsoft JhengHei"/>
                <a:cs typeface="Microsoft JhengHei"/>
              </a:rPr>
              <a:t>25 分鐘</a:t>
            </a:r>
          </a:p>
        </p:txBody>
      </p:sp>
      <p:sp>
        <p:nvSpPr>
          <p:cNvPr id="5" name="Oval 4"/>
          <p:cNvSpPr/>
          <p:nvPr/>
        </p:nvSpPr>
        <p:spPr>
          <a:xfrm>
            <a:off x="2724912" y="3657600"/>
            <a:ext cx="237744" cy="237744"/>
          </a:xfrm>
          <a:prstGeom prst="ellipse">
            <a:avLst/>
          </a:prstGeom>
          <a:solidFill>
            <a:srgbClr val="E8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0" y="3611880"/>
            <a:ext cx="842436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D7E5F1"/>
                </a:solidFill>
                <a:latin typeface="Microsoft JhengHei"/>
                <a:ea typeface="Microsoft JhengHei"/>
                <a:cs typeface="Microsoft JhengHei"/>
              </a:rPr>
              <a:t>110 視訊報案 App：不用說話也能報警</a:t>
            </a:r>
          </a:p>
        </p:txBody>
      </p:sp>
      <p:sp>
        <p:nvSpPr>
          <p:cNvPr id="7" name="Oval 6"/>
          <p:cNvSpPr/>
          <p:nvPr/>
        </p:nvSpPr>
        <p:spPr>
          <a:xfrm>
            <a:off x="2724912" y="4224528"/>
            <a:ext cx="237744" cy="237744"/>
          </a:xfrm>
          <a:prstGeom prst="ellipse">
            <a:avLst/>
          </a:prstGeom>
          <a:solidFill>
            <a:srgbClr val="E8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0" y="4178808"/>
            <a:ext cx="842436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D7E5F1"/>
                </a:solidFill>
                <a:latin typeface="Microsoft JhengHei"/>
                <a:ea typeface="Microsoft JhengHei"/>
                <a:cs typeface="Microsoft JhengHei"/>
              </a:rPr>
              <a:t>119 報案 App：簡訊報案叫救護車</a:t>
            </a:r>
          </a:p>
        </p:txBody>
      </p:sp>
      <p:sp>
        <p:nvSpPr>
          <p:cNvPr id="9" name="Oval 8"/>
          <p:cNvSpPr/>
          <p:nvPr/>
        </p:nvSpPr>
        <p:spPr>
          <a:xfrm>
            <a:off x="2724912" y="4791456"/>
            <a:ext cx="237744" cy="237744"/>
          </a:xfrm>
          <a:prstGeom prst="ellipse">
            <a:avLst/>
          </a:prstGeom>
          <a:solidFill>
            <a:srgbClr val="E8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0" y="4745736"/>
            <a:ext cx="842436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D7E5F1"/>
                </a:solidFill>
                <a:latin typeface="Microsoft JhengHei"/>
                <a:ea typeface="Microsoft JhengHei"/>
                <a:cs typeface="Microsoft JhengHei"/>
              </a:rPr>
              <a:t>新竹市 110 聽語障簡訊報案號碼</a:t>
            </a:r>
          </a:p>
        </p:txBody>
      </p:sp>
      <p:sp>
        <p:nvSpPr>
          <p:cNvPr id="11" name="Oval 10"/>
          <p:cNvSpPr/>
          <p:nvPr/>
        </p:nvSpPr>
        <p:spPr>
          <a:xfrm>
            <a:off x="2724912" y="5358384"/>
            <a:ext cx="237744" cy="237744"/>
          </a:xfrm>
          <a:prstGeom prst="ellipse">
            <a:avLst/>
          </a:prstGeom>
          <a:solidFill>
            <a:srgbClr val="E8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0" y="5312664"/>
            <a:ext cx="842436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D7E5F1"/>
                </a:solidFill>
                <a:latin typeface="Microsoft JhengHei"/>
                <a:ea typeface="Microsoft JhengHei"/>
                <a:cs typeface="Microsoft JhengHei"/>
              </a:rPr>
              <a:t>求助訊息的 4 句公式</a:t>
            </a:r>
          </a:p>
        </p:txBody>
      </p:sp>
      <p:sp>
        <p:nvSpPr>
          <p:cNvPr id="13" name="Oval 12"/>
          <p:cNvSpPr/>
          <p:nvPr/>
        </p:nvSpPr>
        <p:spPr>
          <a:xfrm>
            <a:off x="2724912" y="5925312"/>
            <a:ext cx="237744" cy="237744"/>
          </a:xfrm>
          <a:prstGeom prst="ellipse">
            <a:avLst/>
          </a:prstGeom>
          <a:solidFill>
            <a:srgbClr val="E8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0" y="5879592"/>
            <a:ext cx="842436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D7E5F1"/>
                </a:solidFill>
                <a:latin typeface="Microsoft JhengHei"/>
                <a:ea typeface="Microsoft JhengHei"/>
                <a:cs typeface="Microsoft JhengHei"/>
              </a:rPr>
              <a:t>緊急聯絡人與鎖定畫面醫療資訊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先有概念，再學操作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57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zh-TW" altLang="en-US" sz="38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發生</a:t>
            </a:r>
            <a:r>
              <a:rPr sz="38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緊急</a:t>
            </a:r>
            <a:r>
              <a:rPr lang="zh-TW" altLang="en-US" sz="38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事件，手機可以怎麼幫助你</a:t>
            </a:r>
            <a:r>
              <a:rPr lang="en-US" altLang="zh-TW" sz="38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?</a:t>
            </a:r>
            <a:endParaRPr sz="3800" b="1" i="0" dirty="0">
              <a:solidFill>
                <a:srgbClr val="0E2F4F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66928" y="1537208"/>
            <a:ext cx="5382615" cy="2011172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7824" y="1751914"/>
            <a:ext cx="4760823" cy="1569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110 視訊報案 App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報警：車禍、被偷、被騙、有危險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可以打字、可以視訊打手語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會自動送出你的位置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2151" y="1537208"/>
            <a:ext cx="5382615" cy="2011172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53047" y="1751914"/>
            <a:ext cx="4760823" cy="1569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119 報案 App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叫救護車、火災、山難、救助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可以用簡訊報案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會自動送出 GPS 位置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749548"/>
            <a:ext cx="5382615" cy="2011172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3964254"/>
            <a:ext cx="4760823" cy="1569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110 聽語障簡訊報案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直接發簡訊給警察局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新竹市：0911-510-919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只能純文字，不能傳圖片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2151" y="3749548"/>
            <a:ext cx="5382615" cy="2011172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53047" y="3964254"/>
            <a:ext cx="4760823" cy="1195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 dirty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LINE </a:t>
            </a:r>
            <a:r>
              <a:rPr sz="2300" b="1" i="0" dirty="0" err="1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傳給家人或協會</a:t>
            </a:r>
            <a:endParaRPr sz="2300" b="1" i="0" dirty="0">
              <a:solidFill>
                <a:srgbClr val="0B5D8C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傳位置＋一句話＋照片</a:t>
            </a:r>
            <a:endParaRPr sz="1900" b="0" i="0" dirty="0">
              <a:solidFill>
                <a:srgbClr val="55636E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1" dirty="0" err="1">
                <a:solidFill>
                  <a:srgbClr val="0E2F4F"/>
                </a:solidFill>
                <a:latin typeface="Microsoft JhengHei"/>
                <a:ea typeface="Microsoft JhengHei"/>
              </a:rPr>
              <a:t>一起做讓</a:t>
            </a:r>
            <a:r>
              <a:rPr lang="zh-TW" altLang="en-US" sz="1900" b="1" dirty="0">
                <a:solidFill>
                  <a:srgbClr val="0E2F4F"/>
                </a:solidFill>
                <a:latin typeface="Microsoft JhengHei"/>
                <a:ea typeface="Microsoft JhengHei"/>
              </a:rPr>
              <a:t>他</a:t>
            </a:r>
            <a:r>
              <a:rPr sz="1900" b="1" dirty="0">
                <a:solidFill>
                  <a:srgbClr val="0E2F4F"/>
                </a:solidFill>
                <a:latin typeface="Microsoft JhengHei"/>
                <a:ea typeface="Microsoft JhengHei"/>
              </a:rPr>
              <a:t>人</a:t>
            </a:r>
            <a:r>
              <a:rPr lang="zh-TW" altLang="en-US" sz="1900" b="1" dirty="0">
                <a:solidFill>
                  <a:srgbClr val="0E2F4F"/>
                </a:solidFill>
                <a:latin typeface="Microsoft JhengHei"/>
                <a:ea typeface="Microsoft JhengHei"/>
              </a:rPr>
              <a:t>更快</a:t>
            </a:r>
            <a:r>
              <a:rPr sz="1900" b="1" dirty="0" err="1">
                <a:solidFill>
                  <a:srgbClr val="0E2F4F"/>
                </a:solidFill>
                <a:latin typeface="Microsoft JhengHei"/>
                <a:ea typeface="Microsoft JhengHei"/>
              </a:rPr>
              <a:t>知道你</a:t>
            </a:r>
            <a:r>
              <a:rPr lang="zh-TW" altLang="en-US" sz="1900" b="1" dirty="0">
                <a:solidFill>
                  <a:srgbClr val="0E2F4F"/>
                </a:solidFill>
                <a:latin typeface="Microsoft JhengHei"/>
                <a:ea typeface="Microsoft JhengHei"/>
              </a:rPr>
              <a:t>需要甚麼協助</a:t>
            </a:r>
            <a:endParaRPr sz="1900" b="1" dirty="0">
              <a:solidFill>
                <a:srgbClr val="0E2F4F"/>
              </a:solidFill>
              <a:latin typeface="Microsoft JhengHei"/>
              <a:ea typeface="Microsoft Jheng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6928" y="6035040"/>
            <a:ext cx="11057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※ 前三個要「事先」裝好、存好，出事時才來得及。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警政署官方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110 視訊報案 App：不用說話也能報警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37208"/>
            <a:ext cx="11057839" cy="2046054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841247" y="2240195"/>
            <a:ext cx="640080" cy="640080"/>
          </a:xfrm>
          <a:prstGeom prst="ellipse">
            <a:avLst/>
          </a:prstGeom>
          <a:solidFill>
            <a:srgbClr val="0B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5648" y="1683512"/>
            <a:ext cx="9549079" cy="18275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3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四個主要功能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① 定位：自動送出你的位置（誤差約 25 公尺內）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② 視訊：把現場畫面傳給警察，也可以打手語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③ 文字對談：雙向打字，不用說話就能報案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④ 個人資訊：可以先設定「聽語障」與緊急聯絡人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747854"/>
            <a:ext cx="11057839" cy="1084410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841247" y="3970020"/>
            <a:ext cx="640080" cy="640080"/>
          </a:xfrm>
          <a:prstGeom prst="ellipse">
            <a:avLst/>
          </a:prstGeom>
          <a:solidFill>
            <a:srgbClr val="0B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5648" y="3900191"/>
            <a:ext cx="9549079" cy="865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3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現在就安裝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搜尋「110視訊報案」→ 安裝 → 先把個人資料與特殊狀況填好（很重要）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996857"/>
            <a:ext cx="11057839" cy="763862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916516" y="5134017"/>
            <a:ext cx="489542" cy="489542"/>
          </a:xfrm>
          <a:prstGeom prst="ellipse">
            <a:avLst/>
          </a:prstGeom>
          <a:solidFill>
            <a:srgbClr val="0B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5648" y="5160413"/>
            <a:ext cx="9549079" cy="5453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3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放在手機第一頁，跟 LINE 放一起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035040"/>
            <a:ext cx="11057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※ 資料來源：內政部警政署 110視訊報案 App 功能說明。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消防署官方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119 報案 App：叫救護車、火災、救助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61990"/>
            <a:ext cx="5382615" cy="1986389"/>
          </a:xfrm>
          <a:prstGeom prst="roundRect">
            <a:avLst>
              <a:gd name="adj" fmla="val 5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7824" y="1950610"/>
            <a:ext cx="4760823" cy="12214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① 三種報案方式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火災報案、救護救助報案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簡訊報案（聽語障最重要）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2151" y="1561990"/>
            <a:ext cx="5382615" cy="1986389"/>
          </a:xfrm>
          <a:prstGeom prst="roundRect">
            <a:avLst>
              <a:gd name="adj" fmla="val 5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53047" y="1950610"/>
            <a:ext cx="4760823" cy="12214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② 自動送出位置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把 GPS 位置傳到當地 119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報案後可再上傳照片或影片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749548"/>
            <a:ext cx="5382615" cy="1986389"/>
          </a:xfrm>
          <a:prstGeom prst="roundRect">
            <a:avLst>
              <a:gd name="adj" fmla="val 5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4138168"/>
            <a:ext cx="4760823" cy="12214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③ 可設 5 位緊急聯絡人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平常當快速撥號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報案時可同時通知他們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2151" y="3749548"/>
            <a:ext cx="5382615" cy="1986389"/>
          </a:xfrm>
          <a:prstGeom prst="roundRect">
            <a:avLst>
              <a:gd name="adj" fmla="val 5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53047" y="4138168"/>
            <a:ext cx="4760823" cy="12214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④ 現在就安裝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搜尋「119報案APP」→ 安裝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記得填好個人資料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035040"/>
            <a:ext cx="11057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※ 資料來源：內政部消防署 119報案 App 功能說明。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抄下來、存進手機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110 聽語障簡訊報案（新竹市）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37208"/>
            <a:ext cx="5382615" cy="2011172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7824" y="1751914"/>
            <a:ext cx="4760823" cy="1569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手機簡訊報案號碼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新竹市警察局　0911-510-919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新竹縣警察局　0911-510-921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用一般簡訊（SMS）發送即可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2151" y="1537208"/>
            <a:ext cx="5382615" cy="2011172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53047" y="1938219"/>
            <a:ext cx="4760823" cy="12214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傳真報案號碼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新竹市警察局　03-525-1966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（家裡或超商有傳真機時可用）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749548"/>
            <a:ext cx="5382615" cy="2011172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3964254"/>
            <a:ext cx="4760823" cy="1569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⚠ 重要限制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只能傳純文字簡訊（SMS）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不能傳照片、影片（MMS）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要傳照片請改用 110 視訊報案 App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2151" y="3749548"/>
            <a:ext cx="5382615" cy="2011172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53047" y="3964254"/>
            <a:ext cx="4760823" cy="1569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怎麼存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通訊錄新增聯絡人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名字打「110 報案 簡訊」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放進「我的最愛」，一秒找到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035040"/>
            <a:ext cx="11057839" cy="259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※ 資料來源：警政署「110聽語障人士報案專線」（2026/09 查閱）；躲藏時可先把手機轉靜音再發簡訊。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照這個順序打，警消一看就懂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求助訊息 4 句公式：人、地、事、傷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37208"/>
            <a:ext cx="11057839" cy="1097026"/>
          </a:xfrm>
          <a:prstGeom prst="roundRect">
            <a:avLst>
              <a:gd name="adj" fmla="val 5000"/>
            </a:avLst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841247" y="1765681"/>
            <a:ext cx="640080" cy="640080"/>
          </a:xfrm>
          <a:prstGeom prst="ellipse">
            <a:avLst/>
          </a:prstGeom>
          <a:solidFill>
            <a:srgbClr val="9C6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5648" y="1695852"/>
            <a:ext cx="9549079" cy="865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3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我是誰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「我是聽障人士，我叫王大明，手機 0912-345-678，請用簡訊回我」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798825"/>
            <a:ext cx="11057839" cy="1097026"/>
          </a:xfrm>
          <a:prstGeom prst="roundRect">
            <a:avLst>
              <a:gd name="adj" fmla="val 5000"/>
            </a:avLst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841247" y="3027298"/>
            <a:ext cx="640080" cy="640080"/>
          </a:xfrm>
          <a:prstGeom prst="ellipse">
            <a:avLst/>
          </a:prstGeom>
          <a:solidFill>
            <a:srgbClr val="9C6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5648" y="2957470"/>
            <a:ext cx="9549079" cy="865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3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我在哪裡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「新竹市東區竹蓮街 6 號門口，旁邊有 7-11」（有門牌、有明顯地標）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060443"/>
            <a:ext cx="11057839" cy="1097026"/>
          </a:xfrm>
          <a:prstGeom prst="roundRect">
            <a:avLst>
              <a:gd name="adj" fmla="val 5000"/>
            </a:avLst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841247" y="4288916"/>
            <a:ext cx="640080" cy="640080"/>
          </a:xfrm>
          <a:prstGeom prst="ellipse">
            <a:avLst/>
          </a:prstGeom>
          <a:solidFill>
            <a:srgbClr val="9C6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5648" y="4219088"/>
            <a:ext cx="9549079" cy="865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3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發生什麼事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「機車和汽車撞到」「家裡廚房起火」「有人跟著我」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322061"/>
            <a:ext cx="11057839" cy="1097026"/>
          </a:xfrm>
          <a:prstGeom prst="roundRect">
            <a:avLst>
              <a:gd name="adj" fmla="val 5000"/>
            </a:avLst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Oval 13"/>
          <p:cNvSpPr/>
          <p:nvPr/>
        </p:nvSpPr>
        <p:spPr>
          <a:xfrm>
            <a:off x="841247" y="5550534"/>
            <a:ext cx="640080" cy="640080"/>
          </a:xfrm>
          <a:prstGeom prst="ellipse">
            <a:avLst/>
          </a:prstGeom>
          <a:solidFill>
            <a:srgbClr val="9C6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5480706"/>
            <a:ext cx="9549079" cy="865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3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有沒有人受傷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「我的腳流血，可以走路」「有 1 人倒在地上不會動」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位置就是最準的地址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把「我在哪裡」直接傳出去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2027123"/>
            <a:ext cx="5346039" cy="3243681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2264867"/>
            <a:ext cx="4833975" cy="548640"/>
          </a:xfrm>
          <a:prstGeom prst="roundRect">
            <a:avLst>
              <a:gd name="adj" fmla="val 50000"/>
            </a:avLst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LINE 傳位置（最快）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3014675"/>
            <a:ext cx="4760823" cy="21006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聊天室 → 左下角「＋」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→ 位置資訊 → 傳送這個位置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傳給家人、協會，或警消要求時使用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2027123"/>
            <a:ext cx="5346039" cy="3243681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34759" y="2264867"/>
            <a:ext cx="4833975" cy="548640"/>
          </a:xfrm>
          <a:prstGeom prst="roundRect">
            <a:avLst>
              <a:gd name="adj" fmla="val 50000"/>
            </a:avLst>
          </a:prstGeom>
          <a:solidFill>
            <a:srgbClr val="0B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報案 App 自動定位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1335" y="3014675"/>
            <a:ext cx="4760823" cy="21006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110 視訊報案：開啟就自動送出位置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119 報案 App：按下報案自動附上 GPS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前提：手機的「定位」要打開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設定 → 位置 / 定位服務 → 開啟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035040"/>
            <a:ext cx="11057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※ 現在就檢查一次：你的手機定位有沒有打開？沒開，報案就送不出位置。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萬一你昏倒了，別人要看得到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緊急聯絡人與鎖定畫面醫療資訊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98828"/>
            <a:ext cx="5346039" cy="3700272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2036572"/>
            <a:ext cx="4833975" cy="548640"/>
          </a:xfrm>
          <a:prstGeom prst="roundRect">
            <a:avLst>
              <a:gd name="adj" fmla="val 50000"/>
            </a:avLst>
          </a:prstGeom>
          <a:solidFill>
            <a:srgbClr val="0E2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iPhone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786380"/>
            <a:ext cx="4760823" cy="25572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打開「健康」App → 右上角大頭貼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→ 醫療卡 → 編輯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填：疾病、用藥、過敏、血型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註明「我是聽障人士，請用文字溝通」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打開「鎖定時顯示」與「緊急聯絡人」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798828"/>
            <a:ext cx="5346039" cy="3700272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34759" y="2036572"/>
            <a:ext cx="4833975" cy="548640"/>
          </a:xfrm>
          <a:prstGeom prst="roundRect">
            <a:avLst>
              <a:gd name="adj" fmla="val 50000"/>
            </a:avLst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Android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1335" y="2786380"/>
            <a:ext cx="4760823" cy="25572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設定 → 安全與緊急（安全與緊急狀況）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→ 醫療資訊 / 緊急聯絡人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填一樣的內容，並註明聽障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打開鎖定畫面顯示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035040"/>
            <a:ext cx="11057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※ 這是「別人幫你」的功能：救護人員不用解鎖你的手機，就看得到你的狀況與家人電話。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每題想 30 秒，再看做法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情境演練：這時候你怎麼做？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37208"/>
            <a:ext cx="2545003" cy="4223512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7824" y="1878045"/>
            <a:ext cx="1923211" cy="30568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 dirty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① </a:t>
            </a:r>
            <a:r>
              <a:rPr sz="2300" b="1" i="0" dirty="0" err="1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車禍</a:t>
            </a:r>
            <a:endParaRPr sz="2300" b="1" i="0" dirty="0">
              <a:solidFill>
                <a:srgbClr val="0B5D8C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截圖／拍照現場與車牌</a:t>
            </a:r>
            <a:endParaRPr sz="1900" b="0" i="0" dirty="0">
              <a:solidFill>
                <a:srgbClr val="55636E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110 </a:t>
            </a:r>
            <a:r>
              <a:rPr sz="19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視訊報案</a:t>
            </a:r>
            <a:r>
              <a:rPr sz="19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9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App（打字或視訊</a:t>
            </a:r>
            <a:r>
              <a:rPr sz="19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）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傷者多</a:t>
            </a:r>
            <a:r>
              <a:rPr sz="1900" b="0" i="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 → </a:t>
            </a:r>
            <a:r>
              <a:rPr sz="19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也用</a:t>
            </a:r>
            <a:r>
              <a:rPr sz="1900" b="0" i="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 119 App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傳位置給家人</a:t>
            </a:r>
            <a:endParaRPr sz="1900" b="0" i="0" dirty="0">
              <a:solidFill>
                <a:srgbClr val="55636E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404539" y="1537208"/>
            <a:ext cx="2545003" cy="4223512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15435" y="1878045"/>
            <a:ext cx="1923211" cy="2708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 dirty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② </a:t>
            </a:r>
            <a:r>
              <a:rPr sz="2300" b="1" i="0" dirty="0" err="1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迷路</a:t>
            </a:r>
            <a:endParaRPr sz="2300" b="1" i="0" dirty="0">
              <a:solidFill>
                <a:srgbClr val="0B5D8C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Google </a:t>
            </a:r>
            <a:r>
              <a:rPr sz="19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地圖</a:t>
            </a:r>
            <a:r>
              <a:rPr sz="19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 → </a:t>
            </a:r>
            <a:r>
              <a:rPr sz="19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已儲存</a:t>
            </a:r>
            <a:r>
              <a:rPr sz="19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 → 家 → </a:t>
            </a:r>
            <a:r>
              <a:rPr sz="19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導航</a:t>
            </a:r>
            <a:endParaRPr sz="1900" b="1" i="0" dirty="0">
              <a:solidFill>
                <a:srgbClr val="0E2F4F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或 LINE </a:t>
            </a:r>
            <a:r>
              <a:rPr sz="19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傳位置給家人</a:t>
            </a:r>
            <a:endParaRPr sz="1900" b="0" i="0" dirty="0">
              <a:solidFill>
                <a:srgbClr val="55636E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找超商，用備忘錄筆談求助</a:t>
            </a:r>
            <a:endParaRPr sz="1900" b="0" i="0" dirty="0">
              <a:solidFill>
                <a:srgbClr val="55636E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42151" y="1537208"/>
            <a:ext cx="2545003" cy="4223512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53047" y="1878045"/>
            <a:ext cx="1923211" cy="21391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 dirty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③ </a:t>
            </a:r>
            <a:r>
              <a:rPr sz="2300" b="1" i="0" dirty="0" err="1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家裡起火</a:t>
            </a:r>
            <a:endParaRPr sz="2300" b="1" i="0" dirty="0">
              <a:solidFill>
                <a:srgbClr val="0B5D8C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先離開房子，到安全的地方再報案</a:t>
            </a:r>
            <a:endParaRPr sz="1900" b="1" i="0" dirty="0">
              <a:solidFill>
                <a:srgbClr val="0E2F4F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119 </a:t>
            </a:r>
            <a:r>
              <a:rPr sz="19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報案</a:t>
            </a:r>
            <a:r>
              <a:rPr sz="1900" b="0" i="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 App → </a:t>
            </a:r>
            <a:r>
              <a:rPr sz="19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火災報案</a:t>
            </a:r>
            <a:endParaRPr sz="1900" b="0" i="0" dirty="0">
              <a:solidFill>
                <a:srgbClr val="55636E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報案後補傳照片</a:t>
            </a:r>
            <a:endParaRPr sz="1900" b="0" i="0" dirty="0">
              <a:solidFill>
                <a:srgbClr val="55636E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079763" y="1537208"/>
            <a:ext cx="2545003" cy="4223512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90659" y="1878045"/>
            <a:ext cx="1923211" cy="3401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 dirty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④ </a:t>
            </a:r>
            <a:r>
              <a:rPr sz="2300" b="1" i="0" dirty="0" err="1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覺得被騙了</a:t>
            </a:r>
            <a:endParaRPr sz="2300" b="1" i="0" dirty="0">
              <a:solidFill>
                <a:srgbClr val="0B5D8C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立刻停止匯款、不再點連結</a:t>
            </a:r>
            <a:endParaRPr sz="1900" b="1" i="0" dirty="0">
              <a:solidFill>
                <a:srgbClr val="0E2F4F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截圖保存對話與匯款紀錄</a:t>
            </a:r>
            <a:endParaRPr sz="1900" b="0" i="0" dirty="0">
              <a:solidFill>
                <a:srgbClr val="55636E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165 LINE ／ </a:t>
            </a:r>
            <a:r>
              <a:rPr sz="19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簡訊</a:t>
            </a:r>
            <a:r>
              <a:rPr sz="1900" b="0" i="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 0911-510-919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告訴家人與協會</a:t>
            </a:r>
            <a:endParaRPr sz="1900" b="0" i="0" dirty="0">
              <a:solidFill>
                <a:srgbClr val="55636E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6928" y="6035040"/>
            <a:ext cx="11057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※ 四種情況都有一個共同步驟：讓「有人知道你在哪裡」。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總複習｜做到的請舉手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今天帶回家的 6 件事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959119"/>
            <a:ext cx="3490874" cy="1918444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7824" y="2347739"/>
            <a:ext cx="2869082" cy="11579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>
                <a:solidFill>
                  <a:srgbClr val="1E7A46"/>
                </a:solidFill>
                <a:latin typeface="Microsoft JhengHei"/>
                <a:ea typeface="Microsoft JhengHei"/>
                <a:cs typeface="Microsoft JhengHei"/>
              </a:rPr>
              <a:t>① 字變大了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手機的字、LINE 聊天室的字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0410" y="1959119"/>
            <a:ext cx="3490874" cy="1918444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61306" y="2347739"/>
            <a:ext cx="2869082" cy="11579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>
                <a:solidFill>
                  <a:srgbClr val="1E7A46"/>
                </a:solidFill>
                <a:latin typeface="Microsoft JhengHei"/>
                <a:ea typeface="Microsoft JhengHei"/>
                <a:cs typeface="Microsoft JhengHei"/>
              </a:rPr>
              <a:t>② LINE 會用了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視訊打手語、傳位置、Keep 存資料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3892" y="1959119"/>
            <a:ext cx="3490874" cy="1918444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44788" y="2347739"/>
            <a:ext cx="2869082" cy="11579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>
                <a:solidFill>
                  <a:srgbClr val="1E7A46"/>
                </a:solidFill>
                <a:latin typeface="Microsoft JhengHei"/>
                <a:ea typeface="Microsoft JhengHei"/>
                <a:cs typeface="Microsoft JhengHei"/>
              </a:rPr>
              <a:t>③ 有筆談句子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「我是聽障人士，請打字給我看」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078732"/>
            <a:ext cx="3490874" cy="1918444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7824" y="4467352"/>
            <a:ext cx="2869082" cy="11579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>
                <a:solidFill>
                  <a:srgbClr val="1E7A46"/>
                </a:solidFill>
                <a:latin typeface="Microsoft JhengHei"/>
                <a:ea typeface="Microsoft JhengHei"/>
                <a:cs typeface="Microsoft JhengHei"/>
              </a:rPr>
              <a:t>④ 記得防詐三不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不點連結、不給密碼驗證碼、不轉帳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0410" y="4078732"/>
            <a:ext cx="3490874" cy="1918444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1306" y="4467352"/>
            <a:ext cx="2869082" cy="11579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>
                <a:solidFill>
                  <a:srgbClr val="1E7A46"/>
                </a:solidFill>
                <a:latin typeface="Microsoft JhengHei"/>
                <a:ea typeface="Microsoft JhengHei"/>
                <a:cs typeface="Microsoft JhengHei"/>
              </a:rPr>
              <a:t>⑤ 裝好報案 App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110 視訊報案、119 報案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3892" y="4078732"/>
            <a:ext cx="3490874" cy="1918444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44788" y="4467352"/>
            <a:ext cx="2869082" cy="11579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>
                <a:solidFill>
                  <a:srgbClr val="1E7A46"/>
                </a:solidFill>
                <a:latin typeface="Microsoft JhengHei"/>
                <a:ea typeface="Microsoft JhengHei"/>
                <a:cs typeface="Microsoft JhengHei"/>
              </a:rPr>
              <a:t>⑥ 存好求助電話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110 簡訊 0911-510-919、協會 0932-203-673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建議剪下來放皮夾，或拍照存進 LINE Keep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57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重要電話與網址</a:t>
            </a:r>
            <a:r>
              <a:rPr sz="38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（</a:t>
            </a:r>
            <a:r>
              <a:rPr lang="zh-TW" altLang="en-US" sz="38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可以</a:t>
            </a:r>
            <a:r>
              <a:rPr sz="38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抄下來</a:t>
            </a:r>
            <a:r>
              <a:rPr lang="zh-TW" altLang="en-US" sz="38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或拍照</a:t>
            </a:r>
            <a:r>
              <a:rPr sz="38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37208"/>
            <a:ext cx="11057839" cy="548640"/>
          </a:xfrm>
          <a:prstGeom prst="roundRect">
            <a:avLst>
              <a:gd name="adj" fmla="val 12000"/>
            </a:avLst>
          </a:prstGeom>
          <a:solidFill>
            <a:srgbClr val="0E2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56080"/>
            <a:ext cx="449968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用途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88409" y="1656080"/>
            <a:ext cx="582662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號碼 / 網址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085848"/>
            <a:ext cx="11057839" cy="612478"/>
          </a:xfrm>
          <a:prstGeom prst="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085848"/>
            <a:ext cx="4453969" cy="6124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報警（聽語障簡訊）新竹市警察局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88409" y="2085848"/>
            <a:ext cx="5780909" cy="6124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0911-510-919（只能純文字簡訊）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98326"/>
            <a:ext cx="4453969" cy="6124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報警／救護（App）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88409" y="2698326"/>
            <a:ext cx="5780909" cy="6124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110視訊報案 App ／ 119報案 App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310805"/>
            <a:ext cx="11057839" cy="612478"/>
          </a:xfrm>
          <a:prstGeom prst="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3310805"/>
            <a:ext cx="4453969" cy="6124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防詐查證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88409" y="3310805"/>
            <a:ext cx="5780909" cy="6124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165 全民防騙 LINE ／ 165dashboard.tw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923284"/>
            <a:ext cx="4453969" cy="6124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手語翻譯申請（新竹市社會處）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88409" y="3923284"/>
            <a:ext cx="5780909" cy="6124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03-535-2386 轉 505（請 7 天前申請）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4535762"/>
            <a:ext cx="11057839" cy="612478"/>
          </a:xfrm>
          <a:prstGeom prst="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4535762"/>
            <a:ext cx="4453969" cy="6124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同步聽打（新竹市聲暉協會）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88409" y="4535762"/>
            <a:ext cx="5780909" cy="6124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03-562-0030 ／ 0800-035-002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148241"/>
            <a:ext cx="4453969" cy="6124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新竹市聾人協會（本會）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88409" y="5148241"/>
            <a:ext cx="5780909" cy="6124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0932-203-673 ／ LINE ID：5356896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035040"/>
            <a:ext cx="11057839" cy="259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※ </a:t>
            </a:r>
            <a:r>
              <a:rPr sz="1600" b="0" i="1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電話與網址以主辦單位公告為準</a:t>
            </a:r>
            <a:r>
              <a:rPr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F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51560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E8A33C"/>
                </a:solidFill>
                <a:latin typeface="Microsoft JhengHei"/>
                <a:ea typeface="Microsoft JhengHei"/>
                <a:cs typeface="Microsoft JhengHei"/>
              </a:rPr>
              <a:t>謝謝大家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691640"/>
            <a:ext cx="11057839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手機不是難的東西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它是我們的耳朵和嘴巴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566160"/>
            <a:ext cx="11057839" cy="15642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1200"/>
              </a:spcAft>
            </a:pPr>
            <a:r>
              <a:rPr sz="2200" b="0" i="0" dirty="0" err="1">
                <a:solidFill>
                  <a:srgbClr val="CFE0EE"/>
                </a:solidFill>
                <a:latin typeface="Microsoft JhengHei"/>
                <a:ea typeface="Microsoft JhengHei"/>
                <a:cs typeface="Microsoft JhengHei"/>
              </a:rPr>
              <a:t>今天</a:t>
            </a:r>
            <a:r>
              <a:rPr lang="zh-TW" altLang="en-US" sz="2200" b="0" i="0" dirty="0">
                <a:solidFill>
                  <a:srgbClr val="CFE0EE"/>
                </a:solidFill>
                <a:latin typeface="Microsoft JhengHei"/>
                <a:ea typeface="Microsoft JhengHei"/>
                <a:cs typeface="Microsoft JhengHei"/>
              </a:rPr>
              <a:t>多</a:t>
            </a:r>
            <a:r>
              <a:rPr sz="2200" b="0" i="0" dirty="0" err="1">
                <a:solidFill>
                  <a:srgbClr val="CFE0EE"/>
                </a:solidFill>
                <a:latin typeface="Microsoft JhengHei"/>
                <a:ea typeface="Microsoft JhengHei"/>
                <a:cs typeface="Microsoft JhengHei"/>
              </a:rPr>
              <a:t>學會一個功能，就多一分安全與方便</a:t>
            </a:r>
            <a:endParaRPr sz="2200" b="0" i="0" dirty="0">
              <a:solidFill>
                <a:srgbClr val="CFE0EE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28000"/>
              </a:lnSpc>
              <a:spcAft>
                <a:spcPts val="1200"/>
              </a:spcAft>
            </a:pPr>
            <a:r>
              <a:rPr sz="2200" b="0" i="0" dirty="0">
                <a:solidFill>
                  <a:srgbClr val="CFE0EE"/>
                </a:solidFill>
                <a:latin typeface="Microsoft JhengHei"/>
                <a:ea typeface="Microsoft JhengHei"/>
                <a:cs typeface="Microsoft JhengHei"/>
              </a:rPr>
              <a:t>有問題隨時聯絡協會：0932-203-673 ／ LINE ID：5356896（莊秀鈺）</a:t>
            </a:r>
          </a:p>
          <a:p>
            <a:pPr algn="l">
              <a:lnSpc>
                <a:spcPct val="128000"/>
              </a:lnSpc>
              <a:spcAft>
                <a:spcPts val="1200"/>
              </a:spcAft>
            </a:pPr>
            <a:r>
              <a:rPr sz="2200" b="0" i="0" dirty="0" err="1">
                <a:solidFill>
                  <a:srgbClr val="CFE0EE"/>
                </a:solidFill>
                <a:latin typeface="Microsoft JhengHei"/>
                <a:ea typeface="Microsoft JhengHei"/>
                <a:cs typeface="Microsoft JhengHei"/>
              </a:rPr>
              <a:t>課程結束後請領取餐盒，路上小心</a:t>
            </a:r>
            <a:endParaRPr sz="2200" b="0" i="0" dirty="0">
              <a:solidFill>
                <a:srgbClr val="CFE0EE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1148</TotalTime>
  <Words>4875</Words>
  <Application>Microsoft Office PowerPoint</Application>
  <PresentationFormat>寬螢幕</PresentationFormat>
  <Paragraphs>919</Paragraphs>
  <Slides>55</Slides>
  <Notes>55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55</vt:i4>
      </vt:variant>
    </vt:vector>
  </HeadingPairs>
  <TitlesOfParts>
    <vt:vector size="59" baseType="lpstr">
      <vt:lpstr>微軟正黑體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Ta-yu Huang (黃大祐)</cp:lastModifiedBy>
  <cp:revision>13</cp:revision>
  <dcterms:created xsi:type="dcterms:W3CDTF">2013-01-27T09:14:16Z</dcterms:created>
  <dcterms:modified xsi:type="dcterms:W3CDTF">2026-09-11T08:07:53Z</dcterms:modified>
  <cp:category/>
</cp:coreProperties>
</file>