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60" r:id="rId2"/>
    <p:sldId id="256" r:id="rId3"/>
    <p:sldId id="257" r:id="rId4"/>
    <p:sldId id="262" r:id="rId5"/>
    <p:sldId id="261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1212" autoAdjust="0"/>
  </p:normalViewPr>
  <p:slideViewPr>
    <p:cSldViewPr snapToGrid="0">
      <p:cViewPr>
        <p:scale>
          <a:sx n="100" d="100"/>
          <a:sy n="100" d="100"/>
        </p:scale>
        <p:origin x="9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封面為本組整理設計；無外部素材。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講稿</a:t>
            </a:r>
            <a:r>
              <a:rPr lang="en-US" altLang="zh-TW" dirty="0"/>
              <a:t>:</a:t>
            </a:r>
            <a:r>
              <a:rPr lang="zh-TW" altLang="en-US" dirty="0"/>
              <a:t> 我們不能只因為電影取材自真人真事，就直接認定它違法。實際是否觸法，還是要看電影的劇情、角色設定和使用素材。 </a:t>
            </a:r>
          </a:p>
          <a:p>
            <a:r>
              <a:rPr lang="zh-TW" altLang="en-US" dirty="0"/>
              <a:t>歷史悲劇被影視化後，可能影響大眾理解，也可能傷害家屬。法律可以處理的，是比較明確的侵權行為。</a:t>
            </a:r>
          </a:p>
          <a:p>
            <a:r>
              <a:rPr lang="zh-TW" altLang="en-US" dirty="0"/>
              <a:t>例如，散布不實內容、損害特定人名譽，可能涉及誹謗；未經允許使用仍在世者的個資、肖像或隱私，也可能有法律責任。使用他人的照片、文章或訪談內容，也可能涉及著作權。</a:t>
            </a:r>
          </a:p>
          <a:p>
            <a:r>
              <a:rPr lang="zh-TW" altLang="en-US" dirty="0"/>
              <a:t>但歷史事實本身通常不是著作權保護的對象。因此，法律並非完全不能管，而是主要處理「有沒有具體侵權」。</a:t>
            </a:r>
          </a:p>
          <a:p>
            <a:endParaRPr lang="en-US" dirty="0"/>
          </a:p>
          <a:p>
            <a:endParaRPr lang="en-US" dirty="0"/>
          </a:p>
          <a:p>
            <a:r>
              <a:rPr dirty="0"/>
              <a:t>[Sources]</a:t>
            </a:r>
          </a:p>
          <a:p>
            <a:r>
              <a:rPr dirty="0"/>
              <a:t>- https://law.moj.gov.tw/LawClass/LawAll.aspx?pcode=C0000001 （刑法第310–312條）</a:t>
            </a:r>
          </a:p>
          <a:p>
            <a:r>
              <a:rPr dirty="0"/>
              <a:t>- https://law.moj.gov.tw/LawClass/LawAll.aspx?pcode=I0050021 （個人資料保護法第2條）</a:t>
            </a:r>
          </a:p>
          <a:p>
            <a:r>
              <a:rPr dirty="0"/>
              <a:t>- https://taiwancinema.bamid.gov.tw/Articles/ArticlesContent/?ContentUrl=93466 （</a:t>
            </a:r>
            <a:r>
              <a:rPr dirty="0" err="1"/>
              <a:t>真人真事改編之授權與人格權說明</a:t>
            </a:r>
            <a:r>
              <a:rPr dirty="0"/>
              <a:t>）</a:t>
            </a:r>
            <a:endParaRPr lang="en-US" dirty="0"/>
          </a:p>
          <a:p>
            <a:endParaRPr lang="en-US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講稿</a:t>
            </a:r>
            <a:r>
              <a:rPr lang="en-US" altLang="zh-TW" dirty="0"/>
              <a:t>:</a:t>
            </a:r>
            <a:r>
              <a:rPr lang="zh-TW" altLang="en-US" dirty="0"/>
              <a:t> 翻拍真人真事，不一定都要取得當事人或家屬同意。</a:t>
            </a:r>
          </a:p>
          <a:p>
            <a:r>
              <a:rPr lang="zh-TW" altLang="en-US" dirty="0"/>
              <a:t>如果只是取材歷史事件、人物改名，而且無法辨識原型，通常未必需要同意。但如果直接使用真名、肖像、私人資訊，或加入可能損害名譽的不實情節，就可能侵害人格權、隱私權或名譽權。</a:t>
            </a:r>
          </a:p>
          <a:p>
            <a:r>
              <a:rPr lang="zh-TW" altLang="en-US" dirty="0"/>
              <a:t>所以關鍵不是「能不能拍」，而是「怎麼拍」。本組認為，即使法律上未必一定要同意，製作方仍應主動溝通、查證史料，並標示虛構內容。</a:t>
            </a:r>
          </a:p>
          <a:p>
            <a:r>
              <a:rPr lang="zh-TW" altLang="en-US" dirty="0"/>
              <a:t>［下面給演講者上台補充參考資訊］</a:t>
            </a:r>
            <a:endParaRPr lang="en-US" altLang="zh-TW" dirty="0"/>
          </a:p>
          <a:p>
            <a:r>
              <a:rPr lang="en-US" altLang="zh-TW" dirty="0"/>
              <a:t>( </a:t>
            </a:r>
            <a:r>
              <a:rPr lang="zh-TW" altLang="en-US" dirty="0"/>
              <a:t>例如，如果電影直接使用仍在世者的真名，並把他描寫成涉入命案、掩蓋真相，但又沒有足夠證據，可能涉及名譽權或誹謗。 </a:t>
            </a:r>
          </a:p>
          <a:p>
            <a:r>
              <a:rPr lang="zh-TW" altLang="en-US" dirty="0"/>
              <a:t>如果電影未經同意使用家屬的私人照片、訪談錄音、書信，則可能涉及著作權、肖像權或隱私權。 </a:t>
            </a:r>
          </a:p>
          <a:p>
            <a:r>
              <a:rPr lang="zh-TW" altLang="en-US" dirty="0"/>
              <a:t>即使沒有使用真名，若角色的職業、家庭關係、經歷都和現實中的某人高度一致，讓一般人可以辨識，也可能有侵害人格權的風險。 </a:t>
            </a:r>
            <a:endParaRPr lang="en-US" altLang="zh-TW" dirty="0"/>
          </a:p>
          <a:p>
            <a:endParaRPr lang="zh-TW" altLang="en-US" dirty="0"/>
          </a:p>
          <a:p>
            <a:r>
              <a:rPr lang="zh-TW" altLang="en-US" dirty="0"/>
              <a:t>相反地，如果作品只是根據已公開的歷史事件進行改編，人物改名、明確標示虛構內容，也沒有不實指控特定人，通常較難直接認定違法。 </a:t>
            </a:r>
          </a:p>
          <a:p>
            <a:r>
              <a:rPr lang="zh-TW" altLang="en-US" dirty="0"/>
              <a:t>所以本案是否觸法，</a:t>
            </a:r>
            <a:r>
              <a:rPr lang="zh-TW" altLang="en-US" b="1" dirty="0"/>
              <a:t>仍要等看到完整電影內容後才能判斷</a:t>
            </a:r>
            <a:r>
              <a:rPr lang="zh-TW" altLang="en-US" dirty="0"/>
              <a:t>；我們現在討論的重點，是它即使未必違法，是否已盡到尊重與溝通的責任。</a:t>
            </a:r>
          </a:p>
          <a:p>
            <a:endParaRPr lang="en-US" dirty="0"/>
          </a:p>
          <a:p>
            <a:r>
              <a:rPr lang="zh-TW" altLang="en-US" dirty="0"/>
              <a:t>法律不足點在哪裡？　</a:t>
            </a:r>
            <a:endParaRPr lang="en-US" altLang="zh-TW" dirty="0"/>
          </a:p>
          <a:p>
            <a:r>
              <a:rPr lang="zh-TW" altLang="en-US" dirty="0"/>
              <a:t>法律可以處理誹謗、個資或人格權等具體侵權，但它仍然有不足的地方。</a:t>
            </a:r>
          </a:p>
          <a:p>
            <a:r>
              <a:rPr lang="zh-TW" altLang="en-US" dirty="0"/>
              <a:t>首先，法律很難界定什麼叫做「把悲劇娛樂化」，因為這涉及創作方式和觀眾感受，不容易用明確標準判斷。</a:t>
            </a:r>
          </a:p>
          <a:p>
            <a:r>
              <a:rPr lang="zh-TW" altLang="en-US" dirty="0"/>
              <a:t>第二，也不能要求所有歷史創作都必須取得家屬同意，否則可能過度限制創作自由和公共討論。</a:t>
            </a:r>
          </a:p>
          <a:p>
            <a:r>
              <a:rPr lang="zh-TW" altLang="en-US" dirty="0"/>
              <a:t>但是，如果製作方完全沒有溝通，家屬可能在作品公開後才再次面對創傷；而且法律通常只能事後救濟，錯誤印象可能早已在網路擴散。</a:t>
            </a:r>
          </a:p>
          <a:p>
            <a:r>
              <a:rPr lang="zh-TW" altLang="en-US" dirty="0"/>
              <a:t>所以我們認為，法律是最低標準。除了避免侵權，製作方也應主動溝通、查證史料，並標示虛構內容，才能降低傷害。）</a:t>
            </a:r>
          </a:p>
          <a:p>
            <a:endParaRPr lang="en-US" dirty="0"/>
          </a:p>
          <a:p>
            <a:r>
              <a:rPr dirty="0"/>
              <a:t>[Sources]</a:t>
            </a:r>
          </a:p>
          <a:p>
            <a:r>
              <a:rPr dirty="0"/>
              <a:t>- https://law.moj.gov.tw/LawClass/LawAll.aspx?pcode=C0000001</a:t>
            </a:r>
          </a:p>
          <a:p>
            <a:r>
              <a:rPr dirty="0"/>
              <a:t>- https://law.moj.gov.tw/LawClass/LawAll.aspx?pcode=I0050021</a:t>
            </a:r>
          </a:p>
          <a:p>
            <a:r>
              <a:rPr dirty="0"/>
              <a:t>- https://taiwancinema.bamid.gov.tw/Articles/ArticlesContent/?ContentUrl=93466</a:t>
            </a:r>
          </a:p>
          <a:p>
            <a:endParaRPr dirty="0"/>
          </a:p>
          <a:p>
            <a:r>
              <a:rPr dirty="0"/>
              <a:t>[Presenter note]</a:t>
            </a:r>
          </a:p>
          <a:p>
            <a:r>
              <a:rPr dirty="0" err="1"/>
              <a:t>強調：法律主要處理具體侵權；倫理與溝通則是降低二度傷害的重要補充</a:t>
            </a:r>
            <a:r>
              <a:rPr dirty="0"/>
              <a:t>。 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講稿：這篇文章提醒我們，真人真事改編可以分成三個層次。</a:t>
            </a:r>
          </a:p>
          <a:p>
            <a:r>
              <a:rPr lang="zh-TW" altLang="en-US" dirty="0"/>
              <a:t>第一是法律界線。公開的歷史事件可以作為創作素材，但如果細節太過可辨識，而且可能醜化特定人，仍然有名譽風險。</a:t>
            </a:r>
          </a:p>
          <a:p>
            <a:r>
              <a:rPr lang="zh-TW" altLang="en-US" dirty="0"/>
              <a:t>第二是實務與信任。重大社會事件即使法律上未必需要同意，事前和當事人或遺族溝通，仍能降低不尊重的疑慮。</a:t>
            </a:r>
          </a:p>
          <a:p>
            <a:r>
              <a:rPr lang="zh-TW" altLang="en-US" dirty="0"/>
              <a:t>第三是觀眾與市場。作品進入市場後，觀眾會判斷創作初衷；只說「合法就好」，不一定能獲得信任。</a:t>
            </a:r>
            <a:r>
              <a:rPr lang="zh-TW" altLang="en-US" b="0" i="0" dirty="0">
                <a:solidFill>
                  <a:srgbClr val="4B4F58"/>
                </a:solidFill>
                <a:effectLst/>
                <a:latin typeface="Helvetica" panose="020B0604020202020204" pitchFamily="34" charset="0"/>
              </a:rPr>
              <a:t>這次案件，「沒有取得同意」這件事，</a:t>
            </a:r>
            <a:br>
              <a:rPr lang="zh-TW" altLang="en-US" dirty="0"/>
            </a:br>
            <a:r>
              <a:rPr lang="zh-TW" altLang="en-US" b="0" i="0" dirty="0">
                <a:solidFill>
                  <a:srgbClr val="4B4F58"/>
                </a:solidFill>
                <a:effectLst/>
                <a:latin typeface="Helvetica" panose="020B0604020202020204" pitchFamily="34" charset="0"/>
              </a:rPr>
              <a:t>完全可預期會讓對這題材有興趣的人反感，製作公司和投資人卻似乎認為合法就好，還大剌剌的以「取材自林宅血案」做宣傳，才會造成抵制聲浪</a:t>
            </a:r>
            <a:r>
              <a:rPr lang="zh-TW" altLang="en-US" dirty="0"/>
              <a:t>。</a:t>
            </a:r>
          </a:p>
          <a:p>
            <a:r>
              <a:rPr lang="zh-TW" altLang="en-US" dirty="0"/>
              <a:t>因此，我們的結論是：改編不只要問能不能拍，也要問是否值得信任，以及是否尊重受影響的人。</a:t>
            </a:r>
          </a:p>
          <a:p>
            <a:endParaRPr lang="en-US" dirty="0"/>
          </a:p>
          <a:p>
            <a:endParaRPr lang="en-US" dirty="0"/>
          </a:p>
          <a:p>
            <a:r>
              <a:rPr dirty="0"/>
              <a:t>[Sources]</a:t>
            </a:r>
          </a:p>
          <a:p>
            <a:r>
              <a:rPr dirty="0"/>
              <a:t>- https://www.domorenovel.com/adaptation-controversy/</a:t>
            </a:r>
          </a:p>
          <a:p>
            <a:endParaRPr dirty="0"/>
          </a:p>
          <a:p>
            <a:r>
              <a:rPr dirty="0"/>
              <a:t>[Presenter note]</a:t>
            </a:r>
          </a:p>
          <a:p>
            <a:r>
              <a:rPr dirty="0" err="1"/>
              <a:t>說明這是文章觀點整理，不是法律結論。接續前頁：法律處理侵權，但作品要能被信任，仍須處理實務溝通與觀眾觀感</a:t>
            </a:r>
            <a:r>
              <a:rPr dirty="0"/>
              <a:t>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講稿：影視改編不只是重述一個事件，也會重新形塑社會如何理解這段歷史。</a:t>
            </a:r>
          </a:p>
          <a:p>
            <a:r>
              <a:rPr lang="zh-TW" altLang="en-US" dirty="0"/>
              <a:t>第一，觀眾可能把電影情節當成史實，影響集體記憶。第二，對受害者與家屬來說，真實創傷可能被戲劇化或商品化，造成二度傷害。第三，如果未證實的推測被包裝成劇情，也可能讓觀眾混淆真相與虛構。最後，這類作品很容易在網路上引發對立，例如有人強調創作自由，也有人認為是在消費悲劇。</a:t>
            </a:r>
          </a:p>
          <a:p>
            <a:r>
              <a:rPr lang="zh-TW" altLang="en-US" dirty="0"/>
              <a:t>所以，影視作品不只是娛樂，它也會影響誰被看見、什麼被相信，以及社會如何記住歷史。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社會衝擊分析：本組整理，依《世紀血案》爭議與歷史創傷再現之公共討論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[Presenter note]</a:t>
            </a:r>
          </a:p>
          <a:p>
            <a:r>
              <a:rPr dirty="0" err="1"/>
              <a:t>本頁可用來說明：電影並不只是娛樂，而是重新分配社會注意力與塑造集體記憶的資訊媒介</a:t>
            </a:r>
            <a:r>
              <a:rPr dirty="0"/>
              <a:t>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圓角 8">
            <a:extLst>
              <a:ext uri="{FF2B5EF4-FFF2-40B4-BE49-F238E27FC236}">
                <a16:creationId xmlns:a16="http://schemas.microsoft.com/office/drawing/2014/main" id="{4FD8DAA4-6931-40FE-8E45-87DDCC05B242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133350" cy="2209800"/>
          </a:xfrm>
          <a:prstGeom prst="roundRect">
            <a:avLst>
              <a:gd name="adj" fmla="val 14286"/>
            </a:avLst>
          </a:prstGeom>
          <a:solidFill>
            <a:srgbClr val="147D91"/>
          </a:solidFill>
          <a:ln w="0">
            <a:solidFill>
              <a:srgbClr val="147D9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819B8BC-243B-4A7D-8DD1-1249E314AFC4}"/>
              </a:ext>
            </a:extLst>
          </p:cNvPr>
          <p:cNvSpPr>
            <a:spLocks noGrp="1"/>
          </p:cNvSpPr>
          <p:nvPr/>
        </p:nvSpPr>
        <p:spPr>
          <a:xfrm>
            <a:off x="1143000" y="781050"/>
            <a:ext cx="4683642" cy="4095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702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25" b="1">
                <a:solidFill>
                  <a:srgbClr val="8FD3D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kumimoji="0" lang="en-US" altLang="zh-TW" sz="1425" b="1" i="0" u="none" strike="noStrike" kern="1200" cap="none" spc="0" normalizeH="0" baseline="0" noProof="0" dirty="0">
                <a:ln>
                  <a:noFill/>
                </a:ln>
                <a:solidFill>
                  <a:srgbClr val="8FD3DE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</a:rPr>
              <a:t>557401</a:t>
            </a:r>
            <a:r>
              <a:rPr kumimoji="0" lang="zh-TW" altLang="en-US" sz="1425" b="1" i="0" u="none" strike="noStrike" kern="1200" cap="none" spc="0" normalizeH="0" baseline="0" noProof="0" dirty="0">
                <a:ln>
                  <a:noFill/>
                </a:ln>
                <a:solidFill>
                  <a:srgbClr val="8FD3DE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</a:rPr>
              <a:t>資訊社會衝擊 </a:t>
            </a:r>
            <a:r>
              <a:rPr kumimoji="0" lang="en-US" altLang="zh-TW" sz="1425" b="1" i="0" u="none" strike="noStrike" kern="1200" cap="none" spc="0" normalizeH="0" baseline="0" noProof="0" dirty="0">
                <a:ln>
                  <a:noFill/>
                </a:ln>
                <a:solidFill>
                  <a:srgbClr val="8FD3DE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</a:rPr>
              <a:t>Information Society Impact</a:t>
            </a:r>
            <a:endParaRPr kumimoji="0" lang="zh-TW" altLang="en-US" sz="1425" b="1" i="0" u="none" strike="noStrike" kern="1200" cap="none" spc="0" normalizeH="0" baseline="0" noProof="0" dirty="0">
              <a:ln>
                <a:noFill/>
              </a:ln>
              <a:solidFill>
                <a:srgbClr val="8FD3DE"/>
              </a:solidFill>
              <a:effectLst/>
              <a:uLnTx/>
              <a:uFillTx/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CA64652-55F7-4D32-934E-148F5AC253C3}"/>
              </a:ext>
            </a:extLst>
          </p:cNvPr>
          <p:cNvSpPr>
            <a:spLocks noGrp="1"/>
          </p:cNvSpPr>
          <p:nvPr/>
        </p:nvSpPr>
        <p:spPr>
          <a:xfrm>
            <a:off x="1143000" y="1438275"/>
            <a:ext cx="800100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kumimoji="0" sz="42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</a:rPr>
              <a:t>當歷史悲劇</a:t>
            </a:r>
            <a:r>
              <a:rPr kumimoji="0" lang="zh-TW" altLang="en-US" sz="4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</a:rPr>
              <a:t>被</a:t>
            </a:r>
            <a:r>
              <a:rPr kumimoji="0" sz="42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</a:rPr>
              <a:t>拍成電影</a:t>
            </a:r>
            <a:endParaRPr kumimoji="0" sz="4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DB1BEF1-4771-4B3B-A079-B2DB52010A01}"/>
              </a:ext>
            </a:extLst>
          </p:cNvPr>
          <p:cNvSpPr>
            <a:spLocks noGrp="1"/>
          </p:cNvSpPr>
          <p:nvPr/>
        </p:nvSpPr>
        <p:spPr>
          <a:xfrm>
            <a:off x="2307816" y="2622593"/>
            <a:ext cx="6953142" cy="80640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205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>
                <a:solidFill>
                  <a:srgbClr val="D8EE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D8EEF2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</a:rPr>
              <a:t>--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D8EEF2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</a:rPr>
              <a:t> 翻拍</a:t>
            </a:r>
            <a:r>
              <a:rPr lang="zh-TW" altLang="en-US" sz="2000" b="1" dirty="0">
                <a:solidFill>
                  <a:srgbClr val="D8EEF2"/>
                </a:solidFill>
                <a:latin typeface="Microsoft JhengHei"/>
                <a:ea typeface="Microsoft JhengHei"/>
              </a:rPr>
              <a:t>真人真事電影，是否需要經過當事人同意</a:t>
            </a:r>
            <a:r>
              <a:rPr lang="en-US" altLang="zh-TW" sz="2000" b="1" dirty="0">
                <a:solidFill>
                  <a:srgbClr val="D8EEF2"/>
                </a:solidFill>
                <a:latin typeface="Microsoft JhengHei"/>
                <a:ea typeface="Microsoft JhengHei"/>
              </a:rPr>
              <a:t>?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4AD754E-969F-4A0A-A5A3-8B526BC454AB}"/>
              </a:ext>
            </a:extLst>
          </p:cNvPr>
          <p:cNvSpPr>
            <a:spLocks noGrp="1"/>
          </p:cNvSpPr>
          <p:nvPr/>
        </p:nvSpPr>
        <p:spPr>
          <a:xfrm>
            <a:off x="1181100" y="3867150"/>
            <a:ext cx="4953000" cy="19050"/>
          </a:xfrm>
          <a:prstGeom prst="rect">
            <a:avLst/>
          </a:prstGeom>
          <a:solidFill>
            <a:srgbClr val="407486"/>
          </a:solidFill>
          <a:ln w="0">
            <a:solidFill>
              <a:srgbClr val="40748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D84A611-177A-48A0-8C29-1C51528BD3B9}"/>
              </a:ext>
            </a:extLst>
          </p:cNvPr>
          <p:cNvSpPr>
            <a:spLocks noGrp="1"/>
          </p:cNvSpPr>
          <p:nvPr/>
        </p:nvSpPr>
        <p:spPr>
          <a:xfrm>
            <a:off x="1181100" y="4260866"/>
            <a:ext cx="6219160" cy="8421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773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5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kumimoji="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</a:rPr>
              <a:t>以</a:t>
            </a:r>
            <a:r>
              <a:rPr lang="en-US" altLang="zh-TW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2026</a:t>
            </a:r>
            <a:r>
              <a:rPr kumimoji="0" lang="zh-TW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</a:rPr>
              <a:t>電影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</a:rPr>
              <a:t>《</a:t>
            </a:r>
            <a:r>
              <a:rPr kumimoji="0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</a:rPr>
              <a:t>世紀血案》</a:t>
            </a:r>
            <a:r>
              <a:rPr kumimoji="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</a:rPr>
              <a:t>爭議為例</a:t>
            </a:r>
            <a:endParaRPr kumimoji="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59043F2-F1B0-47AF-80EE-8124BE0ADBF0}"/>
              </a:ext>
            </a:extLst>
          </p:cNvPr>
          <p:cNvSpPr>
            <a:spLocks noGrp="1"/>
          </p:cNvSpPr>
          <p:nvPr/>
        </p:nvSpPr>
        <p:spPr>
          <a:xfrm>
            <a:off x="7562850" y="5313862"/>
            <a:ext cx="4037271" cy="14670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392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>
                <a:solidFill>
                  <a:srgbClr val="AFCE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kumimoji="0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AFCED5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</a:rPr>
              <a:t>第四組</a:t>
            </a: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AFCED5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</a:rPr>
              <a:t>／組員：</a:t>
            </a:r>
            <a:r>
              <a:rPr kumimoji="0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rgbClr val="AFCED5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</a:rPr>
              <a:t>515714001</a:t>
            </a:r>
            <a:r>
              <a:rPr kumimoji="0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AFCED5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</a:rPr>
              <a:t> 陳宛亭</a:t>
            </a:r>
            <a:endParaRPr kumimoji="0" lang="en-US" altLang="zh-TW" sz="1600" b="1" i="0" u="none" strike="noStrike" kern="1200" cap="none" spc="0" normalizeH="0" baseline="0" noProof="0" dirty="0">
              <a:ln>
                <a:noFill/>
              </a:ln>
              <a:solidFill>
                <a:srgbClr val="AFCED5"/>
              </a:solidFill>
              <a:effectLst/>
              <a:uLnTx/>
              <a:uFillTx/>
              <a:latin typeface="Microsoft JhengHei"/>
              <a:ea typeface="Microsoft JhengHei"/>
              <a:cs typeface="Microsoft JhengHe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>
                <a:solidFill>
                  <a:srgbClr val="AFCE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1600" b="1" dirty="0">
                <a:solidFill>
                  <a:srgbClr val="AFCED5"/>
                </a:solidFill>
                <a:latin typeface="Microsoft JhengHei"/>
                <a:ea typeface="Microsoft JhengHei"/>
                <a:cs typeface="Microsoft JhengHei"/>
              </a:rPr>
              <a:t>                            </a:t>
            </a:r>
            <a:r>
              <a:rPr lang="en-US" altLang="zh-TW" sz="1600" b="1" dirty="0">
                <a:solidFill>
                  <a:srgbClr val="AFCED5"/>
                </a:solidFill>
                <a:latin typeface="Microsoft JhengHei"/>
                <a:ea typeface="Microsoft JhengHei"/>
                <a:cs typeface="Microsoft JhengHei"/>
              </a:rPr>
              <a:t>515714013</a:t>
            </a:r>
            <a:r>
              <a:rPr lang="zh-TW" altLang="en-US" sz="1600" b="1" dirty="0">
                <a:solidFill>
                  <a:srgbClr val="AFCED5"/>
                </a:solidFill>
                <a:latin typeface="Microsoft JhengHei"/>
                <a:ea typeface="Microsoft JhengHei"/>
                <a:cs typeface="Microsoft JhengHei"/>
              </a:rPr>
              <a:t> 張凱鈞</a:t>
            </a:r>
            <a:endParaRPr lang="en-US" altLang="zh-TW" sz="1600" b="1" dirty="0">
              <a:solidFill>
                <a:srgbClr val="AFCED5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>
                <a:solidFill>
                  <a:srgbClr val="AFCE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1600" b="1" dirty="0">
                <a:solidFill>
                  <a:srgbClr val="AFCED5"/>
                </a:solidFill>
                <a:latin typeface="Microsoft JhengHei"/>
                <a:ea typeface="Microsoft JhengHei"/>
                <a:cs typeface="Microsoft JhengHei"/>
              </a:rPr>
              <a:t>                            </a:t>
            </a:r>
            <a:r>
              <a:rPr lang="en-US" altLang="zh-TW" sz="1600" b="1" dirty="0">
                <a:solidFill>
                  <a:srgbClr val="AFCED5"/>
                </a:solidFill>
                <a:latin typeface="Microsoft JhengHei"/>
                <a:ea typeface="Microsoft JhengHei"/>
                <a:cs typeface="Microsoft JhengHei"/>
              </a:rPr>
              <a:t>515714019</a:t>
            </a:r>
            <a:r>
              <a:rPr lang="zh-TW" altLang="en-US" sz="1600" b="1" dirty="0">
                <a:solidFill>
                  <a:srgbClr val="AFCED5"/>
                </a:solidFill>
                <a:latin typeface="Microsoft JhengHei"/>
                <a:ea typeface="Microsoft JhengHei"/>
                <a:cs typeface="Microsoft JhengHei"/>
              </a:rPr>
              <a:t> 連宏敏</a:t>
            </a:r>
            <a:endParaRPr lang="en-US" altLang="zh-TW" sz="1600" b="1" dirty="0">
              <a:solidFill>
                <a:srgbClr val="AFCED5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>
                <a:solidFill>
                  <a:srgbClr val="AFCE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1600" b="1" dirty="0">
                <a:solidFill>
                  <a:srgbClr val="AFCED5"/>
                </a:solidFill>
                <a:latin typeface="Microsoft JhengHei"/>
                <a:ea typeface="Microsoft JhengHei"/>
                <a:cs typeface="Microsoft JhengHei"/>
              </a:rPr>
              <a:t>                            </a:t>
            </a:r>
            <a:r>
              <a:rPr lang="en-US" altLang="zh-TW" sz="1600" b="1" dirty="0">
                <a:solidFill>
                  <a:srgbClr val="AFCED5"/>
                </a:solidFill>
                <a:latin typeface="Microsoft JhengHei"/>
                <a:ea typeface="Microsoft JhengHei"/>
                <a:cs typeface="Microsoft JhengHei"/>
              </a:rPr>
              <a:t>515714023</a:t>
            </a:r>
            <a:r>
              <a:rPr lang="zh-TW" altLang="en-US" sz="1600" b="1" dirty="0">
                <a:solidFill>
                  <a:srgbClr val="AFCED5"/>
                </a:solidFill>
                <a:latin typeface="Microsoft JhengHei"/>
                <a:ea typeface="Microsoft JhengHei"/>
                <a:cs typeface="Microsoft JhengHei"/>
              </a:rPr>
              <a:t> 黃柏升</a:t>
            </a:r>
            <a:endParaRPr lang="en-US" altLang="zh-TW" sz="1600" b="1" dirty="0">
              <a:solidFill>
                <a:srgbClr val="AFCED5"/>
              </a:solidFill>
              <a:latin typeface="Microsoft JhengHei"/>
              <a:ea typeface="Microsoft JhengHei"/>
              <a:cs typeface="Microsoft JhengHe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>
                <a:solidFill>
                  <a:srgbClr val="AFCE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1600" b="1" dirty="0">
                <a:solidFill>
                  <a:srgbClr val="AFCED5"/>
                </a:solidFill>
                <a:latin typeface="Microsoft JhengHei"/>
                <a:ea typeface="Microsoft JhengHei"/>
                <a:cs typeface="Microsoft JhengHei"/>
              </a:rPr>
              <a:t>                            </a:t>
            </a:r>
            <a:r>
              <a:rPr lang="en-US" altLang="zh-TW" sz="1600" b="1" dirty="0">
                <a:solidFill>
                  <a:srgbClr val="AFCED5"/>
                </a:solidFill>
                <a:latin typeface="Microsoft JhengHei"/>
                <a:ea typeface="Microsoft JhengHei"/>
                <a:cs typeface="Microsoft JhengHei"/>
              </a:rPr>
              <a:t>515714027 </a:t>
            </a:r>
            <a:r>
              <a:rPr lang="zh-TW" altLang="en-US" sz="1600" b="1" dirty="0">
                <a:solidFill>
                  <a:srgbClr val="AFCED5"/>
                </a:solidFill>
                <a:latin typeface="Microsoft JhengHei"/>
                <a:ea typeface="Microsoft JhengHei"/>
                <a:cs typeface="Microsoft JhengHei"/>
              </a:rPr>
              <a:t>林怡蓁</a:t>
            </a:r>
            <a:endParaRPr lang="en-US" altLang="zh-TW" sz="1600" b="1" dirty="0">
              <a:solidFill>
                <a:srgbClr val="AFCED5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ACD72C6-A612-D0DA-B9EB-8CCEFB7BAF92}"/>
              </a:ext>
            </a:extLst>
          </p:cNvPr>
          <p:cNvSpPr>
            <a:spLocks noGrp="1"/>
          </p:cNvSpPr>
          <p:nvPr/>
        </p:nvSpPr>
        <p:spPr>
          <a:xfrm>
            <a:off x="7562850" y="4887728"/>
            <a:ext cx="3339019" cy="68260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392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>
                <a:solidFill>
                  <a:srgbClr val="AFCE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kumimoji="0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AFCED5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</a:rPr>
              <a:t>指導教授</a:t>
            </a: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AFCED5"/>
                </a:solidFill>
                <a:effectLst/>
                <a:uLnTx/>
                <a:uFillTx/>
                <a:latin typeface="Microsoft JhengHei"/>
                <a:ea typeface="Microsoft JhengHei"/>
                <a:cs typeface="Microsoft JhengHei"/>
              </a:rPr>
              <a:t>：</a:t>
            </a:r>
            <a:r>
              <a:rPr lang="zh-TW" altLang="en-US" sz="1600" b="1" dirty="0">
                <a:solidFill>
                  <a:srgbClr val="AFCED5"/>
                </a:solidFill>
                <a:latin typeface="Microsoft JhengHei"/>
                <a:ea typeface="Microsoft JhengHei"/>
                <a:cs typeface="Microsoft JhengHei"/>
              </a:rPr>
              <a:t>林義貴 講座教授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AFCED5"/>
              </a:solidFill>
              <a:effectLst/>
              <a:uLnTx/>
              <a:uFillTx/>
              <a:latin typeface="Microsoft JhengHei"/>
              <a:ea typeface="Microsoft JhengHei"/>
              <a:cs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678760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D8233AE9-DFE9-4C55-B19B-C657CD2551E6}"/>
              </a:ext>
            </a:extLst>
          </p:cNvPr>
          <p:cNvSpPr>
            <a:spLocks noGrp="1"/>
          </p:cNvSpPr>
          <p:nvPr/>
        </p:nvSpPr>
        <p:spPr>
          <a:xfrm>
            <a:off x="571500" y="476250"/>
            <a:ext cx="114300" cy="800100"/>
          </a:xfrm>
          <a:prstGeom prst="roundRect">
            <a:avLst>
              <a:gd name="adj" fmla="val 16667"/>
            </a:avLst>
          </a:prstGeom>
          <a:solidFill>
            <a:srgbClr val="147D91"/>
          </a:solidFill>
          <a:ln w="0">
            <a:solidFill>
              <a:srgbClr val="147D9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2C987A2-734C-4D41-BBAF-ACD53EAC0090}"/>
              </a:ext>
            </a:extLst>
          </p:cNvPr>
          <p:cNvSpPr>
            <a:spLocks noGrp="1"/>
          </p:cNvSpPr>
          <p:nvPr/>
        </p:nvSpPr>
        <p:spPr>
          <a:xfrm>
            <a:off x="876300" y="457200"/>
            <a:ext cx="1009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982"/>
          </a:bodyPr>
          <a:lstStyle/>
          <a:p>
            <a:pPr algn="l">
              <a:defRPr sz="285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 dirty="0" err="1">
                <a:latin typeface="Microsoft JhengHei"/>
                <a:ea typeface="Microsoft JhengHei"/>
                <a:cs typeface="Microsoft JhengHei"/>
              </a:rPr>
              <a:t>法律可以處理</a:t>
            </a:r>
            <a:r>
              <a:rPr sz="2850" b="1" dirty="0" err="1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</a:rPr>
              <a:t>具體侵權</a:t>
            </a:r>
            <a:r>
              <a:rPr sz="2850" b="1" dirty="0" err="1">
                <a:latin typeface="Microsoft JhengHei"/>
                <a:ea typeface="Microsoft JhengHei"/>
                <a:cs typeface="Microsoft JhengHei"/>
              </a:rPr>
              <a:t>，</a:t>
            </a:r>
            <a:r>
              <a:rPr sz="2850" b="1" dirty="0" err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rPr>
              <a:t>但不是所有倫理爭議</a:t>
            </a:r>
            <a:endParaRPr sz="2850" b="1" dirty="0">
              <a:solidFill>
                <a:srgbClr val="12304A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FCBB33B-1364-4D75-9359-B4CC7D12453D}"/>
              </a:ext>
            </a:extLst>
          </p:cNvPr>
          <p:cNvSpPr>
            <a:spLocks noGrp="1"/>
          </p:cNvSpPr>
          <p:nvPr/>
        </p:nvSpPr>
        <p:spPr>
          <a:xfrm>
            <a:off x="895350" y="1019175"/>
            <a:ext cx="571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452" lnSpcReduction="10000"/>
          </a:bodyPr>
          <a:lstStyle/>
          <a:p>
            <a:pPr algn="l">
              <a:defRPr sz="1575" b="1">
                <a:solidFill>
                  <a:srgbClr val="147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47D91"/>
                </a:solidFill>
                <a:latin typeface="Microsoft JhengHei"/>
                <a:ea typeface="Microsoft JhengHei"/>
                <a:cs typeface="Microsoft JhengHei"/>
              </a:rPr>
              <a:t>現行法律可以約束什麼？</a:t>
            </a:r>
          </a:p>
        </p:txBody>
      </p:sp>
      <p:graphicFrame>
        <p:nvGraphicFramePr>
          <p:cNvPr id="14" name="表格 13"/>
          <p:cNvGraphicFramePr/>
          <p:nvPr>
            <p:extLst>
              <p:ext uri="{D42A27DB-BD31-4B8C-83A1-F6EECF244321}">
                <p14:modId xmlns:p14="http://schemas.microsoft.com/office/powerpoint/2010/main" val="970080881"/>
              </p:ext>
            </p:extLst>
          </p:nvPr>
        </p:nvGraphicFramePr>
        <p:xfrm>
          <a:off x="571500" y="1571625"/>
          <a:ext cx="11049000" cy="3200402"/>
        </p:xfrm>
        <a:graphic>
          <a:graphicData uri="http://schemas.openxmlformats.org/drawingml/2006/table">
            <a:tbl>
              <a:tblPr firstRow="1" firstCol="1" bandRow="1"/>
              <a:tblGrid>
                <a:gridCol w="25341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60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58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algn="ctr"/>
                      <a:r>
                        <a:rPr sz="1500" b="1" dirty="0" err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法律／權利</a:t>
                      </a:r>
                      <a:endParaRPr sz="1500" b="1" dirty="0">
                        <a:solidFill>
                          <a:srgbClr val="FFFFFF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 err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可以處理的情形</a:t>
                      </a:r>
                      <a:endParaRPr sz="1500" b="1" dirty="0">
                        <a:solidFill>
                          <a:srgbClr val="FFFFFF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本案的限制</a:t>
                      </a:r>
                    </a:p>
                  </a:txBody>
                  <a:tcPr anchor="ctr">
                    <a:solidFill>
                      <a:srgbClr val="123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1988">
                <a:tc>
                  <a:txBody>
                    <a:bodyPr/>
                    <a:lstStyle/>
                    <a:p>
                      <a:pPr algn="ctr"/>
                      <a:r>
                        <a:rPr sz="1350" b="1" dirty="0" err="1">
                          <a:solidFill>
                            <a:srgbClr val="12304A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</a:rPr>
                        <a:t>名譽權、刑法誹謗</a:t>
                      </a:r>
                      <a:endParaRPr sz="1350" b="1" dirty="0">
                        <a:solidFill>
                          <a:srgbClr val="12304A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</a:endParaRPr>
                    </a:p>
                  </a:txBody>
                  <a:tcPr anchor="ctr">
                    <a:solidFill>
                      <a:srgbClr val="EA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dirty="0" err="1">
                          <a:solidFill>
                            <a:srgbClr val="1721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散布不實事實，損害特定人的名譽</a:t>
                      </a:r>
                      <a:endParaRPr sz="1275" dirty="0">
                        <a:solidFill>
                          <a:srgbClr val="17212B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721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合理評論、公共議題或可證明為真，未必成立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1988">
                <a:tc>
                  <a:txBody>
                    <a:bodyPr/>
                    <a:lstStyle/>
                    <a:p>
                      <a:pPr algn="ctr"/>
                      <a:r>
                        <a:rPr sz="1350" b="1" dirty="0" err="1">
                          <a:solidFill>
                            <a:srgbClr val="12304A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</a:rPr>
                        <a:t>個資法</a:t>
                      </a:r>
                      <a:endParaRPr sz="1350" b="1" dirty="0">
                        <a:solidFill>
                          <a:srgbClr val="12304A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</a:endParaRPr>
                    </a:p>
                  </a:txBody>
                  <a:tcPr anchor="ctr">
                    <a:solidFill>
                      <a:srgbClr val="EA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721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未經適法依據蒐集、處理、利用在世者的個資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dirty="0" err="1">
                          <a:solidFill>
                            <a:srgbClr val="1721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歷史事件與已死亡當事人，通常不是最直接的適用情境</a:t>
                      </a:r>
                      <a:endParaRPr sz="1275" dirty="0">
                        <a:solidFill>
                          <a:srgbClr val="17212B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1988">
                <a:tc>
                  <a:txBody>
                    <a:bodyPr/>
                    <a:lstStyle/>
                    <a:p>
                      <a:pPr algn="ctr"/>
                      <a:r>
                        <a:rPr sz="1350" b="1" dirty="0" err="1">
                          <a:solidFill>
                            <a:srgbClr val="12304A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</a:rPr>
                        <a:t>著作權</a:t>
                      </a:r>
                      <a:endParaRPr sz="1350" b="1" dirty="0">
                        <a:solidFill>
                          <a:srgbClr val="12304A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</a:endParaRPr>
                    </a:p>
                  </a:txBody>
                  <a:tcPr anchor="ctr">
                    <a:solidFill>
                      <a:srgbClr val="EA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721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未授權使用照片、文章、訪談、劇本等作品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721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歷史事實本身通常不是著作權保護標的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1988">
                <a:tc>
                  <a:txBody>
                    <a:bodyPr/>
                    <a:lstStyle/>
                    <a:p>
                      <a:pPr algn="ctr"/>
                      <a:r>
                        <a:rPr sz="1350" b="1" dirty="0" err="1">
                          <a:solidFill>
                            <a:srgbClr val="12304A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</a:rPr>
                        <a:t>民事人格權</a:t>
                      </a:r>
                      <a:endParaRPr sz="1350" b="1" dirty="0">
                        <a:solidFill>
                          <a:srgbClr val="12304A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</a:endParaRPr>
                    </a:p>
                  </a:txBody>
                  <a:tcPr anchor="ctr">
                    <a:solidFill>
                      <a:srgbClr val="EA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721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侵害仍在世者的隱私、肖像、姓名或名譽，可請求賠償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dirty="0" err="1">
                          <a:solidFill>
                            <a:srgbClr val="1721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不等於每次歷史改編都必須先取得家屬同意</a:t>
                      </a:r>
                      <a:endParaRPr sz="1275" dirty="0">
                        <a:solidFill>
                          <a:srgbClr val="17212B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: 圓角 4">
            <a:extLst>
              <a:ext uri="{FF2B5EF4-FFF2-40B4-BE49-F238E27FC236}">
                <a16:creationId xmlns:a16="http://schemas.microsoft.com/office/drawing/2014/main" id="{6A66CD35-7686-4E48-9CA0-FC147B534DBF}"/>
              </a:ext>
            </a:extLst>
          </p:cNvPr>
          <p:cNvSpPr>
            <a:spLocks noGrp="1"/>
          </p:cNvSpPr>
          <p:nvPr/>
        </p:nvSpPr>
        <p:spPr>
          <a:xfrm>
            <a:off x="571500" y="5029200"/>
            <a:ext cx="11049000" cy="1028700"/>
          </a:xfrm>
          <a:prstGeom prst="roundRect">
            <a:avLst>
              <a:gd name="adj" fmla="val 7407"/>
            </a:avLst>
          </a:prstGeom>
          <a:solidFill>
            <a:srgbClr val="F5F7F8"/>
          </a:solidFill>
          <a:ln w="0">
            <a:solidFill>
              <a:srgbClr val="F5F7F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BCE256C-DF36-4A9C-85CD-2CD369CC4C03}"/>
              </a:ext>
            </a:extLst>
          </p:cNvPr>
          <p:cNvSpPr>
            <a:spLocks noGrp="1"/>
          </p:cNvSpPr>
          <p:nvPr/>
        </p:nvSpPr>
        <p:spPr>
          <a:xfrm>
            <a:off x="800100" y="5210175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167" lnSpcReduction="20000"/>
          </a:bodyPr>
          <a:lstStyle/>
          <a:p>
            <a:pPr algn="l">
              <a:defRPr sz="1500" b="1">
                <a:solidFill>
                  <a:srgbClr val="147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dirty="0" err="1">
                <a:solidFill>
                  <a:srgbClr val="147D91"/>
                </a:solidFill>
                <a:latin typeface="Microsoft JhengHei"/>
                <a:ea typeface="Microsoft JhengHei"/>
                <a:cs typeface="Microsoft JhengHei"/>
              </a:rPr>
              <a:t>法條重點</a:t>
            </a:r>
            <a:endParaRPr sz="1500" b="1" dirty="0">
              <a:solidFill>
                <a:srgbClr val="147D91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6593405-2D2F-48DC-A374-1DC08D6A740A}"/>
              </a:ext>
            </a:extLst>
          </p:cNvPr>
          <p:cNvSpPr>
            <a:spLocks noGrp="1"/>
          </p:cNvSpPr>
          <p:nvPr/>
        </p:nvSpPr>
        <p:spPr>
          <a:xfrm>
            <a:off x="2077890" y="5067302"/>
            <a:ext cx="9064920" cy="7608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lnSpcReduction="10000"/>
          </a:bodyPr>
          <a:lstStyle/>
          <a:p>
            <a:pPr algn="l">
              <a:lnSpc>
                <a:spcPct val="200000"/>
              </a:lnSpc>
              <a:defRPr sz="120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dirty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《</a:t>
            </a:r>
            <a:r>
              <a:rPr sz="1200" dirty="0" err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刑法》第</a:t>
            </a:r>
            <a:r>
              <a:rPr sz="1200" dirty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 310 </a:t>
            </a:r>
            <a:r>
              <a:rPr sz="1200" dirty="0" err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條規範誹謗；第</a:t>
            </a:r>
            <a:r>
              <a:rPr sz="1200" dirty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 311 </a:t>
            </a:r>
            <a:r>
              <a:rPr sz="1200" dirty="0" err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條保障對可受公評事項的善意、適當評論；第</a:t>
            </a:r>
            <a:r>
              <a:rPr sz="1200" dirty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 312 </a:t>
            </a:r>
            <a:r>
              <a:rPr sz="1200" dirty="0" err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條也處罰對已死亡者的侮辱或誹謗</a:t>
            </a:r>
            <a:r>
              <a:rPr sz="1200" dirty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  <a:p>
            <a:pPr algn="l">
              <a:lnSpc>
                <a:spcPct val="200000"/>
              </a:lnSpc>
              <a:defRPr sz="120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dirty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《</a:t>
            </a:r>
            <a:r>
              <a:rPr sz="1200" dirty="0" err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個人資料保護法》第</a:t>
            </a:r>
            <a:r>
              <a:rPr sz="1200" dirty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 2 </a:t>
            </a:r>
            <a:r>
              <a:rPr sz="1200" dirty="0" err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條的核心，是可直接或間接識別「自然人」的資料</a:t>
            </a:r>
            <a:r>
              <a:rPr sz="1200" dirty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8BCA935-7A2A-4726-BC88-BEA25BAA9380}"/>
              </a:ext>
            </a:extLst>
          </p:cNvPr>
          <p:cNvSpPr>
            <a:spLocks noGrp="1"/>
          </p:cNvSpPr>
          <p:nvPr/>
        </p:nvSpPr>
        <p:spPr>
          <a:xfrm>
            <a:off x="571500" y="6305550"/>
            <a:ext cx="11049000" cy="19050"/>
          </a:xfrm>
          <a:prstGeom prst="rect">
            <a:avLst/>
          </a:prstGeom>
          <a:solidFill>
            <a:srgbClr val="D4DDE1"/>
          </a:solidFill>
          <a:ln w="0">
            <a:solidFill>
              <a:srgbClr val="D4DD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CB852A6-E40A-475C-9607-AC0AE88B923D}"/>
              </a:ext>
            </a:extLst>
          </p:cNvPr>
          <p:cNvSpPr>
            <a:spLocks noGrp="1"/>
          </p:cNvSpPr>
          <p:nvPr/>
        </p:nvSpPr>
        <p:spPr>
          <a:xfrm>
            <a:off x="571500" y="6419850"/>
            <a:ext cx="990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8788" lnSpcReduction="20000"/>
          </a:bodyPr>
          <a:lstStyle/>
          <a:p>
            <a:pPr algn="l">
              <a:defRPr sz="825">
                <a:solidFill>
                  <a:srgbClr val="52616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00" dirty="0" err="1">
                <a:solidFill>
                  <a:srgbClr val="52616B"/>
                </a:solidFill>
                <a:latin typeface="Microsoft JhengHei"/>
                <a:ea typeface="Microsoft JhengHei"/>
                <a:cs typeface="Microsoft JhengHei"/>
              </a:rPr>
              <a:t>資料來源：中華民國刑法第</a:t>
            </a:r>
            <a:r>
              <a:rPr sz="1000" dirty="0">
                <a:solidFill>
                  <a:srgbClr val="52616B"/>
                </a:solidFill>
                <a:latin typeface="Microsoft JhengHei"/>
                <a:ea typeface="Microsoft JhengHei"/>
                <a:cs typeface="Microsoft JhengHei"/>
              </a:rPr>
              <a:t> 310–312 </a:t>
            </a:r>
            <a:r>
              <a:rPr sz="1000" dirty="0" err="1">
                <a:solidFill>
                  <a:srgbClr val="52616B"/>
                </a:solidFill>
                <a:latin typeface="Microsoft JhengHei"/>
                <a:ea typeface="Microsoft JhengHei"/>
                <a:cs typeface="Microsoft JhengHei"/>
              </a:rPr>
              <a:t>條；個人資料保護法第</a:t>
            </a:r>
            <a:r>
              <a:rPr sz="1000" dirty="0">
                <a:solidFill>
                  <a:srgbClr val="52616B"/>
                </a:solidFill>
                <a:latin typeface="Microsoft JhengHei"/>
                <a:ea typeface="Microsoft JhengHei"/>
                <a:cs typeface="Microsoft JhengHei"/>
              </a:rPr>
              <a:t> 2 </a:t>
            </a:r>
            <a:r>
              <a:rPr sz="1000" dirty="0" err="1">
                <a:solidFill>
                  <a:srgbClr val="52616B"/>
                </a:solidFill>
                <a:latin typeface="Microsoft JhengHei"/>
                <a:ea typeface="Microsoft JhengHei"/>
                <a:cs typeface="Microsoft JhengHei"/>
              </a:rPr>
              <a:t>條；著作權法；民法人格權與侵權行為規定</a:t>
            </a:r>
            <a:r>
              <a:rPr sz="800" dirty="0">
                <a:solidFill>
                  <a:srgbClr val="52616B"/>
                </a:solidFill>
                <a:latin typeface="Microsoft JhengHei"/>
                <a:ea typeface="Microsoft JhengHei"/>
                <a:cs typeface="Microsoft JhengHei"/>
              </a:rPr>
              <a:t>。 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1416598-B18E-4314-9D85-7558B78C7D04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523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214" lnSpcReduction="10000"/>
          </a:bodyPr>
          <a:lstStyle/>
          <a:p>
            <a:pPr algn="r">
              <a:defRPr sz="1050" b="1">
                <a:solidFill>
                  <a:srgbClr val="147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47D91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44CD8C18-0947-1865-7C91-CB03FB718C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771" y="5165888"/>
            <a:ext cx="703708" cy="734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730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36D45E81-78DF-40B4-8068-C9A7F98CFEDA}"/>
              </a:ext>
            </a:extLst>
          </p:cNvPr>
          <p:cNvSpPr>
            <a:spLocks noGrp="1"/>
          </p:cNvSpPr>
          <p:nvPr/>
        </p:nvSpPr>
        <p:spPr>
          <a:xfrm>
            <a:off x="571500" y="476250"/>
            <a:ext cx="114300" cy="800100"/>
          </a:xfrm>
          <a:prstGeom prst="roundRect">
            <a:avLst>
              <a:gd name="adj" fmla="val 16667"/>
            </a:avLst>
          </a:prstGeom>
          <a:solidFill>
            <a:srgbClr val="147D91"/>
          </a:solidFill>
          <a:ln w="0">
            <a:solidFill>
              <a:srgbClr val="147D9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157E587-0C11-4785-8FAA-49E2D33C8EA3}"/>
              </a:ext>
            </a:extLst>
          </p:cNvPr>
          <p:cNvSpPr>
            <a:spLocks noGrp="1"/>
          </p:cNvSpPr>
          <p:nvPr/>
        </p:nvSpPr>
        <p:spPr>
          <a:xfrm>
            <a:off x="876300" y="457200"/>
            <a:ext cx="7239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627" lnSpcReduction="10000"/>
          </a:bodyPr>
          <a:lstStyle/>
          <a:p>
            <a:pPr algn="l">
              <a:defRPr sz="315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 dirty="0" err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rPr>
              <a:t>合法，不代表合乎倫理</a:t>
            </a:r>
            <a:endParaRPr sz="3150" b="1" dirty="0">
              <a:solidFill>
                <a:srgbClr val="12304A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5496003-AE7C-4877-B402-29A191B34B09}"/>
              </a:ext>
            </a:extLst>
          </p:cNvPr>
          <p:cNvSpPr>
            <a:spLocks noGrp="1"/>
          </p:cNvSpPr>
          <p:nvPr/>
        </p:nvSpPr>
        <p:spPr>
          <a:xfrm>
            <a:off x="895350" y="1028700"/>
            <a:ext cx="685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516" lnSpcReduction="20000"/>
          </a:bodyPr>
          <a:lstStyle/>
          <a:p>
            <a:pPr algn="l">
              <a:defRPr sz="1575" b="1">
                <a:solidFill>
                  <a:srgbClr val="147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 dirty="0" err="1">
                <a:solidFill>
                  <a:srgbClr val="147D91"/>
                </a:solidFill>
                <a:latin typeface="Microsoft JhengHei"/>
                <a:ea typeface="Microsoft JhengHei"/>
                <a:cs typeface="Microsoft JhengHei"/>
              </a:rPr>
              <a:t>翻拍真人真事：同意、創作自由與法律不足</a:t>
            </a:r>
            <a:endParaRPr sz="1575" b="1" dirty="0">
              <a:solidFill>
                <a:srgbClr val="147D91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0C6C90F8-67FD-47C4-AABF-02DE2681350D}"/>
              </a:ext>
            </a:extLst>
          </p:cNvPr>
          <p:cNvSpPr>
            <a:spLocks noGrp="1"/>
          </p:cNvSpPr>
          <p:nvPr/>
        </p:nvSpPr>
        <p:spPr>
          <a:xfrm>
            <a:off x="571500" y="1562100"/>
            <a:ext cx="5067300" cy="4114800"/>
          </a:xfrm>
          <a:prstGeom prst="roundRect">
            <a:avLst>
              <a:gd name="adj" fmla="val 1852"/>
            </a:avLst>
          </a:prstGeom>
          <a:solidFill>
            <a:srgbClr val="EAF5F7"/>
          </a:solidFill>
          <a:ln w="0">
            <a:solidFill>
              <a:srgbClr val="EAF5F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2A92F4B-EE06-4ABE-AE2C-A825A38E2983}"/>
              </a:ext>
            </a:extLst>
          </p:cNvPr>
          <p:cNvSpPr>
            <a:spLocks noGrp="1"/>
          </p:cNvSpPr>
          <p:nvPr/>
        </p:nvSpPr>
        <p:spPr>
          <a:xfrm>
            <a:off x="876300" y="1828800"/>
            <a:ext cx="4191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10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rPr>
              <a:t>翻拍真人真事，</a:t>
            </a:r>
          </a:p>
          <a:p>
            <a:pPr algn="l">
              <a:defRPr sz="210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rPr>
              <a:t>一定要經過同意嗎？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C5241FF-3AC3-4567-9F43-290CDE387674}"/>
              </a:ext>
            </a:extLst>
          </p:cNvPr>
          <p:cNvSpPr>
            <a:spLocks noGrp="1"/>
          </p:cNvSpPr>
          <p:nvPr/>
        </p:nvSpPr>
        <p:spPr>
          <a:xfrm>
            <a:off x="876300" y="2781300"/>
            <a:ext cx="238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674"/>
          </a:bodyPr>
          <a:lstStyle/>
          <a:p>
            <a:pPr algn="l">
              <a:defRPr sz="3225" b="1">
                <a:solidFill>
                  <a:srgbClr val="147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 dirty="0" err="1">
                <a:solidFill>
                  <a:srgbClr val="C00000"/>
                </a:solidFill>
                <a:latin typeface="Microsoft JhengHei"/>
                <a:ea typeface="Microsoft JhengHei"/>
                <a:cs typeface="Microsoft JhengHei"/>
              </a:rPr>
              <a:t>不一定</a:t>
            </a:r>
            <a:endParaRPr sz="3225" b="1" dirty="0">
              <a:solidFill>
                <a:srgbClr val="C00000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A7134CE-C5BB-4CC4-BFBF-2A506730B2EB}"/>
              </a:ext>
            </a:extLst>
          </p:cNvPr>
          <p:cNvSpPr>
            <a:spLocks noGrp="1"/>
          </p:cNvSpPr>
          <p:nvPr/>
        </p:nvSpPr>
        <p:spPr>
          <a:xfrm>
            <a:off x="895350" y="3495675"/>
            <a:ext cx="42100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175" lnSpcReduction="10000"/>
          </a:bodyPr>
          <a:lstStyle/>
          <a:p>
            <a:pPr algn="l">
              <a:defRPr sz="1425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若只取材歷史事件、人物改名且無法辨識原型，通常未必需要同意。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0BF36D-E107-4395-88D0-1F24F51DEFB5}"/>
              </a:ext>
            </a:extLst>
          </p:cNvPr>
          <p:cNvSpPr>
            <a:spLocks noGrp="1"/>
          </p:cNvSpPr>
          <p:nvPr/>
        </p:nvSpPr>
        <p:spPr>
          <a:xfrm>
            <a:off x="895350" y="4238625"/>
            <a:ext cx="4095750" cy="19050"/>
          </a:xfrm>
          <a:prstGeom prst="rect">
            <a:avLst/>
          </a:prstGeom>
          <a:solidFill>
            <a:srgbClr val="AFCED5"/>
          </a:solidFill>
          <a:ln w="0">
            <a:solidFill>
              <a:srgbClr val="AFCED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96CD20B-7193-4000-9DE2-34186C754D0D}"/>
              </a:ext>
            </a:extLst>
          </p:cNvPr>
          <p:cNvSpPr>
            <a:spLocks noGrp="1"/>
          </p:cNvSpPr>
          <p:nvPr/>
        </p:nvSpPr>
        <p:spPr>
          <a:xfrm>
            <a:off x="895350" y="4457700"/>
            <a:ext cx="4210050" cy="1504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 dirty="0" err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但使用真名、肖像、聲音、私人資訊</a:t>
            </a:r>
            <a:r>
              <a:rPr sz="1350" dirty="0" err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，或加入可辨識且損害名譽的不實情節，可能侵害人格權、隱私權、個資或名譽</a:t>
            </a:r>
            <a:r>
              <a:rPr sz="1350" dirty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  <a:endParaRPr lang="en-US" sz="1350" dirty="0">
              <a:solidFill>
                <a:srgbClr val="17212B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endParaRPr lang="en-US" sz="1350" dirty="0">
              <a:solidFill>
                <a:srgbClr val="17212B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b="1" dirty="0"/>
              <a:t>結論：是否侵權，要</a:t>
            </a:r>
            <a:r>
              <a:rPr lang="zh-TW" altLang="en-US" b="1" dirty="0">
                <a:solidFill>
                  <a:srgbClr val="C00000"/>
                </a:solidFill>
              </a:rPr>
              <a:t>依據完整電影內容</a:t>
            </a:r>
            <a:r>
              <a:rPr lang="zh-TW" altLang="en-US" b="1" dirty="0"/>
              <a:t>後才能判斷</a:t>
            </a:r>
            <a:r>
              <a:rPr lang="zh-TW" altLang="en-US" sz="1350" dirty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  <a:endParaRPr sz="1350" dirty="0">
              <a:solidFill>
                <a:srgbClr val="17212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03C8FD5-C361-47EA-8997-A89758428F5E}"/>
              </a:ext>
            </a:extLst>
          </p:cNvPr>
          <p:cNvSpPr>
            <a:spLocks noGrp="1"/>
          </p:cNvSpPr>
          <p:nvPr/>
        </p:nvSpPr>
        <p:spPr>
          <a:xfrm>
            <a:off x="6691312" y="1581150"/>
            <a:ext cx="4667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10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1" dirty="0" err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rPr>
              <a:t>法律不足在哪裡</a:t>
            </a:r>
            <a:r>
              <a:rPr sz="2000" b="1" dirty="0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rPr>
              <a:t>？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13D176A3-1EE6-4481-A6F1-D801534152BA}"/>
              </a:ext>
            </a:extLst>
          </p:cNvPr>
          <p:cNvSpPr>
            <a:spLocks noGrp="1"/>
          </p:cNvSpPr>
          <p:nvPr/>
        </p:nvSpPr>
        <p:spPr>
          <a:xfrm>
            <a:off x="6191250" y="2181225"/>
            <a:ext cx="1123950" cy="333375"/>
          </a:xfrm>
          <a:prstGeom prst="roundRect">
            <a:avLst>
              <a:gd name="adj" fmla="val 5714"/>
            </a:avLst>
          </a:prstGeom>
          <a:solidFill>
            <a:srgbClr val="D8EEF2"/>
          </a:solidFill>
          <a:ln w="0">
            <a:solidFill>
              <a:srgbClr val="D8EEF2"/>
            </a:solidFill>
            <a:prstDash val="solid"/>
          </a:ln>
        </p:spPr>
        <p:txBody>
          <a:bodyPr/>
          <a:lstStyle/>
          <a:p>
            <a:endParaRPr lang="zh-TW" altLang="en-US" sz="320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1CEDDEB-B94E-48B7-ADE4-A868DB2D654B}"/>
              </a:ext>
            </a:extLst>
          </p:cNvPr>
          <p:cNvSpPr>
            <a:spLocks noGrp="1"/>
          </p:cNvSpPr>
          <p:nvPr/>
        </p:nvSpPr>
        <p:spPr>
          <a:xfrm>
            <a:off x="6142296" y="2195513"/>
            <a:ext cx="1277679" cy="1619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275" b="1">
                <a:solidFill>
                  <a:srgbClr val="147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1" dirty="0" err="1">
                <a:solidFill>
                  <a:srgbClr val="147D91"/>
                </a:solidFill>
                <a:latin typeface="Microsoft JhengHei"/>
                <a:ea typeface="Microsoft JhengHei"/>
                <a:cs typeface="Microsoft JhengHei"/>
              </a:rPr>
              <a:t>難以界定</a:t>
            </a:r>
            <a:endParaRPr sz="1600" b="1" dirty="0">
              <a:solidFill>
                <a:srgbClr val="147D91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6790C6A-303F-48F8-903B-AF4841F731D2}"/>
              </a:ext>
            </a:extLst>
          </p:cNvPr>
          <p:cNvSpPr>
            <a:spLocks noGrp="1"/>
          </p:cNvSpPr>
          <p:nvPr/>
        </p:nvSpPr>
        <p:spPr>
          <a:xfrm>
            <a:off x="7524750" y="2219325"/>
            <a:ext cx="3857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246"/>
          </a:bodyPr>
          <a:lstStyle/>
          <a:p>
            <a:pPr algn="l">
              <a:defRPr sz="1425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法律很難判定何謂「把悲劇娛樂化」。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A4CA7BA-7A3A-427E-90AE-151108B4317D}"/>
              </a:ext>
            </a:extLst>
          </p:cNvPr>
          <p:cNvSpPr>
            <a:spLocks noGrp="1"/>
          </p:cNvSpPr>
          <p:nvPr/>
        </p:nvSpPr>
        <p:spPr>
          <a:xfrm>
            <a:off x="6191250" y="2705100"/>
            <a:ext cx="5238750" cy="19050"/>
          </a:xfrm>
          <a:prstGeom prst="rect">
            <a:avLst/>
          </a:prstGeom>
          <a:solidFill>
            <a:srgbClr val="DFE8EA"/>
          </a:solidFill>
          <a:ln w="0">
            <a:solidFill>
              <a:srgbClr val="DFE8E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1AE1AFCF-A5A8-47D3-A4FB-B4C419F8F393}"/>
              </a:ext>
            </a:extLst>
          </p:cNvPr>
          <p:cNvSpPr>
            <a:spLocks noGrp="1"/>
          </p:cNvSpPr>
          <p:nvPr/>
        </p:nvSpPr>
        <p:spPr>
          <a:xfrm>
            <a:off x="6191250" y="2933700"/>
            <a:ext cx="1123950" cy="333375"/>
          </a:xfrm>
          <a:prstGeom prst="roundRect">
            <a:avLst>
              <a:gd name="adj" fmla="val 5714"/>
            </a:avLst>
          </a:prstGeom>
          <a:solidFill>
            <a:srgbClr val="D8EEF2"/>
          </a:solidFill>
          <a:ln w="0">
            <a:solidFill>
              <a:srgbClr val="D8EEF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4FF6E9D-767C-4BDF-85A5-79918BC957FF}"/>
              </a:ext>
            </a:extLst>
          </p:cNvPr>
          <p:cNvSpPr>
            <a:spLocks noGrp="1"/>
          </p:cNvSpPr>
          <p:nvPr/>
        </p:nvSpPr>
        <p:spPr>
          <a:xfrm>
            <a:off x="6191250" y="2947988"/>
            <a:ext cx="1200150" cy="1619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275" b="1">
                <a:solidFill>
                  <a:srgbClr val="147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1" dirty="0" err="1">
                <a:solidFill>
                  <a:srgbClr val="147D91"/>
                </a:solidFill>
                <a:latin typeface="Microsoft JhengHei"/>
                <a:ea typeface="Microsoft JhengHei"/>
                <a:cs typeface="Microsoft JhengHei"/>
              </a:rPr>
              <a:t>創作自由</a:t>
            </a:r>
            <a:endParaRPr sz="1600" b="1" dirty="0">
              <a:solidFill>
                <a:srgbClr val="147D91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C54DA7E-A4A5-41AE-B14D-8531F0A966DC}"/>
              </a:ext>
            </a:extLst>
          </p:cNvPr>
          <p:cNvSpPr>
            <a:spLocks noGrp="1"/>
          </p:cNvSpPr>
          <p:nvPr/>
        </p:nvSpPr>
        <p:spPr>
          <a:xfrm>
            <a:off x="7524750" y="2971800"/>
            <a:ext cx="3857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246"/>
          </a:bodyPr>
          <a:lstStyle/>
          <a:p>
            <a:pPr algn="l">
              <a:defRPr sz="1425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不能要求所有歷史創作一律取得家屬許可。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FB60229-7D1A-4906-86A6-07C5F5CD6778}"/>
              </a:ext>
            </a:extLst>
          </p:cNvPr>
          <p:cNvSpPr>
            <a:spLocks noGrp="1"/>
          </p:cNvSpPr>
          <p:nvPr/>
        </p:nvSpPr>
        <p:spPr>
          <a:xfrm>
            <a:off x="6191250" y="3457575"/>
            <a:ext cx="5238750" cy="19050"/>
          </a:xfrm>
          <a:prstGeom prst="rect">
            <a:avLst/>
          </a:prstGeom>
          <a:solidFill>
            <a:srgbClr val="DFE8EA"/>
          </a:solidFill>
          <a:ln w="0">
            <a:solidFill>
              <a:srgbClr val="DFE8E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F0AC1CFE-69D8-4029-8F0D-DFBD2861C2FF}"/>
              </a:ext>
            </a:extLst>
          </p:cNvPr>
          <p:cNvSpPr>
            <a:spLocks noGrp="1"/>
          </p:cNvSpPr>
          <p:nvPr/>
        </p:nvSpPr>
        <p:spPr>
          <a:xfrm>
            <a:off x="6191250" y="3686175"/>
            <a:ext cx="1123950" cy="333375"/>
          </a:xfrm>
          <a:prstGeom prst="roundRect">
            <a:avLst>
              <a:gd name="adj" fmla="val 5714"/>
            </a:avLst>
          </a:prstGeom>
          <a:solidFill>
            <a:srgbClr val="D8EEF2"/>
          </a:solidFill>
          <a:ln w="0">
            <a:solidFill>
              <a:srgbClr val="D8EEF2"/>
            </a:solidFill>
            <a:prstDash val="solid"/>
          </a:ln>
        </p:spPr>
        <p:txBody>
          <a:bodyPr/>
          <a:lstStyle/>
          <a:p>
            <a:endParaRPr lang="zh-TW" altLang="en-US" sz="1600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AA7BDE2-F826-4F10-A81E-EE3F7881990E}"/>
              </a:ext>
            </a:extLst>
          </p:cNvPr>
          <p:cNvSpPr>
            <a:spLocks noGrp="1"/>
          </p:cNvSpPr>
          <p:nvPr/>
        </p:nvSpPr>
        <p:spPr>
          <a:xfrm>
            <a:off x="6172200" y="3699965"/>
            <a:ext cx="1200150" cy="14763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275" b="1">
                <a:solidFill>
                  <a:srgbClr val="147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1" dirty="0" err="1">
                <a:solidFill>
                  <a:srgbClr val="147D91"/>
                </a:solidFill>
                <a:latin typeface="Microsoft JhengHei"/>
                <a:ea typeface="Microsoft JhengHei"/>
                <a:cs typeface="Microsoft JhengHei"/>
              </a:rPr>
              <a:t>溝通落差</a:t>
            </a:r>
            <a:endParaRPr sz="1600" b="1" dirty="0">
              <a:solidFill>
                <a:srgbClr val="147D91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219F3C3-6635-4828-A6BA-66149D77D086}"/>
              </a:ext>
            </a:extLst>
          </p:cNvPr>
          <p:cNvSpPr>
            <a:spLocks noGrp="1"/>
          </p:cNvSpPr>
          <p:nvPr/>
        </p:nvSpPr>
        <p:spPr>
          <a:xfrm>
            <a:off x="7524750" y="3724275"/>
            <a:ext cx="3857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408"/>
          </a:bodyPr>
          <a:lstStyle/>
          <a:p>
            <a:pPr algn="l">
              <a:defRPr sz="1425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未溝通時，家屬可能在公開後才再次面對創傷。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DC125E8-8825-4FE5-8C78-BA80518253F6}"/>
              </a:ext>
            </a:extLst>
          </p:cNvPr>
          <p:cNvSpPr>
            <a:spLocks noGrp="1"/>
          </p:cNvSpPr>
          <p:nvPr/>
        </p:nvSpPr>
        <p:spPr>
          <a:xfrm>
            <a:off x="6191250" y="4210050"/>
            <a:ext cx="5238750" cy="19050"/>
          </a:xfrm>
          <a:prstGeom prst="rect">
            <a:avLst/>
          </a:prstGeom>
          <a:solidFill>
            <a:srgbClr val="DFE8EA"/>
          </a:solidFill>
          <a:ln w="0">
            <a:solidFill>
              <a:srgbClr val="DFE8E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6EF8552B-EA45-449F-B6C6-D9860C820B92}"/>
              </a:ext>
            </a:extLst>
          </p:cNvPr>
          <p:cNvSpPr>
            <a:spLocks noGrp="1"/>
          </p:cNvSpPr>
          <p:nvPr/>
        </p:nvSpPr>
        <p:spPr>
          <a:xfrm>
            <a:off x="6191250" y="4438650"/>
            <a:ext cx="1123950" cy="333375"/>
          </a:xfrm>
          <a:prstGeom prst="roundRect">
            <a:avLst>
              <a:gd name="adj" fmla="val 5714"/>
            </a:avLst>
          </a:prstGeom>
          <a:solidFill>
            <a:srgbClr val="D8EEF2"/>
          </a:solidFill>
          <a:ln w="0">
            <a:solidFill>
              <a:srgbClr val="D8EEF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1542B3C-526C-44F0-AC8A-12888BE37E83}"/>
              </a:ext>
            </a:extLst>
          </p:cNvPr>
          <p:cNvSpPr>
            <a:spLocks noGrp="1"/>
          </p:cNvSpPr>
          <p:nvPr/>
        </p:nvSpPr>
        <p:spPr>
          <a:xfrm>
            <a:off x="6219825" y="4462352"/>
            <a:ext cx="1095375" cy="2002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275" b="1">
                <a:solidFill>
                  <a:srgbClr val="147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1" dirty="0" err="1">
                <a:solidFill>
                  <a:srgbClr val="147D91"/>
                </a:solidFill>
                <a:latin typeface="Microsoft JhengHei"/>
                <a:ea typeface="Microsoft JhengHei"/>
                <a:cs typeface="Microsoft JhengHei"/>
              </a:rPr>
              <a:t>事後救濟</a:t>
            </a:r>
            <a:endParaRPr sz="1600" b="1" dirty="0">
              <a:solidFill>
                <a:srgbClr val="147D91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D702EAB-33D6-4D86-9E22-66B1730248F9}"/>
              </a:ext>
            </a:extLst>
          </p:cNvPr>
          <p:cNvSpPr>
            <a:spLocks noGrp="1"/>
          </p:cNvSpPr>
          <p:nvPr/>
        </p:nvSpPr>
        <p:spPr>
          <a:xfrm>
            <a:off x="7524750" y="4476750"/>
            <a:ext cx="3857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246"/>
          </a:bodyPr>
          <a:lstStyle/>
          <a:p>
            <a:pPr algn="l">
              <a:defRPr sz="1425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傷害與錯誤印象可能已先在網路擴散。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533A514-7219-4B0D-9ACD-10D9990CB469}"/>
              </a:ext>
            </a:extLst>
          </p:cNvPr>
          <p:cNvSpPr>
            <a:spLocks noGrp="1"/>
          </p:cNvSpPr>
          <p:nvPr/>
        </p:nvSpPr>
        <p:spPr>
          <a:xfrm>
            <a:off x="6191250" y="4962525"/>
            <a:ext cx="5238750" cy="19050"/>
          </a:xfrm>
          <a:prstGeom prst="rect">
            <a:avLst/>
          </a:prstGeom>
          <a:solidFill>
            <a:srgbClr val="DFE8EA"/>
          </a:solidFill>
          <a:ln w="0">
            <a:solidFill>
              <a:srgbClr val="DFE8E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6C27DD45-5839-46E2-8201-24588148F483}"/>
              </a:ext>
            </a:extLst>
          </p:cNvPr>
          <p:cNvSpPr>
            <a:spLocks noGrp="1"/>
          </p:cNvSpPr>
          <p:nvPr/>
        </p:nvSpPr>
        <p:spPr>
          <a:xfrm>
            <a:off x="6191250" y="5181600"/>
            <a:ext cx="5238750" cy="723900"/>
          </a:xfrm>
          <a:prstGeom prst="roundRect">
            <a:avLst>
              <a:gd name="adj" fmla="val 10526"/>
            </a:avLst>
          </a:prstGeom>
          <a:solidFill>
            <a:srgbClr val="12304A"/>
          </a:solidFill>
          <a:ln w="0">
            <a:solidFill>
              <a:srgbClr val="12304A"/>
            </a:solidFill>
            <a:prstDash val="solid"/>
          </a:ln>
        </p:spPr>
        <p:txBody>
          <a:bodyPr/>
          <a:lstStyle/>
          <a:p>
            <a:endParaRPr lang="zh-TW" altLang="en-US" sz="1600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AA47AF9-541F-4011-B252-10751E0CC09C}"/>
              </a:ext>
            </a:extLst>
          </p:cNvPr>
          <p:cNvSpPr>
            <a:spLocks noGrp="1"/>
          </p:cNvSpPr>
          <p:nvPr/>
        </p:nvSpPr>
        <p:spPr>
          <a:xfrm>
            <a:off x="6326150" y="5270426"/>
            <a:ext cx="57626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00" b="1" dirty="0" err="1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</a:rPr>
              <a:t>本組觀點：</a:t>
            </a:r>
            <a:r>
              <a:rPr sz="1400" b="1" dirty="0" err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法律是最低標準</a:t>
            </a:r>
            <a:r>
              <a:rPr sz="1400" b="1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；</a:t>
            </a:r>
            <a:endParaRPr lang="en-US" sz="1400" b="1" dirty="0">
              <a:solidFill>
                <a:srgbClr val="FFFFFF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00" b="1" dirty="0" err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製作方仍應主動溝通、查證史料，並清楚標示虛構內容</a:t>
            </a:r>
            <a:r>
              <a:rPr sz="1400" b="1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2E8AAB4-4A71-4920-A1D3-56494C16D8B4}"/>
              </a:ext>
            </a:extLst>
          </p:cNvPr>
          <p:cNvSpPr>
            <a:spLocks noGrp="1"/>
          </p:cNvSpPr>
          <p:nvPr/>
        </p:nvSpPr>
        <p:spPr>
          <a:xfrm>
            <a:off x="571500" y="6305550"/>
            <a:ext cx="11049000" cy="19050"/>
          </a:xfrm>
          <a:prstGeom prst="rect">
            <a:avLst/>
          </a:prstGeom>
          <a:solidFill>
            <a:srgbClr val="D4DDE1"/>
          </a:solidFill>
          <a:ln w="0">
            <a:solidFill>
              <a:srgbClr val="D4DD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717C0B9-3802-4034-BA08-96FBF1560978}"/>
              </a:ext>
            </a:extLst>
          </p:cNvPr>
          <p:cNvSpPr>
            <a:spLocks noGrp="1"/>
          </p:cNvSpPr>
          <p:nvPr/>
        </p:nvSpPr>
        <p:spPr>
          <a:xfrm>
            <a:off x="571500" y="6419850"/>
            <a:ext cx="990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788"/>
          </a:bodyPr>
          <a:lstStyle/>
          <a:p>
            <a:pPr algn="l">
              <a:defRPr sz="825">
                <a:solidFill>
                  <a:srgbClr val="52616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00" dirty="0" err="1">
                <a:solidFill>
                  <a:srgbClr val="52616B"/>
                </a:solidFill>
                <a:latin typeface="Microsoft JhengHei"/>
                <a:ea typeface="Microsoft JhengHei"/>
                <a:cs typeface="Microsoft JhengHei"/>
              </a:rPr>
              <a:t>資料來源：中華民國刑法；個人資料保護法；台灣電影網〈真人真事改編之授權關係</a:t>
            </a:r>
            <a:r>
              <a:rPr sz="800" dirty="0">
                <a:solidFill>
                  <a:srgbClr val="52616B"/>
                </a:solidFill>
                <a:latin typeface="Microsoft JhengHei"/>
                <a:ea typeface="Microsoft JhengHei"/>
                <a:cs typeface="Microsoft JhengHei"/>
              </a:rPr>
              <a:t>〉。 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FFA98AC-F846-47A8-BE33-7584B0E75562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523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214" lnSpcReduction="10000"/>
          </a:bodyPr>
          <a:lstStyle/>
          <a:p>
            <a:pPr algn="r">
              <a:defRPr sz="1050" b="1">
                <a:solidFill>
                  <a:srgbClr val="147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47D91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pic>
        <p:nvPicPr>
          <p:cNvPr id="34" name="圖片 33">
            <a:extLst>
              <a:ext uri="{FF2B5EF4-FFF2-40B4-BE49-F238E27FC236}">
                <a16:creationId xmlns:a16="http://schemas.microsoft.com/office/drawing/2014/main" id="{719CE495-E9B8-7442-E42B-F26A14DD9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0725" y="1548557"/>
            <a:ext cx="457202" cy="513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996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19227507-2DEE-4213-AA6A-D52EB8BFF2A4}"/>
              </a:ext>
            </a:extLst>
          </p:cNvPr>
          <p:cNvSpPr>
            <a:spLocks noGrp="1"/>
          </p:cNvSpPr>
          <p:nvPr/>
        </p:nvSpPr>
        <p:spPr>
          <a:xfrm>
            <a:off x="571500" y="476250"/>
            <a:ext cx="114300" cy="800100"/>
          </a:xfrm>
          <a:prstGeom prst="roundRect">
            <a:avLst>
              <a:gd name="adj" fmla="val 16667"/>
            </a:avLst>
          </a:prstGeom>
          <a:solidFill>
            <a:srgbClr val="147D91"/>
          </a:solidFill>
          <a:ln w="0">
            <a:solidFill>
              <a:srgbClr val="147D9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A370DB7-D1EE-403E-AB3E-FB9200B630E3}"/>
              </a:ext>
            </a:extLst>
          </p:cNvPr>
          <p:cNvSpPr>
            <a:spLocks noGrp="1"/>
          </p:cNvSpPr>
          <p:nvPr/>
        </p:nvSpPr>
        <p:spPr>
          <a:xfrm>
            <a:off x="876300" y="457200"/>
            <a:ext cx="1028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495"/>
          </a:bodyPr>
          <a:lstStyle/>
          <a:p>
            <a:pPr algn="l">
              <a:defRPr sz="2775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rPr>
              <a:t>真人真事改編：法律之外，還有信任與觀眾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4B22880-0B1D-423F-A703-061DA9A0C658}"/>
              </a:ext>
            </a:extLst>
          </p:cNvPr>
          <p:cNvSpPr>
            <a:spLocks noGrp="1"/>
          </p:cNvSpPr>
          <p:nvPr/>
        </p:nvSpPr>
        <p:spPr>
          <a:xfrm>
            <a:off x="895350" y="1028700"/>
            <a:ext cx="781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702" lnSpcReduction="10000"/>
          </a:bodyPr>
          <a:lstStyle/>
          <a:p>
            <a:pPr algn="l">
              <a:defRPr sz="1425" b="1">
                <a:solidFill>
                  <a:srgbClr val="147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47D91"/>
                </a:solidFill>
                <a:latin typeface="Microsoft JhengHei"/>
                <a:ea typeface="Microsoft JhengHei"/>
                <a:cs typeface="Microsoft JhengHei"/>
              </a:rPr>
              <a:t>依〈從《世紀血案》看真人真事改編的界線〉觀點整理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93F21D38-C253-4D08-98B4-8AA92C034311}"/>
              </a:ext>
            </a:extLst>
          </p:cNvPr>
          <p:cNvSpPr>
            <a:spLocks noGrp="1"/>
          </p:cNvSpPr>
          <p:nvPr/>
        </p:nvSpPr>
        <p:spPr>
          <a:xfrm>
            <a:off x="571500" y="1547812"/>
            <a:ext cx="3333750" cy="3843338"/>
          </a:xfrm>
          <a:prstGeom prst="roundRect">
            <a:avLst>
              <a:gd name="adj" fmla="val 2623"/>
            </a:avLst>
          </a:prstGeom>
          <a:solidFill>
            <a:srgbClr val="F5F7F8"/>
          </a:solidFill>
          <a:ln w="0">
            <a:solidFill>
              <a:srgbClr val="F5F7F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6B7142E-38BA-4605-9FD7-5CDF285EB5E9}"/>
              </a:ext>
            </a:extLst>
          </p:cNvPr>
          <p:cNvSpPr>
            <a:spLocks noGrp="1"/>
          </p:cNvSpPr>
          <p:nvPr/>
        </p:nvSpPr>
        <p:spPr>
          <a:xfrm>
            <a:off x="857250" y="1824037"/>
            <a:ext cx="76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976" lnSpcReduction="10000"/>
          </a:bodyPr>
          <a:lstStyle/>
          <a:p>
            <a:pPr algn="l">
              <a:defRPr sz="2100" b="1">
                <a:solidFill>
                  <a:srgbClr val="147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47D91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8D802BA-2E0D-4C94-BFD3-C8BFE8854C8B}"/>
              </a:ext>
            </a:extLst>
          </p:cNvPr>
          <p:cNvSpPr>
            <a:spLocks noGrp="1"/>
          </p:cNvSpPr>
          <p:nvPr/>
        </p:nvSpPr>
        <p:spPr>
          <a:xfrm>
            <a:off x="857250" y="2395537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833" lnSpcReduction="20000"/>
          </a:bodyPr>
          <a:lstStyle/>
          <a:p>
            <a:pPr algn="l">
              <a:defRPr sz="1875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rPr>
              <a:t>法律界線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EC1140E-CFED-41DE-9F3C-C6A871B36228}"/>
              </a:ext>
            </a:extLst>
          </p:cNvPr>
          <p:cNvSpPr>
            <a:spLocks noGrp="1"/>
          </p:cNvSpPr>
          <p:nvPr/>
        </p:nvSpPr>
        <p:spPr>
          <a:xfrm>
            <a:off x="857250" y="2871787"/>
            <a:ext cx="2743200" cy="19050"/>
          </a:xfrm>
          <a:prstGeom prst="rect">
            <a:avLst/>
          </a:prstGeom>
          <a:solidFill>
            <a:srgbClr val="C5D8DD"/>
          </a:solidFill>
          <a:ln w="0">
            <a:solidFill>
              <a:srgbClr val="C5D8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15A00A8A-51D1-4B13-A0B2-9860349CD342}"/>
              </a:ext>
            </a:extLst>
          </p:cNvPr>
          <p:cNvSpPr>
            <a:spLocks noGrp="1"/>
          </p:cNvSpPr>
          <p:nvPr/>
        </p:nvSpPr>
        <p:spPr>
          <a:xfrm>
            <a:off x="4286250" y="1547812"/>
            <a:ext cx="3333750" cy="3843338"/>
          </a:xfrm>
          <a:prstGeom prst="roundRect">
            <a:avLst>
              <a:gd name="adj" fmla="val 2623"/>
            </a:avLst>
          </a:prstGeom>
          <a:solidFill>
            <a:srgbClr val="EAF5F7"/>
          </a:solidFill>
          <a:ln w="0">
            <a:solidFill>
              <a:srgbClr val="EAF5F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5F76FBC-25B1-4110-B7AF-8EE8C101FF55}"/>
              </a:ext>
            </a:extLst>
          </p:cNvPr>
          <p:cNvSpPr>
            <a:spLocks noGrp="1"/>
          </p:cNvSpPr>
          <p:nvPr/>
        </p:nvSpPr>
        <p:spPr>
          <a:xfrm>
            <a:off x="4572000" y="1824037"/>
            <a:ext cx="76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976" lnSpcReduction="10000"/>
          </a:bodyPr>
          <a:lstStyle/>
          <a:p>
            <a:pPr algn="l">
              <a:defRPr sz="2100" b="1">
                <a:solidFill>
                  <a:srgbClr val="147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47D91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AA2C655-767B-4BDE-A471-344B757ABC2A}"/>
              </a:ext>
            </a:extLst>
          </p:cNvPr>
          <p:cNvSpPr>
            <a:spLocks noGrp="1"/>
          </p:cNvSpPr>
          <p:nvPr/>
        </p:nvSpPr>
        <p:spPr>
          <a:xfrm>
            <a:off x="4572000" y="2395537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833" lnSpcReduction="20000"/>
          </a:bodyPr>
          <a:lstStyle/>
          <a:p>
            <a:pPr algn="l">
              <a:defRPr sz="1875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rPr>
              <a:t>實務與信任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0ABF12E-F918-4996-B30E-2BE90089CAD5}"/>
              </a:ext>
            </a:extLst>
          </p:cNvPr>
          <p:cNvSpPr>
            <a:spLocks noGrp="1"/>
          </p:cNvSpPr>
          <p:nvPr/>
        </p:nvSpPr>
        <p:spPr>
          <a:xfrm>
            <a:off x="4572000" y="2871787"/>
            <a:ext cx="2743200" cy="19050"/>
          </a:xfrm>
          <a:prstGeom prst="rect">
            <a:avLst/>
          </a:prstGeom>
          <a:solidFill>
            <a:srgbClr val="C5D8DD"/>
          </a:solidFill>
          <a:ln w="0">
            <a:solidFill>
              <a:srgbClr val="C5D8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CFF0D90-C678-409B-8F54-0B8D059B3B68}"/>
              </a:ext>
            </a:extLst>
          </p:cNvPr>
          <p:cNvSpPr>
            <a:spLocks noGrp="1"/>
          </p:cNvSpPr>
          <p:nvPr/>
        </p:nvSpPr>
        <p:spPr>
          <a:xfrm>
            <a:off x="4543425" y="2910219"/>
            <a:ext cx="27241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50000"/>
              </a:lnSpc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00" dirty="0" err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重大社會事件不只看是否合法</a:t>
            </a:r>
            <a:r>
              <a:rPr sz="1300" dirty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  <a:endParaRPr lang="en-US" sz="1300" dirty="0">
              <a:solidFill>
                <a:srgbClr val="17212B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50000"/>
              </a:lnSpc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00" dirty="0" err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事前和當事人、遺族溝通，有助於降低不尊重的疑慮與後續爭議</a:t>
            </a:r>
            <a:r>
              <a:rPr sz="1300" dirty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  <a:endParaRPr lang="en-US" sz="1300" dirty="0">
              <a:solidFill>
                <a:srgbClr val="17212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A8E7D4D8-8A2F-457A-95FA-A40AB7911E99}"/>
              </a:ext>
            </a:extLst>
          </p:cNvPr>
          <p:cNvSpPr>
            <a:spLocks noGrp="1"/>
          </p:cNvSpPr>
          <p:nvPr/>
        </p:nvSpPr>
        <p:spPr>
          <a:xfrm>
            <a:off x="8001000" y="1547812"/>
            <a:ext cx="3333750" cy="3843338"/>
          </a:xfrm>
          <a:prstGeom prst="roundRect">
            <a:avLst>
              <a:gd name="adj" fmla="val 2623"/>
            </a:avLst>
          </a:prstGeom>
          <a:solidFill>
            <a:srgbClr val="F5F7F8"/>
          </a:solidFill>
          <a:ln w="0">
            <a:solidFill>
              <a:srgbClr val="F5F7F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75365A-D811-4D7B-A6AD-DEED9C2DFAD9}"/>
              </a:ext>
            </a:extLst>
          </p:cNvPr>
          <p:cNvSpPr>
            <a:spLocks noGrp="1"/>
          </p:cNvSpPr>
          <p:nvPr/>
        </p:nvSpPr>
        <p:spPr>
          <a:xfrm>
            <a:off x="8286750" y="1824037"/>
            <a:ext cx="76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976" lnSpcReduction="10000"/>
          </a:bodyPr>
          <a:lstStyle/>
          <a:p>
            <a:pPr algn="l">
              <a:defRPr sz="2100" b="1">
                <a:solidFill>
                  <a:srgbClr val="147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47D91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8C273ED-93E7-4E4B-8919-0D41B6EF2247}"/>
              </a:ext>
            </a:extLst>
          </p:cNvPr>
          <p:cNvSpPr>
            <a:spLocks noGrp="1"/>
          </p:cNvSpPr>
          <p:nvPr/>
        </p:nvSpPr>
        <p:spPr>
          <a:xfrm>
            <a:off x="8286750" y="2395537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833" lnSpcReduction="20000"/>
          </a:bodyPr>
          <a:lstStyle/>
          <a:p>
            <a:pPr algn="l">
              <a:defRPr sz="1875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rPr>
              <a:t>觀眾與市場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844F964-6BD8-4747-A803-D463C9ECF334}"/>
              </a:ext>
            </a:extLst>
          </p:cNvPr>
          <p:cNvSpPr>
            <a:spLocks noGrp="1"/>
          </p:cNvSpPr>
          <p:nvPr/>
        </p:nvSpPr>
        <p:spPr>
          <a:xfrm>
            <a:off x="8286750" y="2871787"/>
            <a:ext cx="2743200" cy="19050"/>
          </a:xfrm>
          <a:prstGeom prst="rect">
            <a:avLst/>
          </a:prstGeom>
          <a:solidFill>
            <a:srgbClr val="C5D8DD"/>
          </a:solidFill>
          <a:ln w="0">
            <a:solidFill>
              <a:srgbClr val="C5D8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FFEB360-1C2E-4913-A4BE-C3BF78C2CCF5}"/>
              </a:ext>
            </a:extLst>
          </p:cNvPr>
          <p:cNvSpPr>
            <a:spLocks noGrp="1"/>
          </p:cNvSpPr>
          <p:nvPr/>
        </p:nvSpPr>
        <p:spPr>
          <a:xfrm>
            <a:off x="8258175" y="2910219"/>
            <a:ext cx="27241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ct val="150000"/>
              </a:lnSpc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00" dirty="0" err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作品進入市場後，目標受眾會判斷創作初衷</a:t>
            </a:r>
            <a:r>
              <a:rPr sz="1300" dirty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；「</a:t>
            </a:r>
            <a:r>
              <a:rPr sz="1300" dirty="0" err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合法就好」不一定能獲得</a:t>
            </a:r>
            <a:r>
              <a:rPr lang="zh-TW" altLang="en-US" sz="1300" dirty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觀眾</a:t>
            </a:r>
            <a:r>
              <a:rPr sz="1300" dirty="0" err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信任與接受</a:t>
            </a:r>
            <a:r>
              <a:rPr sz="1300" dirty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3F02282A-2BB8-4857-AEB9-C3150AC475CB}"/>
              </a:ext>
            </a:extLst>
          </p:cNvPr>
          <p:cNvSpPr>
            <a:spLocks noGrp="1"/>
          </p:cNvSpPr>
          <p:nvPr/>
        </p:nvSpPr>
        <p:spPr>
          <a:xfrm>
            <a:off x="571500" y="5581650"/>
            <a:ext cx="10858500" cy="628650"/>
          </a:xfrm>
          <a:prstGeom prst="roundRect">
            <a:avLst>
              <a:gd name="adj" fmla="val 12121"/>
            </a:avLst>
          </a:prstGeom>
          <a:solidFill>
            <a:srgbClr val="12304A"/>
          </a:solidFill>
          <a:ln w="0">
            <a:solidFill>
              <a:srgbClr val="1230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F6B8F8C-DCCC-4A42-A546-124561E66549}"/>
              </a:ext>
            </a:extLst>
          </p:cNvPr>
          <p:cNvSpPr>
            <a:spLocks noGrp="1"/>
          </p:cNvSpPr>
          <p:nvPr/>
        </p:nvSpPr>
        <p:spPr>
          <a:xfrm>
            <a:off x="838200" y="5753100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dirty="0" err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我們</a:t>
            </a:r>
            <a:r>
              <a:rPr lang="zh-TW" altLang="en-US" sz="1500" b="1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組的</a:t>
            </a:r>
            <a:r>
              <a:rPr sz="1500" b="1" dirty="0" err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延伸結論：改編不只問「能不能拍</a:t>
            </a:r>
            <a:r>
              <a:rPr sz="1500" b="1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」，</a:t>
            </a:r>
            <a:r>
              <a:rPr sz="1500" b="1" dirty="0" err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也要問「是否值得信任、是否能讓受影響者被尊重</a:t>
            </a:r>
            <a:r>
              <a:rPr sz="1500" b="1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」。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DE563EF-327D-4E56-A288-63C26F5A7140}"/>
              </a:ext>
            </a:extLst>
          </p:cNvPr>
          <p:cNvSpPr>
            <a:spLocks noGrp="1"/>
          </p:cNvSpPr>
          <p:nvPr/>
        </p:nvSpPr>
        <p:spPr>
          <a:xfrm>
            <a:off x="571500" y="6305550"/>
            <a:ext cx="11049000" cy="19050"/>
          </a:xfrm>
          <a:prstGeom prst="rect">
            <a:avLst/>
          </a:prstGeom>
          <a:solidFill>
            <a:srgbClr val="D4DDE1"/>
          </a:solidFill>
          <a:ln w="0">
            <a:solidFill>
              <a:srgbClr val="D4DD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789C261-A858-4D4B-8E6C-B9CB97F7E27E}"/>
              </a:ext>
            </a:extLst>
          </p:cNvPr>
          <p:cNvSpPr>
            <a:spLocks noGrp="1"/>
          </p:cNvSpPr>
          <p:nvPr/>
        </p:nvSpPr>
        <p:spPr>
          <a:xfrm>
            <a:off x="571500" y="6419850"/>
            <a:ext cx="990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8788" lnSpcReduction="10000"/>
          </a:bodyPr>
          <a:lstStyle/>
          <a:p>
            <a:pPr algn="l">
              <a:defRPr sz="825">
                <a:solidFill>
                  <a:srgbClr val="52616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52616B"/>
                </a:solidFill>
                <a:latin typeface="Microsoft JhengHei"/>
                <a:ea typeface="Microsoft JhengHei"/>
                <a:cs typeface="Microsoft JhengHei"/>
              </a:rPr>
              <a:t>資料來源：東默農，〈從《世紀血案》看真人真事改編的界線〉，2026-02-11。 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5348360-0D24-4C93-902F-93FDDBE344EB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523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214" lnSpcReduction="10000"/>
          </a:bodyPr>
          <a:lstStyle/>
          <a:p>
            <a:pPr algn="r">
              <a:defRPr sz="1050" b="1">
                <a:solidFill>
                  <a:srgbClr val="147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47D91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57CDCF9C-AF3B-3A5F-92DA-03BFA2014EA4}"/>
              </a:ext>
            </a:extLst>
          </p:cNvPr>
          <p:cNvSpPr txBox="1"/>
          <p:nvPr/>
        </p:nvSpPr>
        <p:spPr>
          <a:xfrm>
            <a:off x="685800" y="2909001"/>
            <a:ext cx="3067493" cy="11233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>
            <a:defPPr>
              <a:defRPr lang="zh-TW"/>
            </a:defPPr>
            <a:lvl1pPr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>
              <a:lnSpc>
                <a:spcPct val="170000"/>
              </a:lnSpc>
            </a:pPr>
            <a:r>
              <a:rPr lang="ja-JP" altLang="en-US" sz="1300" dirty="0"/>
              <a:t>・改編自真實案件，但人名全換。</a:t>
            </a:r>
            <a:br>
              <a:rPr lang="ja-JP" altLang="en-US" sz="1300" dirty="0"/>
            </a:br>
            <a:r>
              <a:rPr lang="ja-JP" altLang="en-US" sz="1300" dirty="0"/>
              <a:t>・多角色原型混合。</a:t>
            </a:r>
            <a:br>
              <a:rPr lang="ja-JP" altLang="en-US" sz="1300" dirty="0"/>
            </a:br>
            <a:r>
              <a:rPr lang="ja-JP" altLang="en-US" sz="1300" dirty="0"/>
              <a:t>・提及真人，但只使用新聞公開資料。</a:t>
            </a:r>
            <a:br>
              <a:rPr lang="ja-JP" altLang="en-US" sz="1300" dirty="0"/>
            </a:br>
            <a:r>
              <a:rPr lang="ja-JP" altLang="en-US" sz="1300" dirty="0"/>
              <a:t>・沒有提及真人的想法、動機與評價。</a:t>
            </a:r>
            <a:endParaRPr lang="en-US" altLang="ja-JP" sz="1300" dirty="0"/>
          </a:p>
          <a:p>
            <a:pPr>
              <a:lnSpc>
                <a:spcPct val="170000"/>
              </a:lnSpc>
            </a:pPr>
            <a:r>
              <a:rPr lang="zh-TW" altLang="en-US" sz="1300" dirty="0"/>
              <a:t>　以上是合法、安全的。</a:t>
            </a:r>
            <a:endParaRPr lang="en-US" altLang="zh-TW" sz="1300" dirty="0"/>
          </a:p>
          <a:p>
            <a:pPr>
              <a:lnSpc>
                <a:spcPct val="170000"/>
              </a:lnSpc>
            </a:pPr>
            <a:r>
              <a:rPr lang="zh-TW" altLang="en-US" sz="1300" dirty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－但若細節</a:t>
            </a:r>
            <a:r>
              <a:rPr lang="zh-TW" altLang="en-US" sz="1300" dirty="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</a:rPr>
              <a:t>高度可辨識</a:t>
            </a:r>
            <a:r>
              <a:rPr lang="zh-TW" altLang="en-US" sz="1300" dirty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，且可能醜化　　　　</a:t>
            </a:r>
            <a:endParaRPr lang="en-US" altLang="zh-TW" sz="1300" dirty="0">
              <a:solidFill>
                <a:srgbClr val="17212B"/>
              </a:solidFill>
              <a:latin typeface="Microsoft JhengHei"/>
              <a:ea typeface="Microsoft JhengHei"/>
              <a:cs typeface="Microsoft JhengHei"/>
            </a:endParaRPr>
          </a:p>
          <a:p>
            <a:pPr>
              <a:lnSpc>
                <a:spcPct val="170000"/>
              </a:lnSpc>
            </a:pPr>
            <a:r>
              <a:rPr lang="zh-TW" altLang="en-US" sz="1300" dirty="0"/>
              <a:t>　</a:t>
            </a:r>
            <a:r>
              <a:rPr lang="zh-TW" altLang="en-US" sz="1300" dirty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特定人，仍有</a:t>
            </a:r>
            <a:r>
              <a:rPr lang="zh-TW" altLang="en-US" sz="1300" dirty="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</a:rPr>
              <a:t>損害名譽風險</a:t>
            </a:r>
            <a:r>
              <a:rPr lang="zh-TW" altLang="en-US" sz="1300" dirty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  <a:p>
            <a:pPr>
              <a:lnSpc>
                <a:spcPct val="170000"/>
              </a:lnSpc>
            </a:pPr>
            <a:endParaRPr lang="zh-TW" altLang="en-US" sz="1300" dirty="0"/>
          </a:p>
        </p:txBody>
      </p:sp>
      <p:pic>
        <p:nvPicPr>
          <p:cNvPr id="28" name="圖片 27">
            <a:extLst>
              <a:ext uri="{FF2B5EF4-FFF2-40B4-BE49-F238E27FC236}">
                <a16:creationId xmlns:a16="http://schemas.microsoft.com/office/drawing/2014/main" id="{6DCB54D8-E897-9B93-F07B-C794692CED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9369" y="4214812"/>
            <a:ext cx="1837961" cy="1082667"/>
          </a:xfrm>
          <a:prstGeom prst="rect">
            <a:avLst/>
          </a:prstGeom>
        </p:spPr>
      </p:pic>
      <p:pic>
        <p:nvPicPr>
          <p:cNvPr id="30" name="圖片 29">
            <a:extLst>
              <a:ext uri="{FF2B5EF4-FFF2-40B4-BE49-F238E27FC236}">
                <a16:creationId xmlns:a16="http://schemas.microsoft.com/office/drawing/2014/main" id="{CECEB5AA-2BFE-EF23-3A13-0E53ED8E4E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6490" y="4136445"/>
            <a:ext cx="1578020" cy="1183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784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0ECFA472-958D-4F10-9DA6-0E87A23B7471}"/>
              </a:ext>
            </a:extLst>
          </p:cNvPr>
          <p:cNvSpPr>
            <a:spLocks noGrp="1"/>
          </p:cNvSpPr>
          <p:nvPr/>
        </p:nvSpPr>
        <p:spPr>
          <a:xfrm>
            <a:off x="571500" y="476250"/>
            <a:ext cx="114300" cy="800100"/>
          </a:xfrm>
          <a:prstGeom prst="roundRect">
            <a:avLst>
              <a:gd name="adj" fmla="val 16667"/>
            </a:avLst>
          </a:prstGeom>
          <a:solidFill>
            <a:srgbClr val="147D91"/>
          </a:solidFill>
          <a:ln w="0">
            <a:solidFill>
              <a:srgbClr val="147D9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7709A92-25DC-4103-B0D8-DBBD217ED134}"/>
              </a:ext>
            </a:extLst>
          </p:cNvPr>
          <p:cNvSpPr>
            <a:spLocks noGrp="1"/>
          </p:cNvSpPr>
          <p:nvPr/>
        </p:nvSpPr>
        <p:spPr>
          <a:xfrm>
            <a:off x="876300" y="457200"/>
            <a:ext cx="1009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982"/>
          </a:bodyPr>
          <a:lstStyle/>
          <a:p>
            <a:pPr algn="l">
              <a:defRPr sz="285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2850" b="1" dirty="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</a:rPr>
              <a:t>社會衝擊</a:t>
            </a:r>
            <a:r>
              <a:rPr lang="zh-TW" altLang="en-US" sz="2850" b="1" dirty="0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rPr>
              <a:t>：</a:t>
            </a:r>
            <a:r>
              <a:rPr sz="2850" b="1" dirty="0" err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rPr>
              <a:t>影視改編會重新形塑社會對事件的理解</a:t>
            </a:r>
            <a:endParaRPr sz="2850" b="1" dirty="0">
              <a:solidFill>
                <a:srgbClr val="12304A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6DD51D91-FBED-46A1-9F5C-480E5286B90D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5238750" cy="1562100"/>
          </a:xfrm>
          <a:prstGeom prst="roundRect">
            <a:avLst>
              <a:gd name="adj" fmla="val 4878"/>
            </a:avLst>
          </a:prstGeom>
          <a:solidFill>
            <a:srgbClr val="EAF5F7"/>
          </a:solidFill>
          <a:ln w="0">
            <a:solidFill>
              <a:srgbClr val="EAF5F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F1BD5159-CAAE-4DCC-8205-D4C4CE1A5A6F}"/>
              </a:ext>
            </a:extLst>
          </p:cNvPr>
          <p:cNvSpPr>
            <a:spLocks noGrp="1"/>
          </p:cNvSpPr>
          <p:nvPr/>
        </p:nvSpPr>
        <p:spPr>
          <a:xfrm>
            <a:off x="857250" y="2105025"/>
            <a:ext cx="590550" cy="59055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73046A4-036D-400C-A975-7E51F1D9691F}"/>
              </a:ext>
            </a:extLst>
          </p:cNvPr>
          <p:cNvSpPr>
            <a:spLocks noGrp="1"/>
          </p:cNvSpPr>
          <p:nvPr/>
        </p:nvSpPr>
        <p:spPr>
          <a:xfrm>
            <a:off x="1676400" y="209550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65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1" dirty="0" err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rPr>
              <a:t>影響歷史記憶</a:t>
            </a:r>
            <a:endParaRPr sz="2000" b="1" dirty="0">
              <a:solidFill>
                <a:srgbClr val="12304A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91DF459-DC10-48FC-AA9F-B81724D84A95}"/>
              </a:ext>
            </a:extLst>
          </p:cNvPr>
          <p:cNvSpPr>
            <a:spLocks noGrp="1"/>
          </p:cNvSpPr>
          <p:nvPr/>
        </p:nvSpPr>
        <p:spPr>
          <a:xfrm>
            <a:off x="1676400" y="2533650"/>
            <a:ext cx="3714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觀眾可能將電影情節當成史實。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7BF83BA8-0B52-454B-BCCE-748CDDF5C941}"/>
              </a:ext>
            </a:extLst>
          </p:cNvPr>
          <p:cNvSpPr>
            <a:spLocks noGrp="1"/>
          </p:cNvSpPr>
          <p:nvPr/>
        </p:nvSpPr>
        <p:spPr>
          <a:xfrm>
            <a:off x="6191250" y="1809750"/>
            <a:ext cx="5238750" cy="1562100"/>
          </a:xfrm>
          <a:prstGeom prst="roundRect">
            <a:avLst>
              <a:gd name="adj" fmla="val 4878"/>
            </a:avLst>
          </a:prstGeom>
          <a:solidFill>
            <a:srgbClr val="F5F7F8"/>
          </a:solidFill>
          <a:ln w="0">
            <a:solidFill>
              <a:srgbClr val="F5F7F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03AFED5B-3609-48D4-BFB3-0BBD75098EDC}"/>
              </a:ext>
            </a:extLst>
          </p:cNvPr>
          <p:cNvSpPr>
            <a:spLocks noGrp="1"/>
          </p:cNvSpPr>
          <p:nvPr/>
        </p:nvSpPr>
        <p:spPr>
          <a:xfrm>
            <a:off x="6477000" y="2105025"/>
            <a:ext cx="590550" cy="59055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BDEFFE4-66AC-430A-AECA-3937BA598186}"/>
              </a:ext>
            </a:extLst>
          </p:cNvPr>
          <p:cNvSpPr>
            <a:spLocks noGrp="1"/>
          </p:cNvSpPr>
          <p:nvPr/>
        </p:nvSpPr>
        <p:spPr>
          <a:xfrm>
            <a:off x="7296150" y="209550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65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1" dirty="0" err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rPr>
              <a:t>受害者與家屬的二度傷害</a:t>
            </a:r>
            <a:endParaRPr sz="2000" b="1" dirty="0">
              <a:solidFill>
                <a:srgbClr val="12304A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279C977-1FED-4E17-A061-A45052E809D2}"/>
              </a:ext>
            </a:extLst>
          </p:cNvPr>
          <p:cNvSpPr>
            <a:spLocks noGrp="1"/>
          </p:cNvSpPr>
          <p:nvPr/>
        </p:nvSpPr>
        <p:spPr>
          <a:xfrm>
            <a:off x="7296150" y="2533650"/>
            <a:ext cx="3714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真實創傷可能被戲劇化或商品化。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50CB4D45-A7D7-45F5-8402-F22836815DFF}"/>
              </a:ext>
            </a:extLst>
          </p:cNvPr>
          <p:cNvSpPr>
            <a:spLocks noGrp="1"/>
          </p:cNvSpPr>
          <p:nvPr/>
        </p:nvSpPr>
        <p:spPr>
          <a:xfrm>
            <a:off x="571500" y="3743325"/>
            <a:ext cx="5238750" cy="1562100"/>
          </a:xfrm>
          <a:prstGeom prst="roundRect">
            <a:avLst>
              <a:gd name="adj" fmla="val 4878"/>
            </a:avLst>
          </a:prstGeom>
          <a:solidFill>
            <a:srgbClr val="EAF5F7"/>
          </a:solidFill>
          <a:ln w="0">
            <a:solidFill>
              <a:srgbClr val="EAF5F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60040B11-46DF-49D9-B97A-FF8A2C8FACC0}"/>
              </a:ext>
            </a:extLst>
          </p:cNvPr>
          <p:cNvSpPr>
            <a:spLocks noGrp="1"/>
          </p:cNvSpPr>
          <p:nvPr/>
        </p:nvSpPr>
        <p:spPr>
          <a:xfrm>
            <a:off x="857250" y="4038600"/>
            <a:ext cx="590550" cy="59055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2F6AE6F-2A76-418A-99B6-6D93090F2A65}"/>
              </a:ext>
            </a:extLst>
          </p:cNvPr>
          <p:cNvSpPr>
            <a:spLocks noGrp="1"/>
          </p:cNvSpPr>
          <p:nvPr/>
        </p:nvSpPr>
        <p:spPr>
          <a:xfrm>
            <a:off x="1676400" y="4029075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65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1" dirty="0" err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rPr>
              <a:t>錯誤資訊擴散</a:t>
            </a:r>
            <a:endParaRPr sz="2000" b="1" dirty="0">
              <a:solidFill>
                <a:srgbClr val="12304A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A6ECE15-208A-43C4-AAA7-0FAC8FFA423D}"/>
              </a:ext>
            </a:extLst>
          </p:cNvPr>
          <p:cNvSpPr>
            <a:spLocks noGrp="1"/>
          </p:cNvSpPr>
          <p:nvPr/>
        </p:nvSpPr>
        <p:spPr>
          <a:xfrm>
            <a:off x="1676400" y="4467225"/>
            <a:ext cx="3714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未證實推測若被包裝成劇情，容易混淆真相。</a:t>
            </a: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1450DA51-713A-46AB-AD4C-74DBE2EA51D0}"/>
              </a:ext>
            </a:extLst>
          </p:cNvPr>
          <p:cNvSpPr>
            <a:spLocks noGrp="1"/>
          </p:cNvSpPr>
          <p:nvPr/>
        </p:nvSpPr>
        <p:spPr>
          <a:xfrm>
            <a:off x="6191250" y="3743325"/>
            <a:ext cx="5238750" cy="1562100"/>
          </a:xfrm>
          <a:prstGeom prst="roundRect">
            <a:avLst>
              <a:gd name="adj" fmla="val 4878"/>
            </a:avLst>
          </a:prstGeom>
          <a:solidFill>
            <a:srgbClr val="F5F7F8"/>
          </a:solidFill>
          <a:ln w="0">
            <a:solidFill>
              <a:srgbClr val="F5F7F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2B096ED4-BE86-46E5-BE01-3334EC9E4D8A}"/>
              </a:ext>
            </a:extLst>
          </p:cNvPr>
          <p:cNvSpPr>
            <a:spLocks noGrp="1"/>
          </p:cNvSpPr>
          <p:nvPr/>
        </p:nvSpPr>
        <p:spPr>
          <a:xfrm>
            <a:off x="6477000" y="4038600"/>
            <a:ext cx="590550" cy="59055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BA8C950-E52D-487E-92BA-3B40ADD66F43}"/>
              </a:ext>
            </a:extLst>
          </p:cNvPr>
          <p:cNvSpPr>
            <a:spLocks noGrp="1"/>
          </p:cNvSpPr>
          <p:nvPr/>
        </p:nvSpPr>
        <p:spPr>
          <a:xfrm>
            <a:off x="7296150" y="4029075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65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1" dirty="0" err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rPr>
              <a:t>網路輿論對立</a:t>
            </a:r>
            <a:endParaRPr sz="2000" b="1" dirty="0">
              <a:solidFill>
                <a:srgbClr val="12304A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09AF760-BCDA-47EB-B830-045F492C5F6E}"/>
              </a:ext>
            </a:extLst>
          </p:cNvPr>
          <p:cNvSpPr>
            <a:spLocks noGrp="1"/>
          </p:cNvSpPr>
          <p:nvPr/>
        </p:nvSpPr>
        <p:spPr>
          <a:xfrm>
            <a:off x="7296150" y="4467225"/>
            <a:ext cx="3714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形成「創作自由 vs. 消費悲劇」的衝突。</a:t>
            </a: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D94E4B5C-2B04-431B-9DAE-48D22203FD79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10858500" cy="457200"/>
          </a:xfrm>
          <a:prstGeom prst="roundRect">
            <a:avLst>
              <a:gd name="adj" fmla="val 16667"/>
            </a:avLst>
          </a:prstGeom>
          <a:solidFill>
            <a:srgbClr val="12304A"/>
          </a:solidFill>
          <a:ln w="0">
            <a:solidFill>
              <a:srgbClr val="1230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4FC6400-6380-44C8-9F10-9086C2336526}"/>
              </a:ext>
            </a:extLst>
          </p:cNvPr>
          <p:cNvSpPr>
            <a:spLocks noGrp="1"/>
          </p:cNvSpPr>
          <p:nvPr/>
        </p:nvSpPr>
        <p:spPr>
          <a:xfrm>
            <a:off x="876300" y="5707247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dirty="0" err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重點：影視作品不只重述事件，也會影響誰被看見、什麼被相信，以及社會如何記住這段歷史</a:t>
            </a:r>
            <a:r>
              <a:rPr sz="1500" b="1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B0E4D77-F2B8-48EF-928A-4BFFB079A33C}"/>
              </a:ext>
            </a:extLst>
          </p:cNvPr>
          <p:cNvSpPr>
            <a:spLocks noGrp="1"/>
          </p:cNvSpPr>
          <p:nvPr/>
        </p:nvSpPr>
        <p:spPr>
          <a:xfrm>
            <a:off x="571500" y="6305550"/>
            <a:ext cx="11049000" cy="19050"/>
          </a:xfrm>
          <a:prstGeom prst="rect">
            <a:avLst/>
          </a:prstGeom>
          <a:solidFill>
            <a:srgbClr val="D4DDE1"/>
          </a:solidFill>
          <a:ln w="0">
            <a:solidFill>
              <a:srgbClr val="D4DD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5A5C4B1-D620-4896-A4A9-AAA4F18DFBB7}"/>
              </a:ext>
            </a:extLst>
          </p:cNvPr>
          <p:cNvSpPr>
            <a:spLocks noGrp="1"/>
          </p:cNvSpPr>
          <p:nvPr/>
        </p:nvSpPr>
        <p:spPr>
          <a:xfrm>
            <a:off x="571500" y="6419850"/>
            <a:ext cx="990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8788" lnSpcReduction="10000"/>
          </a:bodyPr>
          <a:lstStyle/>
          <a:p>
            <a:pPr algn="l">
              <a:defRPr sz="825">
                <a:solidFill>
                  <a:srgbClr val="52616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52616B"/>
                </a:solidFill>
                <a:latin typeface="Microsoft JhengHei"/>
                <a:ea typeface="Microsoft JhengHei"/>
                <a:cs typeface="Microsoft JhengHei"/>
              </a:rPr>
              <a:t>資料來源：本組依《世紀血案》爭議與歷史創傷再現議題整理。 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891D24D-8B74-432F-901F-3E16D9B7E85D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523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214" lnSpcReduction="10000"/>
          </a:bodyPr>
          <a:lstStyle/>
          <a:p>
            <a:pPr algn="r">
              <a:defRPr sz="1050" b="1">
                <a:solidFill>
                  <a:srgbClr val="147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47D91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79A1670-7E30-A441-E3F6-65AF84C3E43D}"/>
              </a:ext>
            </a:extLst>
          </p:cNvPr>
          <p:cNvSpPr>
            <a:spLocks noGrp="1"/>
          </p:cNvSpPr>
          <p:nvPr/>
        </p:nvSpPr>
        <p:spPr>
          <a:xfrm>
            <a:off x="876300" y="1036453"/>
            <a:ext cx="962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516" lnSpcReduction="20000"/>
          </a:bodyPr>
          <a:lstStyle/>
          <a:p>
            <a:pPr algn="l">
              <a:defRPr sz="1575" b="1">
                <a:solidFill>
                  <a:srgbClr val="147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 dirty="0" err="1">
                <a:solidFill>
                  <a:srgbClr val="147D91"/>
                </a:solidFill>
                <a:latin typeface="Microsoft JhengHei"/>
                <a:ea typeface="Microsoft JhengHei"/>
                <a:cs typeface="Microsoft JhengHei"/>
              </a:rPr>
              <a:t>歷史悲劇被影視化後，影響可能早已發生</a:t>
            </a:r>
            <a:endParaRPr sz="1575" b="1" dirty="0">
              <a:solidFill>
                <a:srgbClr val="147D91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3947E285-1FFD-7BC3-1A87-2154961F82C1}"/>
              </a:ext>
            </a:extLst>
          </p:cNvPr>
          <p:cNvSpPr txBox="1"/>
          <p:nvPr/>
        </p:nvSpPr>
        <p:spPr>
          <a:xfrm>
            <a:off x="717587" y="2134250"/>
            <a:ext cx="8698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25" b="1">
                <a:solidFill>
                  <a:srgbClr val="147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2800" b="1" dirty="0">
                <a:solidFill>
                  <a:srgbClr val="147D91"/>
                </a:solidFill>
                <a:latin typeface="Microsoft JhengHei"/>
                <a:ea typeface="Microsoft JhengHei"/>
                <a:cs typeface="Microsoft JhengHei"/>
              </a:rPr>
              <a:t>▣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A4ADBC9-AA3E-77A7-8E7B-15EE0B9CE6B2}"/>
              </a:ext>
            </a:extLst>
          </p:cNvPr>
          <p:cNvSpPr>
            <a:spLocks noGrp="1"/>
          </p:cNvSpPr>
          <p:nvPr/>
        </p:nvSpPr>
        <p:spPr>
          <a:xfrm>
            <a:off x="6638925" y="2216224"/>
            <a:ext cx="266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725" b="1">
                <a:solidFill>
                  <a:srgbClr val="147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b="1" dirty="0">
                <a:solidFill>
                  <a:srgbClr val="147D91"/>
                </a:solidFill>
                <a:latin typeface="Microsoft JhengHei"/>
                <a:ea typeface="Microsoft JhengHei"/>
                <a:cs typeface="Microsoft JhengHei"/>
              </a:rPr>
              <a:t>⚠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8BF6F2D-3585-BBC5-401F-9F50EBFCBEFD}"/>
              </a:ext>
            </a:extLst>
          </p:cNvPr>
          <p:cNvSpPr>
            <a:spLocks noGrp="1"/>
          </p:cNvSpPr>
          <p:nvPr/>
        </p:nvSpPr>
        <p:spPr>
          <a:xfrm>
            <a:off x="1013637" y="4171950"/>
            <a:ext cx="266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725" b="1">
                <a:solidFill>
                  <a:srgbClr val="147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b="1" dirty="0">
                <a:solidFill>
                  <a:srgbClr val="147D91"/>
                </a:solidFill>
                <a:latin typeface="Microsoft JhengHei"/>
                <a:ea typeface="Microsoft JhengHei"/>
                <a:cs typeface="Microsoft JhengHei"/>
              </a:rPr>
              <a:t>?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7FA05D9-50B5-0D89-FF28-31109DDF1C47}"/>
              </a:ext>
            </a:extLst>
          </p:cNvPr>
          <p:cNvSpPr>
            <a:spLocks noGrp="1"/>
          </p:cNvSpPr>
          <p:nvPr/>
        </p:nvSpPr>
        <p:spPr>
          <a:xfrm>
            <a:off x="6705600" y="4086225"/>
            <a:ext cx="266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725" b="1">
                <a:solidFill>
                  <a:srgbClr val="147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00" b="1" dirty="0">
                <a:solidFill>
                  <a:srgbClr val="147D91"/>
                </a:solidFill>
                <a:latin typeface="Microsoft JhengHei"/>
                <a:ea typeface="Microsoft JhengHei"/>
                <a:cs typeface="Microsoft JhengHei"/>
              </a:rPr>
              <a:t>↯</a:t>
            </a:r>
          </a:p>
        </p:txBody>
      </p:sp>
    </p:spTree>
    <p:extLst>
      <p:ext uri="{BB962C8B-B14F-4D97-AF65-F5344CB8AC3E}">
        <p14:creationId xmlns:p14="http://schemas.microsoft.com/office/powerpoint/2010/main" val="187987810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fded6205-6656-4f4d-b9c0-42e8e45d18d2}" enabled="1" method="Privileged" siteId="{a7687ede-7a6b-4ef6-bace-642f677fbe3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356</TotalTime>
  <Words>1563</Words>
  <Application>Microsoft Office PowerPoint</Application>
  <DocSecurity>0</DocSecurity>
  <PresentationFormat>寬螢幕</PresentationFormat>
  <Paragraphs>150</Paragraphs>
  <Slides>5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0" baseType="lpstr">
      <vt:lpstr>微軟正黑體</vt:lpstr>
      <vt:lpstr>微軟正黑體</vt:lpstr>
      <vt:lpstr>Calibri</vt:lpstr>
      <vt:lpstr>Helvetica</vt:lpstr>
      <vt:lpstr>ChatGPT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Donna Chen (陳宛亭)</cp:lastModifiedBy>
  <cp:revision>38</cp:revision>
  <dcterms:created xsi:type="dcterms:W3CDTF">2026-08-03T03:03:16Z</dcterms:created>
  <dcterms:modified xsi:type="dcterms:W3CDTF">2026-08-06T03:15:45Z</dcterms:modified>
</cp:coreProperties>
</file>