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-45720"/>
            <a:ext cx="2834640" cy="2834640"/>
          </a:xfrm>
          <a:prstGeom prst="ellipse">
            <a:avLst/>
          </a:prstGeom>
          <a:ln w="1587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71609" y="436169"/>
            <a:ext cx="1870862" cy="1870862"/>
          </a:xfrm>
          <a:prstGeom prst="ellipse">
            <a:avLst/>
          </a:prstGeom>
          <a:ln w="1587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3498" y="918058"/>
            <a:ext cx="907085" cy="907085"/>
          </a:xfrm>
          <a:prstGeom prst="ellipse">
            <a:avLst/>
          </a:prstGeom>
          <a:ln w="1587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29086" y="1258214"/>
            <a:ext cx="226771" cy="22677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93654" y="2193646"/>
            <a:ext cx="226771" cy="22677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558223" y="1258214"/>
            <a:ext cx="226771" cy="22677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493654" y="322783"/>
            <a:ext cx="226771" cy="22677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9659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個案引導簡報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Andrew Ryan at VC Brakes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一位品質推行講師，在企業政治與組織文化夾縫中的十個月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HBS Brief Case 9-913-552　｜　Frank V. Cespedes ＆ Sunru Yong, 2013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1128" y="155448"/>
            <a:ext cx="694944" cy="694944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29268" y="273588"/>
            <a:ext cx="458663" cy="458663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7409" y="391729"/>
            <a:ext cx="222382" cy="222382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60134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30802" y="704454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7" name="Shape 5"/>
          <p:cNvSpPr/>
          <p:nvPr/>
        </p:nvSpPr>
        <p:spPr>
          <a:xfrm>
            <a:off x="11401471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8" name="Shape 6"/>
          <p:cNvSpPr/>
          <p:nvPr/>
        </p:nvSpPr>
        <p:spPr>
          <a:xfrm>
            <a:off x="11630802" y="245791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序幕 · PROLOGUE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8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履歷寫不下去的耶誕假期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6949440" cy="4892040"/>
          </a:xfrm>
          <a:prstGeom prst="roundRect">
            <a:avLst>
              <a:gd name="adj" fmla="val 1495"/>
            </a:avLst>
          </a:prstGeom>
          <a:solidFill>
            <a:srgbClr val="EDEFF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150876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故事開場：工程服務部經理 Andrew Ryan，正對著筆電發呆——他想更新履歷，卻寫不出這一年的「成就」。</a:t>
            </a:r>
            <a:endParaRPr lang="en-US" sz="1500" dirty="0"/>
          </a:p>
          <a:p>
            <a:pPr algn="l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他已經告訴太太，自己可能會被 VC Brakes 解雇。</a:t>
            </a:r>
            <a:endParaRPr lang="en-US" sz="1500" dirty="0"/>
          </a:p>
          <a:p>
            <a:pPr algn="l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他的導師與老闆 Mitchell Medved，剛被降職到一個不受重視的產品線。</a:t>
            </a:r>
            <a:endParaRPr lang="en-US" sz="1500" dirty="0"/>
          </a:p>
          <a:p>
            <a:pPr algn="l"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十個月前，故事完全是另一個樣子：Ryan 被選為公司全面品質管理（TQM）推行講師，滿懷期待要為 VC Brakes 帶來改變……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35240" y="1234440"/>
            <a:ext cx="4069080" cy="4892040"/>
          </a:xfrm>
          <a:prstGeom prst="roundRect">
            <a:avLst>
              <a:gd name="adj" fmla="val 1798"/>
            </a:avLst>
          </a:prstGeom>
          <a:solidFill>
            <a:srgbClr val="36454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9095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這場簡報，帶大家走過：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192024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Brakes 的背景與轉手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Crossroads 的 TQM 藍圖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十個月的推行歷程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12月組織大地震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→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留給大家的討論問題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1128" y="155448"/>
            <a:ext cx="694944" cy="694944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29268" y="273588"/>
            <a:ext cx="458663" cy="458663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7409" y="391729"/>
            <a:ext cx="222382" cy="222382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60134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30802" y="704454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7" name="Shape 5"/>
          <p:cNvSpPr/>
          <p:nvPr/>
        </p:nvSpPr>
        <p:spPr>
          <a:xfrm>
            <a:off x="11401471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8" name="Shape 6"/>
          <p:cNvSpPr/>
          <p:nvPr/>
        </p:nvSpPr>
        <p:spPr>
          <a:xfrm>
            <a:off x="11630802" y="245791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 · BACKGROUND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8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VC Brakes：從穩健成長到被迫轉手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EDEFF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123444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EDEFF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1463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公司背景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463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產業衝擊（2008 金融危機）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1965960"/>
            <a:ext cx="47091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1985年創立於美國俄亥俄州 Middletown，生產售後市場煞車零件（煞車片、碟盤、轂、卡鉗）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客戶包括 Advance Auto Parts、AutoZone、Pep Boys 等大型零售通路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1998年被 Lantana Industrial（大型汽車零件集團）收購，採「放手式」經營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靠著卡車 / SUV 售後市場快速成長，一度佔營收多數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965960"/>
            <a:ext cx="47091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汽車零件OE需求驟降近35%，遠低於產業損益平衡點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Brakes 產能利用率跌到65%（低於損益平衡約10個百分點）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裁員75人（原700餘人），並丟失一家大客戶訂單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母公司 Lantana 也被迫重整，2011年將 VC Brakes 售予 Crossroads（積極介入型新東家）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1128" y="155448"/>
            <a:ext cx="694944" cy="694944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29268" y="273588"/>
            <a:ext cx="458663" cy="458663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7409" y="391729"/>
            <a:ext cx="222382" cy="222382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60134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30802" y="704454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7" name="Shape 5"/>
          <p:cNvSpPr/>
          <p:nvPr/>
        </p:nvSpPr>
        <p:spPr>
          <a:xfrm>
            <a:off x="11401471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8" name="Shape 6"/>
          <p:cNvSpPr/>
          <p:nvPr/>
        </p:nvSpPr>
        <p:spPr>
          <a:xfrm>
            <a:off x="11630802" y="245791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人物 · KEY PLAYERS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8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五個決定故事走向的人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2066544" cy="4480560"/>
          </a:xfrm>
          <a:prstGeom prst="roundRect">
            <a:avLst>
              <a:gd name="adj" fmla="val 3540"/>
            </a:avLst>
          </a:prstGeom>
          <a:solidFill>
            <a:srgbClr val="EDEFF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06424" y="1645920"/>
            <a:ext cx="768096" cy="7680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06424" y="16459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56032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Rove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03580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總裁（創辦人）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47472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風格放手，後同意退休方案、悄悄離開公司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2752344" y="1371600"/>
            <a:ext cx="2066544" cy="4480560"/>
          </a:xfrm>
          <a:prstGeom prst="roundRect">
            <a:avLst>
              <a:gd name="adj" fmla="val 3540"/>
            </a:avLst>
          </a:prstGeom>
          <a:solidFill>
            <a:srgbClr val="EDEFF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01568" y="1645920"/>
            <a:ext cx="768096" cy="76809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01568" y="16459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2862072" y="256032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Mitchell Medved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2862072" y="303580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工程副總裁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889504" y="347472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的導師，主張參與式管理，後被降職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047488" y="1371600"/>
            <a:ext cx="2066544" cy="4480560"/>
          </a:xfrm>
          <a:prstGeom prst="roundRect">
            <a:avLst>
              <a:gd name="adj" fmla="val 3540"/>
            </a:avLst>
          </a:prstGeom>
          <a:solidFill>
            <a:srgbClr val="EDEFF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96712" y="1645920"/>
            <a:ext cx="768096" cy="7680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96712" y="16459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157216" y="256032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Baynard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157216" y="303580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營運副總裁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184648" y="347472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重視形象、力求表現，後升任總裁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7342632" y="1371600"/>
            <a:ext cx="2066544" cy="4480560"/>
          </a:xfrm>
          <a:prstGeom prst="roundRect">
            <a:avLst>
              <a:gd name="adj" fmla="val 3540"/>
            </a:avLst>
          </a:prstGeom>
          <a:solidFill>
            <a:srgbClr val="EDEFF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91856" y="1645920"/>
            <a:ext cx="768096" cy="768096"/>
          </a:xfrm>
          <a:prstGeom prst="ellipse">
            <a:avLst/>
          </a:prstGeom>
          <a:solidFill>
            <a:srgbClr val="5C6B7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91856" y="16459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256032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Kante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03580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營運部 TQM 講師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479792" y="347472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Ryan 起初關係緊張，後來合作變佳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9637776" y="1371600"/>
            <a:ext cx="2066544" cy="4480560"/>
          </a:xfrm>
          <a:prstGeom prst="roundRect">
            <a:avLst>
              <a:gd name="adj" fmla="val 3540"/>
            </a:avLst>
          </a:prstGeom>
          <a:solidFill>
            <a:srgbClr val="EDEFF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287000" y="1645920"/>
            <a:ext cx="768096" cy="76809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287000" y="16459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9747504" y="256032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Ryan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9747504" y="303580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工程服務部經理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774936" y="3474720"/>
            <a:ext cx="1792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TQM 講師，故事主角，面臨去留抉擇</a:t>
            </a:r>
            <a:endParaRPr lang="en-US" sz="10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1128" y="155448"/>
            <a:ext cx="694944" cy="694944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29268" y="273588"/>
            <a:ext cx="458663" cy="458663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7409" y="391729"/>
            <a:ext cx="222382" cy="222382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60134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30802" y="704454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7" name="Shape 5"/>
          <p:cNvSpPr/>
          <p:nvPr/>
        </p:nvSpPr>
        <p:spPr>
          <a:xfrm>
            <a:off x="11401471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8" name="Shape 6"/>
          <p:cNvSpPr/>
          <p:nvPr/>
        </p:nvSpPr>
        <p:spPr>
          <a:xfrm>
            <a:off x="11630802" y="245791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歷程 · TIMELINE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8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TQM 推行大事記（2011.10 – 2012.12）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11430000" cy="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7676" y="3557016"/>
            <a:ext cx="201168" cy="201168"/>
          </a:xfrm>
          <a:prstGeom prst="ellipse">
            <a:avLst/>
          </a:prstGeom>
          <a:solidFill>
            <a:srgbClr val="3645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95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2011.10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8140" y="39319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Crossroads 宣布全集團 TQM 計畫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122676" y="3557016"/>
            <a:ext cx="201168" cy="201168"/>
          </a:xfrm>
          <a:prstGeom prst="ellipse">
            <a:avLst/>
          </a:prstGeom>
          <a:solidFill>
            <a:srgbClr val="3645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545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2012.04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263140" y="39319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Ryan、Kante 接受三週講師培訓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027676" y="3557016"/>
            <a:ext cx="201168" cy="201168"/>
          </a:xfrm>
          <a:prstGeom prst="ellipse">
            <a:avLst/>
          </a:prstGeom>
          <a:solidFill>
            <a:srgbClr val="C127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95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2012.06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168140" y="39319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25位經理接受縮水版兩天培訓，反應冷淡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932676" y="3557016"/>
            <a:ext cx="201168" cy="201168"/>
          </a:xfrm>
          <a:prstGeom prst="ellipse">
            <a:avLst/>
          </a:prstGeom>
          <a:solidFill>
            <a:srgbClr val="3645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645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2012.08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073140" y="39319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正式對員工開訓，一線員工反應熱烈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837676" y="3557016"/>
            <a:ext cx="201168" cy="201168"/>
          </a:xfrm>
          <a:prstGeom prst="ellipse">
            <a:avLst/>
          </a:prstGeom>
          <a:solidFill>
            <a:srgbClr val="C127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695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2012.10-11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978140" y="39319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中階抵抗、Steering Committee 空轉、進度停滯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10742676" y="3557016"/>
            <a:ext cx="201168" cy="201168"/>
          </a:xfrm>
          <a:prstGeom prst="ellipse">
            <a:avLst/>
          </a:prstGeom>
          <a:solidFill>
            <a:srgbClr val="C127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7458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2012.12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883140" y="39319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組織大地震：Rove退休、Baynard升任總裁、Medved降職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1128" y="155448"/>
            <a:ext cx="694944" cy="694944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29268" y="273588"/>
            <a:ext cx="458663" cy="458663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7409" y="391729"/>
            <a:ext cx="222382" cy="222382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60134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30802" y="704454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7" name="Shape 5"/>
          <p:cNvSpPr/>
          <p:nvPr/>
        </p:nvSpPr>
        <p:spPr>
          <a:xfrm>
            <a:off x="11401471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8" name="Shape 6"/>
          <p:cNvSpPr/>
          <p:nvPr/>
        </p:nvSpPr>
        <p:spPr>
          <a:xfrm>
            <a:off x="11630802" y="245791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 · ON THE GROUND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8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同一套 TQM，兩種截然不同的反應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DEFF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12344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DEFF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1417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一線員工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18745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教育程度不一，但一聽就懂；許多人主動記下問題，甚至帶著解決方案回到下一場培訓。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417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中高階主管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874520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普遍困惑或抵抗，質疑 TQM 到底要做什麼，擔心這會拖累自己的績效數字。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DCD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365760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DCD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520" y="3840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案例①　推車輪子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20624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員工反映運送煞車片的推車輪子設計不良、容易失控，是安全隱憂。建議提出後，同樣的抱怨在後續好幾場培訓中不斷重複出現，遲遲沒人處理，最後靠 Kante 動用營運端關係才解決。</a:t>
            </a:r>
            <a:endParaRPr lang="en-US" sz="118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840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案例②　人因剪刀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20624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一位女員工因標準剪刀造成手肘不適，主管卻直接打消她的提案，還片面取消品管圈會議。Ryan 花了五週，才讓「這是Crossroads的指令」被接受，問題才落地解決。</a:t>
            </a:r>
            <a:endParaRPr lang="en-US" sz="11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1128" y="155448"/>
            <a:ext cx="694944" cy="694944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29268" y="273588"/>
            <a:ext cx="458663" cy="458663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7409" y="391729"/>
            <a:ext cx="222382" cy="222382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60134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30802" y="704454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7" name="Shape 5"/>
          <p:cNvSpPr/>
          <p:nvPr/>
        </p:nvSpPr>
        <p:spPr>
          <a:xfrm>
            <a:off x="11401471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8" name="Shape 6"/>
          <p:cNvSpPr/>
          <p:nvPr/>
        </p:nvSpPr>
        <p:spPr>
          <a:xfrm>
            <a:off x="11630802" y="245791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阻力 · ROOT CAUSES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8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為什麼「低垂的果實」也摘不下來？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EDEFF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8952" y="1787652"/>
            <a:ext cx="585216" cy="5852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8952" y="17876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14813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 空轉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190195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Baynard 指定的推行委員會，承諾的雙週檢討會議從未真正落實；四個月後，最具體的產出是一張貼在休息室的 TQM 海報。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EDEFF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" y="3525012"/>
            <a:ext cx="585216" cy="5852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952" y="3525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8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21868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與 TQM 精神互相矛盾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63931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公司仍要求每週回報總產量、單位毛利、庫存水位等傳統指標，這些指標與「零缺陷、顧客導向」互相衝突，讓第一線員工無所適從。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EDEFF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952" y="5262372"/>
            <a:ext cx="585216" cy="5852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8952" y="52623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8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495604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TQM 被當成萬能藥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537667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目標定得又高又廣（六大目標一次到位），卻沒有真正對症 VC Brakes 當下的組織問題，只讓期望與失望的落差越拉越大。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1128" y="155448"/>
            <a:ext cx="694944" cy="694944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29268" y="273588"/>
            <a:ext cx="458663" cy="458663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7409" y="391729"/>
            <a:ext cx="222382" cy="222382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60134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30802" y="704454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7" name="Shape 5"/>
          <p:cNvSpPr/>
          <p:nvPr/>
        </p:nvSpPr>
        <p:spPr>
          <a:xfrm>
            <a:off x="11401471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8" name="Shape 6"/>
          <p:cNvSpPr/>
          <p:nvPr/>
        </p:nvSpPr>
        <p:spPr>
          <a:xfrm>
            <a:off x="11630802" y="245791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轉折 · THE SHAKEUP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8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12月：一次改組，牽動所有人的去留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36454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123444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EDEFF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1463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組織變動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1965960"/>
            <a:ext cx="47091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Rove 同意退休方案，悄悄離開公司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Baynard 出人意料地接任總裁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Baynard 把 Ryan、Kante 排除在 Steering Committee 之外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Baynard 另聘一位工程副總裁，把 Medved 降為只管一條低優先產品線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463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的抉擇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965960"/>
            <a:ext cx="47091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主動向 Baynard 表示，不再擔任 TQM 講師，理由是 ES 團隊需要他全心投入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Baynard 要求他重新考慮，暗示現在退出對他的職涯不利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心裡明白：一旦退出，TQM 僅存的一點動能也將消失，自己在公司的日子恐怕也不多了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故事回到開場那個耶誕假期——去留的十字路口，答案還沒寫下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11128" y="155448"/>
            <a:ext cx="694944" cy="694944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29268" y="273588"/>
            <a:ext cx="458663" cy="458663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7409" y="391729"/>
            <a:ext cx="222382" cy="222382"/>
          </a:xfrm>
          <a:prstGeom prst="ellipse">
            <a:avLst/>
          </a:prstGeom>
          <a:ln w="15875">
            <a:solidFill>
              <a:srgbClr val="36454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60134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Shape 4"/>
          <p:cNvSpPr/>
          <p:nvPr/>
        </p:nvSpPr>
        <p:spPr>
          <a:xfrm>
            <a:off x="11630802" y="704454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7" name="Shape 5"/>
          <p:cNvSpPr/>
          <p:nvPr/>
        </p:nvSpPr>
        <p:spPr>
          <a:xfrm>
            <a:off x="11401471" y="475122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8" name="Shape 6"/>
          <p:cNvSpPr/>
          <p:nvPr/>
        </p:nvSpPr>
        <p:spPr>
          <a:xfrm>
            <a:off x="11630802" y="245791"/>
            <a:ext cx="55596" cy="555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附錄 · EXHIBIT 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8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VC Brakes 組織圖（TQM 推行前）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800600" y="128016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36454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00600" y="1280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總裁 President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Rove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2117750" cy="502920"/>
          </a:xfrm>
          <a:prstGeom prst="roundRect">
            <a:avLst>
              <a:gd name="adj" fmla="val 14545"/>
            </a:avLst>
          </a:prstGeom>
          <a:solidFill>
            <a:srgbClr val="C1272D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7200" y="2148840"/>
            <a:ext cx="21177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工程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Mitchell Medved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98418" y="1783080"/>
            <a:ext cx="0" cy="0"/>
          </a:xfrm>
          <a:prstGeom prst="line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2739542" y="2148840"/>
            <a:ext cx="2117750" cy="502920"/>
          </a:xfrm>
          <a:prstGeom prst="roundRect">
            <a:avLst>
              <a:gd name="adj" fmla="val 14545"/>
            </a:avLst>
          </a:prstGeom>
          <a:solidFill>
            <a:srgbClr val="36454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739542" y="2148840"/>
            <a:ext cx="21177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營運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Baynard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9589" y="1783080"/>
            <a:ext cx="0" cy="0"/>
          </a:xfrm>
          <a:prstGeom prst="line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5021885" y="2148840"/>
            <a:ext cx="2117750" cy="502920"/>
          </a:xfrm>
          <a:prstGeom prst="roundRect">
            <a:avLst>
              <a:gd name="adj" fmla="val 14545"/>
            </a:avLst>
          </a:prstGeom>
          <a:solidFill>
            <a:srgbClr val="36454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021885" y="2148840"/>
            <a:ext cx="21177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業務行銷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1783080"/>
            <a:ext cx="0" cy="0"/>
          </a:xfrm>
          <a:prstGeom prst="line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7304227" y="2148840"/>
            <a:ext cx="2117750" cy="502920"/>
          </a:xfrm>
          <a:prstGeom prst="roundRect">
            <a:avLst>
              <a:gd name="adj" fmla="val 14545"/>
            </a:avLst>
          </a:prstGeom>
          <a:solidFill>
            <a:srgbClr val="36454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304227" y="2148840"/>
            <a:ext cx="21177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財務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21931" y="1783080"/>
            <a:ext cx="0" cy="0"/>
          </a:xfrm>
          <a:prstGeom prst="line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9586570" y="2148840"/>
            <a:ext cx="2117750" cy="502920"/>
          </a:xfrm>
          <a:prstGeom prst="roundRect">
            <a:avLst>
              <a:gd name="adj" fmla="val 14545"/>
            </a:avLst>
          </a:prstGeom>
          <a:solidFill>
            <a:srgbClr val="36454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586570" y="2148840"/>
            <a:ext cx="21177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法務/人資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3102" y="1783080"/>
            <a:ext cx="0" cy="0"/>
          </a:xfrm>
          <a:prstGeom prst="line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 flipH="1">
            <a:off x="1516075" y="1783080"/>
            <a:ext cx="4564685" cy="36576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3798418" y="1783080"/>
            <a:ext cx="2282342" cy="36576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1783080"/>
            <a:ext cx="0" cy="36576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1783080"/>
            <a:ext cx="2282342" cy="36576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1783080"/>
            <a:ext cx="4564685" cy="36576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16075" y="2651760"/>
            <a:ext cx="0" cy="18288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4048" y="2834640"/>
            <a:ext cx="226405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・新產品創新 資深經理</a:t>
            </a:r>
            <a:endParaRPr lang="en-US" sz="9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・材料研發 資深經理</a:t>
            </a:r>
            <a:endParaRPr lang="en-US" sz="9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・工程服務 資深經理（Andrew Ryan）</a:t>
            </a:r>
            <a:endParaRPr lang="en-US" sz="9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・專案管理 資深經理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98418" y="2651760"/>
            <a:ext cx="0" cy="18288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666390" y="2834640"/>
            <a:ext cx="226405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3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・碟盤 經理</a:t>
            </a:r>
            <a:endParaRPr lang="en-US" sz="93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3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・轂 經理</a:t>
            </a:r>
            <a:endParaRPr lang="en-US" sz="93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3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・卡鉗及其他 經理</a:t>
            </a:r>
            <a:endParaRPr lang="en-US" sz="93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3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・採購 經理</a:t>
            </a:r>
            <a:endParaRPr lang="en-US" sz="93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3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・倉儲營運 總監</a:t>
            </a:r>
            <a:endParaRPr lang="en-US" sz="93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3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・品保 總監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6080760" y="2651760"/>
            <a:ext cx="0" cy="18288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48733" y="2834640"/>
            <a:ext cx="226405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3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・西區 總監</a:t>
            </a:r>
            <a:endParaRPr lang="en-US" sz="93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93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・OE銷售 總監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8363102" y="2651760"/>
            <a:ext cx="0" cy="18288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31075" y="2834640"/>
            <a:ext cx="2264054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3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・財務長 (Controller)</a:t>
            </a:r>
            <a:endParaRPr lang="en-US" sz="93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紅字：本案例的兩位主角所在位置（Medved｜工程副總裁　／　Ryan｜工程服務資深經理）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5532120"/>
            <a:ext cx="1554480" cy="1554480"/>
          </a:xfrm>
          <a:prstGeom prst="ellipse">
            <a:avLst/>
          </a:prstGeom>
          <a:ln w="1587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25582" y="5796382"/>
            <a:ext cx="1025957" cy="1025957"/>
          </a:xfrm>
          <a:prstGeom prst="ellipse">
            <a:avLst/>
          </a:prstGeom>
          <a:ln w="1587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89843" y="6060643"/>
            <a:ext cx="497434" cy="497434"/>
          </a:xfrm>
          <a:prstGeom prst="ellipse">
            <a:avLst/>
          </a:prstGeom>
          <a:ln w="1587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89359" y="6247181"/>
            <a:ext cx="124358" cy="12435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1276381" y="6760159"/>
            <a:ext cx="124358" cy="12435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763402" y="6247181"/>
            <a:ext cx="124358" cy="12435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276381" y="5734202"/>
            <a:ext cx="124358" cy="12435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留給大家 · FOR DISCUSSION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四個問題，交給大家一起討論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3F4C56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" y="1924812"/>
            <a:ext cx="585216" cy="5852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" y="19248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8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169164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在故事開場面臨的關鍵決策是什麼？他手上有哪些選項？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3F4C56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" y="3159252"/>
            <a:ext cx="585216" cy="5852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" y="31592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8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292608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Brakes 的 TQM 推行為什麼會卡關——高層承諾、組織文化、KPI衝突、部門政治，哪個才是最根本的原因？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3F4C56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392" y="4393692"/>
            <a:ext cx="585216" cy="5852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0392" y="4393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8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416052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如果你是 Ryan，站在12月那個十字路口，你會怎麼做？為什麼？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3F4C56"/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" y="5628132"/>
            <a:ext cx="585216" cy="5852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0392" y="56281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88" dirty="0"/>
          </a:p>
        </p:txBody>
      </p:sp>
      <p:sp>
        <p:nvSpPr>
          <p:cNvPr id="26" name="Text 24"/>
          <p:cNvSpPr txBox="1"/>
          <p:nvPr/>
        </p:nvSpPr>
        <p:spPr>
          <a:xfrm>
            <a:off x="1645920" y="539496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這個案例對「品質推行組織如何真正落地」，給我們什麼啟示？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2026-09-24T12:19:44Z</dcterms:created>
  <dcterms:modified xsi:type="dcterms:W3CDTF">2026-09-24T12:19:44Z</dcterms:modified>
</cp:coreProperties>
</file>