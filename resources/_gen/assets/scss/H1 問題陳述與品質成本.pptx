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2667" autoAdjust="0"/>
  </p:normalViewPr>
  <p:slideViewPr>
    <p:cSldViewPr snapToGrid="0" snapToObjects="1">
      <p:cViewPr varScale="1">
        <p:scale>
          <a:sx n="91" d="100"/>
          <a:sy n="91" d="100"/>
        </p:scale>
        <p:origin x="1314" y="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B32F07-2EC9-4D9A-87FD-2664674C4E0B}" type="datetimeFigureOut">
              <a:rPr lang="zh-TW" altLang="en-US" smtClean="0"/>
              <a:t>2026/9/24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53AAE5A-C17B-4153-9BBE-1112024168A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660373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zh-TW" altLang="en-US" dirty="0"/>
              <a:t>品質成本（</a:t>
            </a:r>
            <a:r>
              <a:rPr lang="en-US" altLang="zh-TW" dirty="0"/>
              <a:t>Cost of Quality, COQ</a:t>
            </a:r>
            <a:r>
              <a:rPr lang="zh-TW" altLang="en-US" dirty="0"/>
              <a:t>）在全面品質管理中通常分為四大類，前兩類合稱「控制成本」，後�</a:t>
            </a:r>
            <a:r>
              <a:rPr lang="en-US" altLang="zh-TW" dirty="0"/>
              <a:t>wo</a:t>
            </a:r>
            <a:r>
              <a:rPr lang="zh-TW" altLang="en-US" dirty="0"/>
              <a:t>類合稱「失敗成本」：</a:t>
            </a:r>
          </a:p>
          <a:p>
            <a:pPr rtl="0"/>
            <a:r>
              <a:rPr lang="zh-TW" altLang="en-US" b="1" dirty="0"/>
              <a:t>預防成本 </a:t>
            </a:r>
            <a:r>
              <a:rPr lang="en-US" altLang="zh-TW" b="1" dirty="0"/>
              <a:t>(Prevention Cost)</a:t>
            </a:r>
            <a:r>
              <a:rPr lang="zh-TW" altLang="en-US" dirty="0"/>
              <a:t> </a:t>
            </a:r>
            <a:r>
              <a:rPr lang="en-US" altLang="zh-TW" dirty="0"/>
              <a:t>— </a:t>
            </a:r>
            <a:r>
              <a:rPr lang="zh-TW" altLang="en-US" dirty="0"/>
              <a:t>為避免不良發生而事先投入的成本，例如品質規劃、教育訓練、製程能力研究、供應商評選與輔導、品質系統維護（如</a:t>
            </a:r>
            <a:r>
              <a:rPr lang="en-US" altLang="zh-TW" dirty="0"/>
              <a:t>ISO</a:t>
            </a:r>
            <a:r>
              <a:rPr lang="zh-TW" altLang="en-US" dirty="0"/>
              <a:t>稽核）等。</a:t>
            </a:r>
          </a:p>
          <a:p>
            <a:pPr rtl="0"/>
            <a:r>
              <a:rPr lang="zh-TW" altLang="en-US" b="1" dirty="0"/>
              <a:t>鑑定成本 </a:t>
            </a:r>
            <a:r>
              <a:rPr lang="en-US" altLang="zh-TW" b="1" dirty="0"/>
              <a:t>(Appraisal Cost)</a:t>
            </a:r>
            <a:r>
              <a:rPr lang="zh-TW" altLang="en-US" dirty="0"/>
              <a:t> </a:t>
            </a:r>
            <a:r>
              <a:rPr lang="en-US" altLang="zh-TW" dirty="0"/>
              <a:t>— </a:t>
            </a:r>
            <a:r>
              <a:rPr lang="zh-TW" altLang="en-US" dirty="0"/>
              <a:t>為確認產品</a:t>
            </a:r>
            <a:r>
              <a:rPr lang="en-US" altLang="zh-TW" dirty="0"/>
              <a:t>/</a:t>
            </a:r>
            <a:r>
              <a:rPr lang="zh-TW" altLang="en-US" dirty="0"/>
              <a:t>服務是否符合要求而做的檢驗、測試、量測活動，例如來料檢驗、製程中檢驗、成品檢驗、量測設備校驗、可靠度測試等。</a:t>
            </a:r>
          </a:p>
          <a:p>
            <a:pPr rtl="0"/>
            <a:r>
              <a:rPr lang="zh-TW" altLang="en-US" b="1" dirty="0"/>
              <a:t>內部失敗成本 </a:t>
            </a:r>
            <a:r>
              <a:rPr lang="en-US" altLang="zh-TW" b="1" dirty="0"/>
              <a:t>(Internal Failure Cost)</a:t>
            </a:r>
            <a:r>
              <a:rPr lang="zh-TW" altLang="en-US" dirty="0"/>
              <a:t> </a:t>
            </a:r>
            <a:r>
              <a:rPr lang="en-US" altLang="zh-TW" dirty="0"/>
              <a:t>— </a:t>
            </a:r>
            <a:r>
              <a:rPr lang="zh-TW" altLang="en-US" dirty="0"/>
              <a:t>產品出廠前發現不良所產生的成本，例如報廢</a:t>
            </a:r>
            <a:r>
              <a:rPr lang="en-US" altLang="zh-TW" dirty="0"/>
              <a:t>(scrap)</a:t>
            </a:r>
            <a:r>
              <a:rPr lang="zh-TW" altLang="en-US" dirty="0"/>
              <a:t>、重工</a:t>
            </a:r>
            <a:r>
              <a:rPr lang="en-US" altLang="zh-TW" dirty="0"/>
              <a:t>(rework)</a:t>
            </a:r>
            <a:r>
              <a:rPr lang="zh-TW" altLang="en-US" dirty="0"/>
              <a:t>、重測、停機</a:t>
            </a:r>
            <a:r>
              <a:rPr lang="en-US" altLang="zh-TW" dirty="0"/>
              <a:t>/</a:t>
            </a:r>
            <a:r>
              <a:rPr lang="zh-TW" altLang="en-US" dirty="0"/>
              <a:t>降級損失、失效分析</a:t>
            </a:r>
            <a:r>
              <a:rPr lang="en-US" altLang="zh-TW" dirty="0"/>
              <a:t>(FA)</a:t>
            </a:r>
            <a:r>
              <a:rPr lang="zh-TW" altLang="en-US" dirty="0"/>
              <a:t>費用等。</a:t>
            </a:r>
          </a:p>
          <a:p>
            <a:pPr rtl="0"/>
            <a:r>
              <a:rPr lang="zh-TW" altLang="en-US" b="1" dirty="0"/>
              <a:t>外部失敗成本 </a:t>
            </a:r>
            <a:r>
              <a:rPr lang="en-US" altLang="zh-TW" b="1" dirty="0"/>
              <a:t>(External Failure Cost)</a:t>
            </a:r>
            <a:r>
              <a:rPr lang="zh-TW" altLang="en-US" dirty="0"/>
              <a:t> </a:t>
            </a:r>
            <a:r>
              <a:rPr lang="en-US" altLang="zh-TW" dirty="0"/>
              <a:t>— </a:t>
            </a:r>
            <a:r>
              <a:rPr lang="zh-TW" altLang="en-US" dirty="0"/>
              <a:t>產品到客戶手上後才發現不良所產生的成本，通常最昂貴，例如客戶退貨、保固維修、客訴處理、產品召回、商譽損失、違約罰款等。</a:t>
            </a:r>
          </a:p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53AAE5A-C17B-4153-9BBE-1112024168A2}" type="slidenum">
              <a:rPr lang="zh-TW" altLang="en-US" smtClean="0"/>
              <a:t>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947386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F4E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3200000"/>
            <a:ext cx="12192000" cy="60000"/>
          </a:xfrm>
          <a:prstGeom prst="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00000" y="2200000"/>
            <a:ext cx="10400000" cy="2462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 b="0" dirty="0" err="1">
                <a:solidFill>
                  <a:srgbClr val="C9D6DB"/>
                </a:solidFill>
                <a:latin typeface="Microsoft JhengHei"/>
              </a:rPr>
              <a:t>全面品質管理</a:t>
            </a:r>
            <a:r>
              <a:rPr sz="1600" b="0" dirty="0">
                <a:solidFill>
                  <a:srgbClr val="C9D6DB"/>
                </a:solidFill>
                <a:latin typeface="Microsoft JhengHei"/>
              </a:rPr>
              <a:t> </a:t>
            </a:r>
            <a:r>
              <a:rPr lang="en-US" altLang="zh-TW" sz="1600" dirty="0">
                <a:solidFill>
                  <a:srgbClr val="C9D6DB"/>
                </a:solidFill>
                <a:latin typeface="Microsoft JhengHei"/>
              </a:rPr>
              <a:t>-</a:t>
            </a:r>
            <a:r>
              <a:rPr lang="zh-TW" altLang="en-US" sz="1600" dirty="0">
                <a:solidFill>
                  <a:srgbClr val="C9D6DB"/>
                </a:solidFill>
                <a:latin typeface="Microsoft JhengHei"/>
              </a:rPr>
              <a:t> </a:t>
            </a:r>
            <a:r>
              <a:rPr sz="1600" b="0" dirty="0" err="1">
                <a:solidFill>
                  <a:srgbClr val="C9D6DB"/>
                </a:solidFill>
                <a:latin typeface="Microsoft JhengHei"/>
              </a:rPr>
              <a:t>個人改善主題</a:t>
            </a:r>
            <a:endParaRPr sz="1600" b="0" dirty="0">
              <a:solidFill>
                <a:srgbClr val="C9D6DB"/>
              </a:solidFill>
              <a:latin typeface="Microsoft JhengHe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900000" y="2650000"/>
            <a:ext cx="10400000" cy="8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Microsoft JhengHei"/>
              </a:rPr>
              <a:t>居家飛輪運動改善報告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0000" y="3450000"/>
            <a:ext cx="10400000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0" dirty="0">
                <a:solidFill>
                  <a:srgbClr val="C9D6DB"/>
                </a:solidFill>
                <a:latin typeface="Microsoft JhengHei"/>
              </a:rPr>
              <a:t>H1 </a:t>
            </a:r>
            <a:r>
              <a:rPr sz="1400" b="0" dirty="0" err="1">
                <a:solidFill>
                  <a:srgbClr val="C9D6DB"/>
                </a:solidFill>
                <a:latin typeface="Microsoft JhengHei"/>
              </a:rPr>
              <a:t>問題陳述與品質成本</a:t>
            </a:r>
            <a:endParaRPr sz="1400" b="0" dirty="0">
              <a:solidFill>
                <a:srgbClr val="C9D6DB"/>
              </a:solidFill>
              <a:latin typeface="Microsoft JhengHei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994593" y="5715334"/>
            <a:ext cx="10400000" cy="2462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zh-TW" altLang="en-US" sz="1600" b="1" dirty="0">
                <a:solidFill>
                  <a:srgbClr val="9FB0B6"/>
                </a:solidFill>
                <a:latin typeface="Microsoft JhengHei"/>
              </a:rPr>
              <a:t>學生</a:t>
            </a:r>
            <a:r>
              <a:rPr lang="en-US" altLang="zh-TW" sz="1600" b="1" dirty="0">
                <a:solidFill>
                  <a:srgbClr val="9FB0B6"/>
                </a:solidFill>
                <a:latin typeface="Microsoft JhengHei"/>
              </a:rPr>
              <a:t>:</a:t>
            </a:r>
            <a:r>
              <a:rPr lang="zh-TW" altLang="en-US" sz="1600" b="1" dirty="0">
                <a:solidFill>
                  <a:srgbClr val="9FB0B6"/>
                </a:solidFill>
                <a:latin typeface="Microsoft JhengHei"/>
              </a:rPr>
              <a:t> 陳宛亭  </a:t>
            </a:r>
            <a:r>
              <a:rPr lang="en-US" altLang="zh-TW" sz="1600" b="1" dirty="0">
                <a:solidFill>
                  <a:srgbClr val="9FB0B6"/>
                </a:solidFill>
                <a:latin typeface="Microsoft JhengHei"/>
              </a:rPr>
              <a:t>515714001</a:t>
            </a:r>
            <a:r>
              <a:rPr lang="zh-TW" altLang="en-US" sz="1600" b="1" dirty="0">
                <a:solidFill>
                  <a:srgbClr val="9FB0B6"/>
                </a:solidFill>
                <a:latin typeface="Microsoft JhengHei"/>
              </a:rPr>
              <a:t> </a:t>
            </a:r>
            <a:r>
              <a:rPr sz="1600" b="1" dirty="0">
                <a:solidFill>
                  <a:srgbClr val="9FB0B6"/>
                </a:solidFill>
                <a:latin typeface="Microsoft JhengHei"/>
              </a:rPr>
              <a:t>　</a:t>
            </a:r>
          </a:p>
        </p:txBody>
      </p:sp>
      <p:sp>
        <p:nvSpPr>
          <p:cNvPr id="8" name="TextBox 6">
            <a:extLst>
              <a:ext uri="{FF2B5EF4-FFF2-40B4-BE49-F238E27FC236}">
                <a16:creationId xmlns:a16="http://schemas.microsoft.com/office/drawing/2014/main" id="{0752FC79-5006-6B63-6E17-3BE38A9542B0}"/>
              </a:ext>
            </a:extLst>
          </p:cNvPr>
          <p:cNvSpPr txBox="1"/>
          <p:nvPr/>
        </p:nvSpPr>
        <p:spPr>
          <a:xfrm>
            <a:off x="994593" y="5219334"/>
            <a:ext cx="10400000" cy="2462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zh-TW" altLang="en-US" sz="1600" b="1" dirty="0">
                <a:solidFill>
                  <a:srgbClr val="9FB0B6"/>
                </a:solidFill>
                <a:latin typeface="Microsoft JhengHei"/>
              </a:rPr>
              <a:t>教授</a:t>
            </a:r>
            <a:r>
              <a:rPr lang="en-US" altLang="zh-TW" sz="1600" b="1" dirty="0">
                <a:solidFill>
                  <a:srgbClr val="9FB0B6"/>
                </a:solidFill>
                <a:latin typeface="Microsoft JhengHei"/>
              </a:rPr>
              <a:t>: </a:t>
            </a:r>
            <a:r>
              <a:rPr lang="zh-TW" altLang="en-US" sz="1600" b="1" dirty="0">
                <a:solidFill>
                  <a:srgbClr val="9FB0B6"/>
                </a:solidFill>
                <a:latin typeface="Microsoft JhengHei"/>
              </a:rPr>
              <a:t> 張永佳</a:t>
            </a:r>
            <a:r>
              <a:rPr sz="1600" b="1" dirty="0">
                <a:solidFill>
                  <a:srgbClr val="9FB0B6"/>
                </a:solidFill>
                <a:latin typeface="Microsoft JhengHei"/>
              </a:rPr>
              <a:t>　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137160"/>
          </a:xfrm>
          <a:prstGeom prst="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400000"/>
            <a:ext cx="11058144" cy="56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600" b="1" dirty="0">
                <a:solidFill>
                  <a:srgbClr val="1F4E5C"/>
                </a:solidFill>
                <a:latin typeface="Microsoft JhengHei"/>
              </a:rPr>
              <a:t>H1　</a:t>
            </a:r>
            <a:r>
              <a:rPr sz="2600" b="1" dirty="0" err="1">
                <a:solidFill>
                  <a:srgbClr val="1F4E5C"/>
                </a:solidFill>
                <a:latin typeface="Microsoft JhengHei"/>
              </a:rPr>
              <a:t>問題陳述與品質成本</a:t>
            </a:r>
            <a:endParaRPr sz="2600" b="1" dirty="0">
              <a:solidFill>
                <a:srgbClr val="1F4E5C"/>
              </a:solidFill>
              <a:latin typeface="Microsoft JhengHei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566928" y="1020000"/>
            <a:ext cx="1600000" cy="340000"/>
          </a:xfrm>
          <a:prstGeom prst="roundRect">
            <a:avLst>
              <a:gd name="adj" fmla="val 50000"/>
            </a:avLst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JhengHei"/>
              </a:rPr>
              <a:t>居家飛輪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500000"/>
            <a:ext cx="6600000" cy="10525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1" dirty="0" err="1">
                <a:solidFill>
                  <a:srgbClr val="1F4E5C"/>
                </a:solidFill>
                <a:latin typeface="Microsoft JhengHei"/>
              </a:rPr>
              <a:t>問題描述</a:t>
            </a:r>
            <a:endParaRPr sz="1400" b="1" dirty="0">
              <a:solidFill>
                <a:srgbClr val="1F4E5C"/>
              </a:solidFill>
              <a:latin typeface="Microsoft JhengHei"/>
            </a:endParaRP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0" dirty="0">
                <a:solidFill>
                  <a:srgbClr val="404040"/>
                </a:solidFill>
                <a:latin typeface="Microsoft JhengHei"/>
              </a:rPr>
              <a:t>過去去健身房要換衣服、跟管理室借鑰匙，這個常讓我直接放棄運動。9月開學前買了一台飛輪車，希望降低這個</a:t>
            </a:r>
            <a:r>
              <a:rPr lang="zh-TW" altLang="en-US" sz="1200" b="0" dirty="0">
                <a:solidFill>
                  <a:srgbClr val="404040"/>
                </a:solidFill>
                <a:latin typeface="Microsoft JhengHei"/>
              </a:rPr>
              <a:t>藉口</a:t>
            </a:r>
            <a:r>
              <a:rPr sz="1200" b="0" dirty="0">
                <a:solidFill>
                  <a:srgbClr val="404040"/>
                </a:solidFill>
                <a:latin typeface="Microsoft JhengHei"/>
              </a:rPr>
              <a:t>、</a:t>
            </a:r>
            <a:r>
              <a:rPr sz="1200" b="0" dirty="0" err="1">
                <a:solidFill>
                  <a:srgbClr val="404040"/>
                </a:solidFill>
                <a:latin typeface="Microsoft JhengHei"/>
              </a:rPr>
              <a:t>在家就能運動；但買車後「容易偷懶」的心理慣性仍在</a:t>
            </a:r>
            <a:r>
              <a:rPr sz="1200" b="0" dirty="0">
                <a:solidFill>
                  <a:srgbClr val="404040"/>
                </a:solidFill>
                <a:latin typeface="Microsoft JhengHei"/>
              </a:rPr>
              <a:t>—目前16天有4天完全沒騎</a:t>
            </a:r>
            <a:r>
              <a:rPr lang="zh-TW" altLang="en-US" sz="1200" b="0" dirty="0">
                <a:solidFill>
                  <a:srgbClr val="404040"/>
                </a:solidFill>
                <a:latin typeface="Microsoft JhengHei"/>
              </a:rPr>
              <a:t>，會偷懶的部分，希望能得到改善</a:t>
            </a:r>
            <a:r>
              <a:rPr sz="1200" b="0" dirty="0">
                <a:solidFill>
                  <a:srgbClr val="404040"/>
                </a:solidFill>
                <a:latin typeface="Microsoft JhengHei"/>
              </a:rPr>
              <a:t>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2963721"/>
            <a:ext cx="6600000" cy="40011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lang="zh-TW" altLang="en-US" sz="1400" b="1" dirty="0">
                <a:solidFill>
                  <a:srgbClr val="1F4E5C"/>
                </a:solidFill>
                <a:latin typeface="Microsoft JhengHei"/>
              </a:rPr>
              <a:t>顧客</a:t>
            </a:r>
            <a:endParaRPr sz="1400" b="1" dirty="0">
              <a:solidFill>
                <a:srgbClr val="1F4E5C"/>
              </a:solidFill>
              <a:latin typeface="Microsoft JhengHei"/>
            </a:endParaRPr>
          </a:p>
          <a:p>
            <a:pPr algn="l"/>
            <a:r>
              <a:rPr lang="zh-TW" altLang="en-US" sz="1200" b="0" dirty="0">
                <a:solidFill>
                  <a:srgbClr val="404040"/>
                </a:solidFill>
                <a:latin typeface="Microsoft JhengHei"/>
              </a:rPr>
              <a:t>自己與家人的</a:t>
            </a:r>
            <a:r>
              <a:rPr sz="1200" b="0" dirty="0" err="1">
                <a:solidFill>
                  <a:srgbClr val="404040"/>
                </a:solidFill>
                <a:latin typeface="Microsoft JhengHei"/>
              </a:rPr>
              <a:t>健康／希望我多運動的家人</a:t>
            </a:r>
            <a:endParaRPr sz="1200" b="0" dirty="0">
              <a:solidFill>
                <a:srgbClr val="404040"/>
              </a:solidFill>
              <a:latin typeface="Microsoft JhengHei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66928" y="3750000"/>
            <a:ext cx="6600000" cy="5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dirty="0" err="1">
                <a:solidFill>
                  <a:srgbClr val="1F4E5C"/>
                </a:solidFill>
                <a:latin typeface="Microsoft JhengHei"/>
              </a:rPr>
              <a:t>目前如何衡量</a:t>
            </a:r>
            <a:endParaRPr sz="1400" b="1" dirty="0">
              <a:solidFill>
                <a:srgbClr val="1F4E5C"/>
              </a:solidFill>
              <a:latin typeface="Microsoft JhengHei"/>
            </a:endParaRPr>
          </a:p>
          <a:p>
            <a:pPr algn="l">
              <a:lnSpc>
                <a:spcPct val="125000"/>
              </a:lnSpc>
            </a:pPr>
            <a:r>
              <a:rPr sz="1200" b="0" dirty="0" err="1">
                <a:solidFill>
                  <a:srgbClr val="404040"/>
                </a:solidFill>
                <a:latin typeface="Microsoft JhengHei"/>
              </a:rPr>
              <a:t>每天用Excel紀錄表記錄：是否騎乘、阻力</a:t>
            </a:r>
            <a:r>
              <a:rPr sz="1200" b="0" dirty="0">
                <a:solidFill>
                  <a:srgbClr val="404040"/>
                </a:solidFill>
                <a:latin typeface="Microsoft JhengHei"/>
              </a:rPr>
              <a:t>/</a:t>
            </a:r>
            <a:r>
              <a:rPr sz="1200" b="0" dirty="0" err="1">
                <a:solidFill>
                  <a:srgbClr val="404040"/>
                </a:solidFill>
                <a:latin typeface="Microsoft JhengHei"/>
              </a:rPr>
              <a:t>重量設定、消耗熱量、RPE、睡眠</a:t>
            </a:r>
            <a:r>
              <a:rPr sz="1200" b="0" dirty="0">
                <a:solidFill>
                  <a:srgbClr val="404040"/>
                </a:solidFill>
                <a:latin typeface="Microsoft JhengHei"/>
              </a:rPr>
              <a:t>/</a:t>
            </a:r>
            <a:r>
              <a:rPr sz="1200" b="0" dirty="0" err="1">
                <a:solidFill>
                  <a:srgbClr val="404040"/>
                </a:solidFill>
                <a:latin typeface="Microsoft JhengHei"/>
              </a:rPr>
              <a:t>壓力</a:t>
            </a:r>
            <a:r>
              <a:rPr sz="1200" b="0" dirty="0">
                <a:solidFill>
                  <a:srgbClr val="404040"/>
                </a:solidFill>
                <a:latin typeface="Microsoft JhengHei"/>
              </a:rPr>
              <a:t>/</a:t>
            </a:r>
            <a:r>
              <a:rPr sz="1200" b="0" dirty="0" err="1">
                <a:solidFill>
                  <a:srgbClr val="404040"/>
                </a:solidFill>
                <a:latin typeface="Microsoft JhengHei"/>
              </a:rPr>
              <a:t>疲勞</a:t>
            </a:r>
            <a:r>
              <a:rPr sz="1200" b="0" dirty="0">
                <a:solidFill>
                  <a:srgbClr val="404040"/>
                </a:solidFill>
                <a:latin typeface="Microsoft JhengHei"/>
              </a:rPr>
              <a:t>/</a:t>
            </a:r>
            <a:r>
              <a:rPr sz="1200" b="0" dirty="0" err="1">
                <a:solidFill>
                  <a:srgbClr val="404040"/>
                </a:solidFill>
                <a:latin typeface="Microsoft JhengHei"/>
              </a:rPr>
              <a:t>恢復自評、達成狀態與未達成原因</a:t>
            </a:r>
            <a:r>
              <a:rPr sz="1200" b="0" dirty="0">
                <a:solidFill>
                  <a:srgbClr val="404040"/>
                </a:solidFill>
                <a:latin typeface="Microsoft JhengHei"/>
              </a:rPr>
              <a:t>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4750000"/>
            <a:ext cx="6600000" cy="1750000"/>
          </a:xfrm>
          <a:prstGeom prst="roundRect">
            <a:avLst>
              <a:gd name="adj" fmla="val 5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46928" y="4900000"/>
            <a:ext cx="6240000" cy="20005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 dirty="0" err="1">
                <a:solidFill>
                  <a:srgbClr val="E67E22"/>
                </a:solidFill>
                <a:latin typeface="Microsoft JhengHei"/>
              </a:rPr>
              <a:t>品質成本粗估（四類</a:t>
            </a:r>
            <a:r>
              <a:rPr sz="1300" b="1" dirty="0">
                <a:solidFill>
                  <a:srgbClr val="E67E22"/>
                </a:solidFill>
                <a:latin typeface="Microsoft JhengHei"/>
              </a:rPr>
              <a:t>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6928" y="5320000"/>
            <a:ext cx="6240000" cy="109331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500"/>
              </a:spcAft>
            </a:pPr>
            <a:r>
              <a:rPr sz="1200" b="0" dirty="0">
                <a:solidFill>
                  <a:srgbClr val="404040"/>
                </a:solidFill>
                <a:latin typeface="Microsoft JhengHei"/>
              </a:rPr>
              <a:t>預防：飛輪車購買</a:t>
            </a:r>
            <a:r>
              <a:rPr lang="en-US" altLang="zh-TW" sz="1200" b="0" dirty="0">
                <a:solidFill>
                  <a:srgbClr val="404040"/>
                </a:solidFill>
                <a:latin typeface="Microsoft JhengHei"/>
              </a:rPr>
              <a:t>$9,900</a:t>
            </a:r>
            <a:r>
              <a:rPr sz="1200" b="0" dirty="0">
                <a:solidFill>
                  <a:srgbClr val="404040"/>
                </a:solidFill>
                <a:latin typeface="Microsoft JhengHei"/>
              </a:rPr>
              <a:t>＋空間整理，一次性投入</a:t>
            </a:r>
          </a:p>
          <a:p>
            <a:pPr algn="l">
              <a:lnSpc>
                <a:spcPct val="125000"/>
              </a:lnSpc>
              <a:spcAft>
                <a:spcPts val="500"/>
              </a:spcAft>
            </a:pPr>
            <a:r>
              <a:rPr sz="1200" b="0" dirty="0">
                <a:solidFill>
                  <a:srgbClr val="404040"/>
                </a:solidFill>
                <a:latin typeface="Microsoft JhengHei"/>
              </a:rPr>
              <a:t>鑑定：每天花</a:t>
            </a:r>
            <a:r>
              <a:rPr lang="en-US" altLang="zh-TW" sz="1200" b="0" dirty="0">
                <a:solidFill>
                  <a:srgbClr val="404040"/>
                </a:solidFill>
                <a:latin typeface="Microsoft JhengHei"/>
              </a:rPr>
              <a:t>30</a:t>
            </a:r>
            <a:r>
              <a:rPr lang="zh-TW" altLang="en-US" sz="1200" b="0" dirty="0">
                <a:solidFill>
                  <a:srgbClr val="404040"/>
                </a:solidFill>
                <a:latin typeface="Microsoft JhengHei"/>
              </a:rPr>
              <a:t>秒</a:t>
            </a:r>
            <a:r>
              <a:rPr sz="1200" b="0" dirty="0" err="1">
                <a:solidFill>
                  <a:srgbClr val="404040"/>
                </a:solidFill>
                <a:latin typeface="Microsoft JhengHei"/>
              </a:rPr>
              <a:t>自我檢查／記錄有沒有騎</a:t>
            </a:r>
            <a:endParaRPr sz="1200" b="0" dirty="0">
              <a:solidFill>
                <a:srgbClr val="404040"/>
              </a:solidFill>
              <a:latin typeface="Microsoft JhengHei"/>
            </a:endParaRPr>
          </a:p>
          <a:p>
            <a:pPr algn="l">
              <a:lnSpc>
                <a:spcPct val="125000"/>
              </a:lnSpc>
              <a:spcAft>
                <a:spcPts val="500"/>
              </a:spcAft>
            </a:pPr>
            <a:r>
              <a:rPr sz="1200" b="0" dirty="0" err="1">
                <a:solidFill>
                  <a:srgbClr val="404040"/>
                </a:solidFill>
                <a:latin typeface="Microsoft JhengHei"/>
              </a:rPr>
              <a:t>內部失敗：太累時臨時縮短時長或降阻力，訓練效果打折</a:t>
            </a:r>
            <a:endParaRPr sz="1200" b="0" dirty="0">
              <a:solidFill>
                <a:srgbClr val="404040"/>
              </a:solidFill>
              <a:latin typeface="Microsoft JhengHei"/>
            </a:endParaRPr>
          </a:p>
          <a:p>
            <a:pPr algn="l">
              <a:lnSpc>
                <a:spcPct val="125000"/>
              </a:lnSpc>
              <a:spcAft>
                <a:spcPts val="500"/>
              </a:spcAft>
            </a:pPr>
            <a:r>
              <a:rPr sz="1200" b="0" dirty="0">
                <a:solidFill>
                  <a:srgbClr val="404040"/>
                </a:solidFill>
                <a:latin typeface="Microsoft JhengHei"/>
              </a:rPr>
              <a:t>外部失敗：16天中4天未達成(25%)，</a:t>
            </a:r>
            <a:r>
              <a:rPr sz="1200" b="0" dirty="0" err="1">
                <a:solidFill>
                  <a:srgbClr val="404040"/>
                </a:solidFill>
                <a:latin typeface="Microsoft JhengHei"/>
              </a:rPr>
              <a:t>體態</a:t>
            </a:r>
            <a:r>
              <a:rPr sz="1200" b="0" dirty="0">
                <a:solidFill>
                  <a:srgbClr val="404040"/>
                </a:solidFill>
                <a:latin typeface="Microsoft JhengHei"/>
              </a:rPr>
              <a:t>/</a:t>
            </a:r>
            <a:r>
              <a:rPr sz="1200" b="0" dirty="0" err="1">
                <a:solidFill>
                  <a:srgbClr val="404040"/>
                </a:solidFill>
                <a:latin typeface="Microsoft JhengHei"/>
              </a:rPr>
              <a:t>心情沒能如預期改善</a:t>
            </a:r>
            <a:endParaRPr sz="1200" b="0" dirty="0">
              <a:solidFill>
                <a:srgbClr val="404040"/>
              </a:solidFill>
              <a:latin typeface="Microsoft JhengHei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1886569" y="6522124"/>
            <a:ext cx="120226" cy="12311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lang="en-US" altLang="zh-TW" sz="800" dirty="0">
                <a:solidFill>
                  <a:srgbClr val="8C8C8C"/>
                </a:solidFill>
                <a:latin typeface="Microsoft JhengHei"/>
              </a:rPr>
              <a:t>P1</a:t>
            </a:r>
            <a:endParaRPr sz="800" dirty="0">
              <a:solidFill>
                <a:srgbClr val="8C8C8C"/>
              </a:solidFill>
              <a:latin typeface="Microsoft JhengHei"/>
            </a:endParaRPr>
          </a:p>
        </p:txBody>
      </p:sp>
      <p:pic>
        <p:nvPicPr>
          <p:cNvPr id="14" name="圖片 13">
            <a:extLst>
              <a:ext uri="{FF2B5EF4-FFF2-40B4-BE49-F238E27FC236}">
                <a16:creationId xmlns:a16="http://schemas.microsoft.com/office/drawing/2014/main" id="{5A73A454-C88C-8E1D-A04C-6BBEFA600A0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9830" b="14873"/>
          <a:stretch/>
        </p:blipFill>
        <p:spPr>
          <a:xfrm>
            <a:off x="9322675" y="3658445"/>
            <a:ext cx="2423552" cy="2812203"/>
          </a:xfrm>
          <a:prstGeom prst="rect">
            <a:avLst/>
          </a:prstGeom>
        </p:spPr>
      </p:pic>
      <p:pic>
        <p:nvPicPr>
          <p:cNvPr id="13" name="圖片 12">
            <a:extLst>
              <a:ext uri="{FF2B5EF4-FFF2-40B4-BE49-F238E27FC236}">
                <a16:creationId xmlns:a16="http://schemas.microsoft.com/office/drawing/2014/main" id="{547E85AE-027E-2B48-43A1-064E049A70D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28260" y="1190000"/>
            <a:ext cx="2262277" cy="3015689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fded6205-6656-4f4d-b9c0-42e8e45d18d2}" enabled="1" method="Privileged" siteId="{a7687ede-7a6b-4ef6-bace-642f677fbe31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37</TotalTime>
  <Words>356</Words>
  <Application>Microsoft Office PowerPoint</Application>
  <PresentationFormat>寬螢幕</PresentationFormat>
  <Paragraphs>25</Paragraphs>
  <Slides>2</Slides>
  <Notes>1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</vt:i4>
      </vt:variant>
    </vt:vector>
  </HeadingPairs>
  <TitlesOfParts>
    <vt:vector size="7" baseType="lpstr">
      <vt:lpstr>微軟正黑體</vt:lpstr>
      <vt:lpstr>Aptos</vt:lpstr>
      <vt:lpstr>Arial</vt:lpstr>
      <vt:lpstr>Calibri</vt:lpstr>
      <vt:lpstr>Office Theme</vt:lpstr>
      <vt:lpstr>PowerPoint 簡報</vt:lpstr>
      <vt:lpstr>PowerPoint 簡報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Donna Chen (陳宛亭)</cp:lastModifiedBy>
  <cp:revision>8</cp:revision>
  <dcterms:created xsi:type="dcterms:W3CDTF">2013-01-27T09:14:16Z</dcterms:created>
  <dcterms:modified xsi:type="dcterms:W3CDTF">2026-09-24T03:13:21Z</dcterms:modified>
  <cp:category/>
</cp:coreProperties>
</file>